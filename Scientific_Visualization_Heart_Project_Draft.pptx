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91" r:id="rId5"/>
    <p:sldId id="261" r:id="rId6"/>
    <p:sldId id="263" r:id="rId7"/>
    <p:sldId id="264" r:id="rId8"/>
    <p:sldId id="266" r:id="rId9"/>
    <p:sldId id="267" r:id="rId10"/>
    <p:sldId id="290" r:id="rId11"/>
    <p:sldId id="268" r:id="rId12"/>
    <p:sldId id="269" r:id="rId13"/>
    <p:sldId id="270" r:id="rId14"/>
    <p:sldId id="285" r:id="rId15"/>
    <p:sldId id="271" r:id="rId16"/>
    <p:sldId id="272" r:id="rId17"/>
    <p:sldId id="273" r:id="rId18"/>
    <p:sldId id="286" r:id="rId19"/>
    <p:sldId id="287" r:id="rId20"/>
    <p:sldId id="275" r:id="rId21"/>
    <p:sldId id="276" r:id="rId22"/>
    <p:sldId id="288" r:id="rId23"/>
    <p:sldId id="277" r:id="rId24"/>
    <p:sldId id="278" r:id="rId25"/>
    <p:sldId id="279" r:id="rId26"/>
    <p:sldId id="281" r:id="rId27"/>
    <p:sldId id="289" r:id="rId28"/>
    <p:sldId id="282" r:id="rId29"/>
    <p:sldId id="283" r:id="rId3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1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0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7E5313-86DE-DB01-B26F-8DA06A9EB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3E95609-FED2-9993-4F5B-65FF60E50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B56180-4BF8-D842-B429-19159226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D72A80-7C64-6C64-95A4-9FE566F0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88A24A-6AF4-5628-3C09-FAEBE154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4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4589B3-7CC1-CB9E-5437-AF9F786B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A10ACA-AD46-900F-1B0A-9D05AEFDF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78C91D-2BC7-D17A-4489-402CD6C1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84D4CA-F49E-0FA7-B179-78F779BE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B8529A-0AB8-6094-7836-BD27D7A0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AFC03D-BA6B-5D13-5FCE-B5ACC185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899B11-7948-D1CD-4AD5-8ACA5634A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9C9EB9-98C0-3654-61A1-5AB98F6A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5421DD-02AF-7C80-0BCC-54B24564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46651B-E0CC-8855-8D60-1BCC4F37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8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6A8FB7-F41B-CDAF-A05A-06740A1C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225F2B-5D73-0ECD-6AA2-389586C6C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108F3F-5809-2A10-8424-B20C1AB02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45AE53-5BB2-0709-C1D9-BBE55C27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75E12A-73A2-73E1-CC28-3BE81FD2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76F9AA4-1451-2598-33E6-16611D11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0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03DB49-0616-4083-2AE2-1EDD99F1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3D54EA-E82F-AC77-7161-0D27001F7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DD583BF-ED37-555F-5D90-852714253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206C16-7001-73D8-BDC2-57AF50B11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DAA730F-3127-D16C-5B06-E688AC307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99CE34-759C-3B94-6889-7B81A44F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2B7F39-C7E4-9A5E-0629-58FF31D9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4CD37B0-7AA1-722A-F5CB-B8651786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5C384A-D4FD-C269-BB08-0722EAD8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F254D61-92AF-8252-C4E5-420D83E0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32B4AF-F902-0CED-233D-0E12F916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9FE64F9-8953-5C89-BDA6-2365D5C4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8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82FF272-E55C-60A4-78A0-270C422EC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03C8966-1F9F-A36A-BB9C-9B7179E8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8FF456-3406-4189-8CAF-6409C7F6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93D14D-EAC6-8CC6-4566-66FE32AC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5AF9E8-AFB3-29E1-A450-05B6DB4C0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B379CED-8837-9777-2EDE-F04392A2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F08664-ED90-BD9E-47A2-91886F99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AA0AE3-6FEE-4D8A-2108-1A9E7AAD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31FFC8B-1E64-D867-A483-7A744208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5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A53B19-860D-6BE6-6464-5BEE51B0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8168306-EDC3-BFCE-FCE0-08B278A41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6494400-831A-3506-590F-1485D4EEC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A1220B9-6A08-759D-801A-A6857AF2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CDDB1A3-E2E3-5725-4D85-26310E8A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8FDF0B-6528-7469-4D62-C8E74215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0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A3E843-0F2C-96BA-2887-7402BB8E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6FB5654-5F2D-D59A-77D4-3B61C813B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CE143D-B03C-DC4F-E0A3-5ED309E97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53A81B-0007-BD90-A8D9-F016FA7A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D80CC7-7D70-2ED6-2DC9-6A58735A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5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C092434-4474-910E-9390-6ECBE196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347032C-6D09-F67B-68D2-D69571630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7A1CA9-893A-7428-88D7-B351EE15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355BBE-EA85-8F5F-EE88-19EACAD1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0AEC4F-A6B6-9F8D-20B2-C848EB8C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3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D8F2DD9-DBFC-1AEE-A314-ED95E912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799DEE5-2AE0-9D77-1B21-40EDEFC3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405365-FDA0-A4E7-5EA6-B0F906F7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4985CD-DC91-78C7-E319-1E1B97D08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072ED9-82CD-DA4F-2D67-F9E6B123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4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it-IT" sz="2500" dirty="0"/>
              <a:t>Advanced </a:t>
            </a:r>
            <a:r>
              <a:rPr lang="it-IT" sz="2500" dirty="0" err="1"/>
              <a:t>Visualization</a:t>
            </a:r>
            <a:r>
              <a:rPr lang="it-IT" sz="2500" dirty="0"/>
              <a:t> and </a:t>
            </a:r>
            <a:r>
              <a:rPr lang="it-IT" sz="2500" dirty="0" err="1"/>
              <a:t>Latent</a:t>
            </a:r>
            <a:r>
              <a:rPr lang="it-IT" sz="2500" dirty="0"/>
              <a:t> Space Fusion for Clinical Heart </a:t>
            </a:r>
            <a:r>
              <a:rPr lang="it-IT" sz="2500" dirty="0" err="1"/>
              <a:t>Disease</a:t>
            </a:r>
            <a:r>
              <a:rPr lang="it-IT" sz="2500" dirty="0"/>
              <a:t>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it-IT" sz="1700" dirty="0"/>
              <a:t>Scientific </a:t>
            </a:r>
            <a:r>
              <a:rPr lang="it-IT" sz="1700" dirty="0" err="1"/>
              <a:t>Visualization</a:t>
            </a:r>
            <a:r>
              <a:rPr lang="it-IT" sz="1700" dirty="0"/>
              <a:t> Project</a:t>
            </a:r>
          </a:p>
          <a:p>
            <a:pPr>
              <a:lnSpc>
                <a:spcPct val="150000"/>
              </a:lnSpc>
            </a:pPr>
            <a:r>
              <a:rPr lang="it-IT" sz="1700" dirty="0"/>
              <a:t>D’Elia Corinne, Filice Martina Università degli Studi di Milano. Corso di Laurea Magistrale, Informatica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DFA4ACB-DBC2-3AA5-99C8-509E44952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1" r="16968" b="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534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Clinical </a:t>
            </a:r>
            <a:r>
              <a:rPr lang="it-IT" b="1" dirty="0" err="1"/>
              <a:t>Relevance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Cardiovascular</a:t>
            </a:r>
            <a:r>
              <a:rPr lang="it-IT" dirty="0"/>
              <a:t> </a:t>
            </a:r>
            <a:r>
              <a:rPr lang="it-IT" dirty="0" err="1"/>
              <a:t>diseases</a:t>
            </a:r>
            <a:r>
              <a:rPr lang="it-IT" dirty="0"/>
              <a:t> demand </a:t>
            </a:r>
            <a:r>
              <a:rPr lang="it-IT" dirty="0" err="1"/>
              <a:t>early</a:t>
            </a:r>
            <a:r>
              <a:rPr lang="it-IT" dirty="0"/>
              <a:t>, </a:t>
            </a:r>
            <a:r>
              <a:rPr lang="it-IT" dirty="0" err="1"/>
              <a:t>robust</a:t>
            </a:r>
            <a:r>
              <a:rPr lang="it-IT" dirty="0"/>
              <a:t>, and </a:t>
            </a:r>
            <a:r>
              <a:rPr lang="it-IT" dirty="0" err="1"/>
              <a:t>interpretable</a:t>
            </a:r>
            <a:r>
              <a:rPr lang="it-IT" dirty="0"/>
              <a:t> screening.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Parameter</a:t>
            </a:r>
            <a:r>
              <a:rPr lang="it-IT" b="1" dirty="0"/>
              <a:t> Integration:</a:t>
            </a:r>
            <a:r>
              <a:rPr lang="it-IT" dirty="0"/>
              <a:t> </a:t>
            </a:r>
            <a:r>
              <a:rPr lang="it-IT" dirty="0" err="1"/>
              <a:t>Convergence</a:t>
            </a:r>
            <a:r>
              <a:rPr lang="it-IT" dirty="0"/>
              <a:t> of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demographic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 with </a:t>
            </a:r>
            <a:r>
              <a:rPr lang="it-IT" dirty="0" err="1"/>
              <a:t>dynamic</a:t>
            </a:r>
            <a:r>
              <a:rPr lang="it-IT" dirty="0"/>
              <a:t> stress-test </a:t>
            </a:r>
            <a:r>
              <a:rPr lang="it-IT" dirty="0" err="1"/>
              <a:t>biomarkers</a:t>
            </a:r>
            <a:r>
              <a:rPr lang="it-IT" dirty="0"/>
              <a:t>.</a:t>
            </a:r>
          </a:p>
          <a:p>
            <a:pPr lvl="0">
              <a:lnSpc>
                <a:spcPct val="150000"/>
              </a:lnSpc>
            </a:pPr>
            <a:r>
              <a:rPr lang="it-IT" b="1" dirty="0"/>
              <a:t>Visual Analytics &amp; XAI:</a:t>
            </a:r>
            <a:r>
              <a:rPr lang="it-IT" dirty="0"/>
              <a:t> </a:t>
            </a:r>
            <a:r>
              <a:rPr lang="it-IT" dirty="0" err="1"/>
              <a:t>Prioritizing</a:t>
            </a:r>
            <a:r>
              <a:rPr lang="it-IT" dirty="0"/>
              <a:t> data </a:t>
            </a:r>
            <a:r>
              <a:rPr lang="it-IT" dirty="0" err="1"/>
              <a:t>transparency</a:t>
            </a:r>
            <a:r>
              <a:rPr lang="it-IT" dirty="0"/>
              <a:t> and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validation</a:t>
            </a:r>
            <a:r>
              <a:rPr lang="it-IT" dirty="0"/>
              <a:t> over black-box </a:t>
            </a:r>
            <a:r>
              <a:rPr lang="it-IT" dirty="0" err="1"/>
              <a:t>opacity</a:t>
            </a:r>
            <a:endParaRPr lang="it-IT" dirty="0"/>
          </a:p>
          <a:p>
            <a:pPr marL="0" lvl="0" indent="0">
              <a:lnSpc>
                <a:spcPct val="150000"/>
              </a:lnSpc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55669"/>
            <a:ext cx="7615656" cy="469273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Data </a:t>
            </a:r>
            <a:r>
              <a:rPr lang="it-IT" b="1" dirty="0" err="1"/>
              <a:t>Cleansing</a:t>
            </a:r>
            <a:r>
              <a:rPr lang="it-IT" dirty="0"/>
              <a:t>: </a:t>
            </a:r>
            <a:r>
              <a:rPr lang="it-IT" dirty="0" err="1"/>
              <a:t>Raw</a:t>
            </a:r>
            <a:r>
              <a:rPr lang="it-IT" dirty="0"/>
              <a:t> input volume of 1,025 </a:t>
            </a:r>
            <a:r>
              <a:rPr lang="it-IT" dirty="0" err="1"/>
              <a:t>records</a:t>
            </a:r>
            <a:r>
              <a:rPr lang="it-IT" dirty="0"/>
              <a:t>; </a:t>
            </a:r>
            <a:r>
              <a:rPr lang="it-IT" dirty="0" err="1"/>
              <a:t>elimination</a:t>
            </a:r>
            <a:r>
              <a:rPr lang="it-IT" dirty="0"/>
              <a:t> of 723 </a:t>
            </a:r>
            <a:r>
              <a:rPr lang="it-IT" dirty="0" err="1"/>
              <a:t>exact</a:t>
            </a:r>
            <a:r>
              <a:rPr lang="it-IT" dirty="0"/>
              <a:t> </a:t>
            </a:r>
            <a:r>
              <a:rPr lang="it-IT" dirty="0" err="1"/>
              <a:t>duplicates</a:t>
            </a:r>
            <a:r>
              <a:rPr lang="it-IT" dirty="0"/>
              <a:t>.</a:t>
            </a:r>
          </a:p>
          <a:p>
            <a:pPr lvl="0">
              <a:lnSpc>
                <a:spcPct val="150000"/>
              </a:lnSpc>
            </a:pPr>
            <a:r>
              <a:rPr lang="it-IT" b="1" dirty="0"/>
              <a:t>Data Leakage </a:t>
            </a:r>
            <a:r>
              <a:rPr lang="it-IT" b="1" dirty="0" err="1"/>
              <a:t>Prevention</a:t>
            </a:r>
            <a:r>
              <a:rPr lang="it-IT" dirty="0"/>
              <a:t>: </a:t>
            </a:r>
            <a:r>
              <a:rPr lang="it-IT" dirty="0" err="1"/>
              <a:t>Clean</a:t>
            </a:r>
            <a:r>
              <a:rPr lang="it-IT" dirty="0"/>
              <a:t> </a:t>
            </a:r>
            <a:r>
              <a:rPr lang="it-IT" dirty="0" err="1"/>
              <a:t>cohort</a:t>
            </a:r>
            <a:r>
              <a:rPr lang="it-IT" dirty="0"/>
              <a:t> of 303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to </a:t>
            </a:r>
            <a:r>
              <a:rPr lang="it-IT" dirty="0" err="1"/>
              <a:t>prevent</a:t>
            </a:r>
            <a:r>
              <a:rPr lang="it-IT" dirty="0"/>
              <a:t> model </a:t>
            </a:r>
            <a:r>
              <a:rPr lang="it-IT" dirty="0" err="1"/>
              <a:t>overfitting</a:t>
            </a:r>
            <a:r>
              <a:rPr lang="it-IT" dirty="0"/>
              <a:t>.</a:t>
            </a:r>
          </a:p>
          <a:p>
            <a:pPr lvl="0">
              <a:lnSpc>
                <a:spcPct val="150000"/>
              </a:lnSpc>
            </a:pPr>
            <a:r>
              <a:rPr lang="it-IT" b="1" dirty="0"/>
              <a:t>Class Balance</a:t>
            </a:r>
            <a:r>
              <a:rPr lang="it-IT" dirty="0"/>
              <a:t>: </a:t>
            </a:r>
            <a:r>
              <a:rPr lang="it-IT" dirty="0" err="1"/>
              <a:t>Optimal</a:t>
            </a:r>
            <a:r>
              <a:rPr lang="it-IT" dirty="0"/>
              <a:t> </a:t>
            </a:r>
            <a:r>
              <a:rPr lang="it-IT" dirty="0" err="1"/>
              <a:t>equilibrium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</a:t>
            </a:r>
            <a:r>
              <a:rPr lang="it-IT"/>
              <a:t>(139 </a:t>
            </a:r>
            <a:r>
              <a:rPr lang="it-IT" dirty="0"/>
              <a:t>Class 0 vs 164 Class 1 </a:t>
            </a:r>
            <a:r>
              <a:rPr lang="it-IT" dirty="0" err="1"/>
              <a:t>cases</a:t>
            </a:r>
            <a:r>
              <a:rPr lang="it-IT" dirty="0"/>
              <a:t>).</a:t>
            </a:r>
          </a:p>
          <a:p>
            <a:pPr lvl="0">
              <a:lnSpc>
                <a:spcPct val="150000"/>
              </a:lnSpc>
            </a:pPr>
            <a:r>
              <a:rPr lang="it-IT" b="1" dirty="0"/>
              <a:t>Multi-View </a:t>
            </a:r>
            <a:r>
              <a:rPr lang="it-IT" b="1" dirty="0" err="1"/>
              <a:t>Partitioning</a:t>
            </a:r>
            <a:r>
              <a:rPr lang="it-IT" dirty="0"/>
              <a:t>:</a:t>
            </a:r>
          </a:p>
          <a:p>
            <a:pPr lvl="1">
              <a:lnSpc>
                <a:spcPct val="150000"/>
              </a:lnSpc>
            </a:pPr>
            <a:r>
              <a:rPr lang="it-IT" i="1" dirty="0"/>
              <a:t>View 1 (Clinical/</a:t>
            </a:r>
            <a:r>
              <a:rPr lang="it-IT" i="1" dirty="0" err="1"/>
              <a:t>Demographic</a:t>
            </a:r>
            <a:r>
              <a:rPr lang="it-IT" i="1" dirty="0"/>
              <a:t>)</a:t>
            </a:r>
            <a:r>
              <a:rPr lang="it-IT" dirty="0"/>
              <a:t>: age, </a:t>
            </a:r>
            <a:r>
              <a:rPr lang="it-IT" dirty="0" err="1"/>
              <a:t>trestbps</a:t>
            </a:r>
            <a:r>
              <a:rPr lang="it-IT" dirty="0"/>
              <a:t>, </a:t>
            </a:r>
            <a:r>
              <a:rPr lang="it-IT" dirty="0" err="1"/>
              <a:t>chol</a:t>
            </a:r>
            <a:r>
              <a:rPr lang="it-IT" dirty="0"/>
              <a:t>.</a:t>
            </a:r>
          </a:p>
          <a:p>
            <a:pPr lvl="1">
              <a:lnSpc>
                <a:spcPct val="150000"/>
              </a:lnSpc>
            </a:pPr>
            <a:r>
              <a:rPr lang="it-IT" i="1" dirty="0"/>
              <a:t>View 2 (</a:t>
            </a:r>
            <a:r>
              <a:rPr lang="it-IT" i="1" dirty="0" err="1"/>
              <a:t>Diagnostic</a:t>
            </a:r>
            <a:r>
              <a:rPr lang="it-IT" i="1" dirty="0"/>
              <a:t>/Stress Test)</a:t>
            </a:r>
            <a:r>
              <a:rPr lang="it-IT" dirty="0"/>
              <a:t>: </a:t>
            </a:r>
            <a:r>
              <a:rPr lang="it-IT" dirty="0" err="1"/>
              <a:t>thalach</a:t>
            </a:r>
            <a:r>
              <a:rPr lang="it-IT" dirty="0"/>
              <a:t>, </a:t>
            </a:r>
            <a:r>
              <a:rPr lang="it-IT" dirty="0" err="1"/>
              <a:t>oldpeak</a:t>
            </a:r>
            <a:r>
              <a:rPr lang="it-IT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it-IT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45A8FB-7AE6-BB0C-5EE6-6A92CB442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  <a:t>Target Class Distribution &amp; Balance Assessment</a:t>
            </a:r>
            <a:b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C176B5-1C05-316B-4206-CF862AB2C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pPr lvl="0"/>
            <a:r>
              <a:rPr lang="it-IT" sz="1700" b="1" dirty="0" err="1"/>
              <a:t>Cohort</a:t>
            </a:r>
            <a:r>
              <a:rPr lang="it-IT" sz="1700" b="1" dirty="0"/>
              <a:t> </a:t>
            </a:r>
            <a:r>
              <a:rPr lang="it-IT" sz="1700" b="1" dirty="0" err="1"/>
              <a:t>Structure</a:t>
            </a:r>
            <a:r>
              <a:rPr lang="it-IT" sz="1700" b="1" dirty="0"/>
              <a:t>:</a:t>
            </a:r>
            <a:r>
              <a:rPr lang="it-IT" sz="1700" dirty="0"/>
              <a:t> 303 </a:t>
            </a:r>
            <a:r>
              <a:rPr lang="it-IT" sz="1700" dirty="0" err="1"/>
              <a:t>unique</a:t>
            </a:r>
            <a:r>
              <a:rPr lang="it-IT" sz="1700" dirty="0"/>
              <a:t> </a:t>
            </a:r>
            <a:r>
              <a:rPr lang="it-IT" sz="1700" dirty="0" err="1"/>
              <a:t>patients</a:t>
            </a:r>
            <a:r>
              <a:rPr lang="it-IT" sz="1700" dirty="0"/>
              <a:t> after duplicate </a:t>
            </a:r>
            <a:r>
              <a:rPr lang="it-IT" sz="1700" dirty="0" err="1"/>
              <a:t>removal</a:t>
            </a:r>
            <a:r>
              <a:rPr lang="it-IT" sz="1700" dirty="0"/>
              <a:t> (164 Class 0, 139 Class 1).</a:t>
            </a:r>
          </a:p>
          <a:p>
            <a:pPr lvl="0"/>
            <a:r>
              <a:rPr lang="it-IT" sz="1700" b="1" dirty="0"/>
              <a:t>Class Balance:</a:t>
            </a:r>
            <a:r>
              <a:rPr lang="it-IT" sz="1700" dirty="0"/>
              <a:t> Near-</a:t>
            </a:r>
            <a:r>
              <a:rPr lang="it-IT" sz="1700" dirty="0" err="1"/>
              <a:t>balanced</a:t>
            </a:r>
            <a:r>
              <a:rPr lang="it-IT" sz="1700" dirty="0"/>
              <a:t> </a:t>
            </a:r>
            <a:r>
              <a:rPr lang="it-IT" sz="1700" dirty="0" err="1"/>
              <a:t>distribution</a:t>
            </a:r>
            <a:r>
              <a:rPr lang="it-IT" sz="1700" dirty="0"/>
              <a:t> (~54,1% vs 45,9%).</a:t>
            </a:r>
          </a:p>
          <a:p>
            <a:pPr lvl="0"/>
            <a:r>
              <a:rPr lang="it-IT" sz="1700" b="1" dirty="0" err="1"/>
              <a:t>Methodological</a:t>
            </a:r>
            <a:r>
              <a:rPr lang="it-IT" sz="1700" b="1" dirty="0"/>
              <a:t> </a:t>
            </a:r>
            <a:r>
              <a:rPr lang="it-IT" sz="1700" b="1" dirty="0" err="1"/>
              <a:t>Advantage</a:t>
            </a:r>
            <a:r>
              <a:rPr lang="it-IT" sz="1700" b="1" dirty="0"/>
              <a:t>:</a:t>
            </a:r>
            <a:r>
              <a:rPr lang="it-IT" sz="1700" dirty="0"/>
              <a:t> </a:t>
            </a:r>
            <a:r>
              <a:rPr lang="it-IT" sz="1700" dirty="0" err="1"/>
              <a:t>Prevents</a:t>
            </a:r>
            <a:r>
              <a:rPr lang="it-IT" sz="1700" dirty="0"/>
              <a:t> </a:t>
            </a:r>
            <a:r>
              <a:rPr lang="it-IT" sz="1700" dirty="0" err="1"/>
              <a:t>skewness</a:t>
            </a:r>
            <a:r>
              <a:rPr lang="it-IT" sz="1700" dirty="0"/>
              <a:t>, </a:t>
            </a:r>
            <a:r>
              <a:rPr lang="it-IT" sz="1700" dirty="0" err="1"/>
              <a:t>ensuring</a:t>
            </a:r>
            <a:r>
              <a:rPr lang="it-IT" sz="1700" dirty="0"/>
              <a:t> </a:t>
            </a:r>
            <a:r>
              <a:rPr lang="it-IT" sz="1700" dirty="0" err="1"/>
              <a:t>stable</a:t>
            </a:r>
            <a:r>
              <a:rPr lang="it-IT" sz="1700" dirty="0"/>
              <a:t> </a:t>
            </a:r>
            <a:r>
              <a:rPr lang="it-IT" sz="1700" dirty="0" err="1"/>
              <a:t>predictive</a:t>
            </a:r>
            <a:r>
              <a:rPr lang="it-IT" sz="1700" dirty="0"/>
              <a:t> performance </a:t>
            </a:r>
            <a:r>
              <a:rPr lang="it-IT" sz="1700" dirty="0" err="1"/>
              <a:t>without</a:t>
            </a:r>
            <a:r>
              <a:rPr lang="it-IT" sz="1700" dirty="0"/>
              <a:t> </a:t>
            </a:r>
            <a:r>
              <a:rPr lang="it-IT" sz="1700" dirty="0" err="1"/>
              <a:t>synthetic</a:t>
            </a:r>
            <a:r>
              <a:rPr lang="it-IT" sz="1700" dirty="0"/>
              <a:t> </a:t>
            </a:r>
            <a:r>
              <a:rPr lang="it-IT" sz="1700" dirty="0" err="1"/>
              <a:t>oversampling</a:t>
            </a:r>
            <a:r>
              <a:rPr lang="it-IT" sz="1700" dirty="0"/>
              <a:t>.</a:t>
            </a:r>
          </a:p>
          <a:p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3FF60A-C726-8692-DA5D-D111FC2F4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54" y="1858282"/>
            <a:ext cx="4792009" cy="315074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410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it-IT" sz="2600">
                <a:latin typeface="Arial" panose="020B0604020202020204" pitchFamily="34" charset="0"/>
                <a:cs typeface="Arial" panose="020B0604020202020204" pitchFamily="34" charset="0"/>
              </a:rPr>
              <a:t>Outlier Boundary Definition &amp;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it-IT" sz="1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Geometric</a:t>
            </a:r>
            <a:r>
              <a:rPr lang="it-IT" sz="1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it-IT" sz="1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Application of the Interquartile Range (IQR)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 </a:t>
            </a:r>
            <a:r>
              <a:rPr lang="it-IT" sz="1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notched</a:t>
            </a:r>
            <a:r>
              <a:rPr lang="it-IT" sz="1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confidence </a:t>
            </a:r>
            <a:r>
              <a:rPr lang="it-IT" sz="1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intervals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to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normality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boundaries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statistical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visually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test the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significance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lang="it-IT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differences</a:t>
            </a:r>
            <a:endParaRPr lang="it-IT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it-IT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Physiological</a:t>
            </a:r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Extremes</a:t>
            </a:r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chol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trestbps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oldpeak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valid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physiological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tails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rather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Clinical Strategy: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Retention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distributional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in the workflow;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represent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high-risk </a:t>
            </a:r>
            <a:r>
              <a:rPr lang="it-IT" sz="1000" dirty="0" err="1">
                <a:latin typeface="Arial" panose="020B0604020202020204" pitchFamily="34" charset="0"/>
                <a:cs typeface="Arial" panose="020B0604020202020204" pitchFamily="34" charset="0"/>
              </a:rPr>
              <a:t>phenotypes</a:t>
            </a:r>
            <a:r>
              <a:rPr lang="it-IT" sz="1000" dirty="0">
                <a:latin typeface="Arial" panose="020B0604020202020204" pitchFamily="34" charset="0"/>
                <a:cs typeface="Arial" panose="020B0604020202020204" pitchFamily="34" charset="0"/>
              </a:rPr>
              <a:t> for models to account for</a:t>
            </a:r>
          </a:p>
          <a:p>
            <a:pPr marL="0" indent="0">
              <a:buNone/>
            </a:pPr>
            <a:endParaRPr lang="it-IT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D487751-7DE6-2446-8FB9-F49DFB72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54" y="1960113"/>
            <a:ext cx="4792009" cy="294708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it-IT" b="1" dirty="0" err="1"/>
              <a:t>Standardization</a:t>
            </a:r>
            <a:r>
              <a:rPr lang="it-IT" b="1" dirty="0"/>
              <a:t> and </a:t>
            </a:r>
            <a:r>
              <a:rPr lang="it-IT" b="1" dirty="0" err="1"/>
              <a:t>preprocessing</a:t>
            </a:r>
            <a:r>
              <a:rPr lang="it-IT" b="1" dirty="0"/>
              <a:t> pipeline:</a:t>
            </a:r>
          </a:p>
          <a:p>
            <a:pPr lvl="1">
              <a:lnSpc>
                <a:spcPct val="150000"/>
              </a:lnSpc>
            </a:pPr>
            <a:r>
              <a:rPr lang="it-IT" b="1" dirty="0"/>
              <a:t>Need for Scaling:</a:t>
            </a:r>
            <a:r>
              <a:rPr lang="it-IT" dirty="0"/>
              <a:t> </a:t>
            </a:r>
            <a:r>
              <a:rPr lang="it-IT" dirty="0" err="1"/>
              <a:t>Prevents</a:t>
            </a:r>
            <a:r>
              <a:rPr lang="it-IT" dirty="0"/>
              <a:t> features with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magnitudes</a:t>
            </a:r>
            <a:r>
              <a:rPr lang="it-IT" dirty="0"/>
              <a:t> (e.g., </a:t>
            </a:r>
            <a:r>
              <a:rPr lang="it-IT" dirty="0" err="1"/>
              <a:t>chol</a:t>
            </a:r>
            <a:r>
              <a:rPr lang="it-IT" dirty="0"/>
              <a:t> &gt; 400 vs </a:t>
            </a:r>
            <a:r>
              <a:rPr lang="it-IT" dirty="0" err="1"/>
              <a:t>oldpeak</a:t>
            </a:r>
            <a:r>
              <a:rPr lang="it-IT" dirty="0"/>
              <a:t> 2-6) from </a:t>
            </a:r>
            <a:r>
              <a:rPr lang="it-IT" dirty="0" err="1"/>
              <a:t>dominating</a:t>
            </a:r>
            <a:r>
              <a:rPr lang="it-IT" dirty="0"/>
              <a:t> </a:t>
            </a:r>
            <a:r>
              <a:rPr lang="it-IT" dirty="0" err="1"/>
              <a:t>Euclidean</a:t>
            </a:r>
            <a:r>
              <a:rPr lang="it-IT" dirty="0"/>
              <a:t> </a:t>
            </a:r>
            <a:r>
              <a:rPr lang="it-IT" dirty="0" err="1"/>
              <a:t>distances</a:t>
            </a:r>
            <a:r>
              <a:rPr lang="it-IT" dirty="0"/>
              <a:t>.</a:t>
            </a:r>
          </a:p>
          <a:p>
            <a:pPr lvl="1">
              <a:lnSpc>
                <a:spcPct val="150000"/>
              </a:lnSpc>
            </a:pPr>
            <a:r>
              <a:rPr lang="it-IT" b="1" dirty="0"/>
              <a:t>Applied Pipeline:</a:t>
            </a:r>
            <a:r>
              <a:rPr lang="it-IT" dirty="0"/>
              <a:t> </a:t>
            </a:r>
            <a:r>
              <a:rPr lang="it-IT" dirty="0" err="1"/>
              <a:t>Z</a:t>
            </a:r>
            <a:r>
              <a:rPr lang="it-IT" dirty="0"/>
              <a:t>-score </a:t>
            </a:r>
            <a:r>
              <a:rPr lang="it-IT" dirty="0" err="1"/>
              <a:t>normalization</a:t>
            </a:r>
            <a:r>
              <a:rPr lang="it-IT" dirty="0"/>
              <a:t> (</a:t>
            </a:r>
            <a:r>
              <a:rPr lang="it-IT" dirty="0" err="1"/>
              <a:t>StandardScaler</a:t>
            </a:r>
            <a:r>
              <a:rPr lang="it-IT" dirty="0"/>
              <a:t>) </a:t>
            </a:r>
            <a:r>
              <a:rPr lang="it-IT" dirty="0" err="1"/>
              <a:t>centering</a:t>
            </a:r>
            <a:r>
              <a:rPr lang="it-IT" dirty="0"/>
              <a:t> </a:t>
            </a:r>
            <a:r>
              <a:rPr lang="it-IT" dirty="0" err="1"/>
              <a:t>mean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0 and </a:t>
            </a:r>
            <a:r>
              <a:rPr lang="it-IT" dirty="0" err="1"/>
              <a:t>variance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1 for </a:t>
            </a:r>
            <a:r>
              <a:rPr lang="it-IT" dirty="0" err="1"/>
              <a:t>fairness</a:t>
            </a:r>
            <a:r>
              <a:rPr lang="it-IT" dirty="0"/>
              <a:t> in PCA and K-Means</a:t>
            </a:r>
          </a:p>
          <a:p>
            <a:pPr lvl="1">
              <a:lnSpc>
                <a:spcPct val="150000"/>
              </a:lnSpc>
            </a:pPr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it-IT" sz="3600"/>
              <a:t>Feature Interaction Space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3202" y="2807208"/>
                <a:ext cx="2918180" cy="3864670"/>
              </a:xfrm>
            </p:spPr>
            <p:txBody>
              <a:bodyPr anchor="t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it-IT" sz="9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it-IT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Feature </a:t>
                </a:r>
                <a:r>
                  <a:rPr lang="it-IT" sz="9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Interplay</a:t>
                </a:r>
                <a:r>
                  <a:rPr lang="it-IT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Pearson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correlation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mapping restricted to core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clinical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parameters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(age,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trestbps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,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chol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,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thalach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,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oldpeak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it-IT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Key Patterns:</a:t>
                </a:r>
                <a:endParaRPr lang="it-IT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it-IT" sz="9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Chronotropic</a:t>
                </a:r>
                <a:r>
                  <a:rPr lang="it-IT" sz="9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Decline</a:t>
                </a:r>
                <a:r>
                  <a:rPr lang="it-IT" sz="9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Inverse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correlation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age and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thalach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(</a:t>
                </a:r>
                <a14:m>
                  <m:oMath xmlns:m="http://schemas.openxmlformats.org/officeDocument/2006/math">
                    <m:r>
                      <a:rPr lang="it-IT" sz="9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it-IT" sz="900">
                        <a:latin typeface="Cambria Math" panose="02040503050406030204" pitchFamily="18" charset="0"/>
                      </a:rPr>
                      <m:t>=−0.40</m:t>
                    </m:r>
                  </m:oMath>
                </a14:m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it-IT" sz="9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Cardiovascular</a:t>
                </a:r>
                <a:r>
                  <a:rPr lang="it-IT" sz="9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Aging: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Positive links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age and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trestbps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(</a:t>
                </a:r>
                <a14:m>
                  <m:oMath xmlns:m="http://schemas.openxmlformats.org/officeDocument/2006/math">
                    <m:r>
                      <a:rPr lang="it-IT" sz="9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it-IT" sz="900">
                        <a:latin typeface="Cambria Math" panose="02040503050406030204" pitchFamily="18" charset="0"/>
                      </a:rPr>
                      <m:t>=0.28</m:t>
                    </m:r>
                  </m:oMath>
                </a14:m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) /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chol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(</a:t>
                </a:r>
                <a14:m>
                  <m:oMath xmlns:m="http://schemas.openxmlformats.org/officeDocument/2006/math">
                    <m:r>
                      <a:rPr lang="it-IT" sz="9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it-IT" sz="900">
                        <a:latin typeface="Cambria Math" panose="02040503050406030204" pitchFamily="18" charset="0"/>
                      </a:rPr>
                      <m:t>=0.21</m:t>
                    </m:r>
                  </m:oMath>
                </a14:m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it-IT" sz="9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Stress-Test Interaction: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Inverse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relationship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thalach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and 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oldpeak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(</a:t>
                </a:r>
                <a14:m>
                  <m:oMath xmlns:m="http://schemas.openxmlformats.org/officeDocument/2006/math">
                    <m:r>
                      <a:rPr lang="it-IT" sz="9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it-IT" sz="900">
                        <a:latin typeface="Cambria Math" panose="02040503050406030204" pitchFamily="18" charset="0"/>
                      </a:rPr>
                      <m:t>=−0.34</m:t>
                    </m:r>
                  </m:oMath>
                </a14:m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it-IT" sz="9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Analytical</a:t>
                </a:r>
                <a:r>
                  <a:rPr lang="it-IT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Value: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 Maps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internal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collinearity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ensuring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geometric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stability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latent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space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decomposition</a:t>
                </a:r>
                <a:r>
                  <a:rPr lang="it-I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it-IT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2807208"/>
                <a:ext cx="2918180" cy="38646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4F604970-0892-6A99-0BF1-8F2C1E6E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722" y="1247856"/>
            <a:ext cx="5177790" cy="43622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Non-Linearity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Limits of Linear Analysis:</a:t>
            </a:r>
            <a:r>
              <a:rPr lang="it-IT" dirty="0"/>
              <a:t> </a:t>
            </a:r>
            <a:r>
              <a:rPr lang="it-IT" dirty="0" err="1"/>
              <a:t>Bivariate</a:t>
            </a:r>
            <a:r>
              <a:rPr lang="it-IT" dirty="0"/>
              <a:t> </a:t>
            </a:r>
            <a:r>
              <a:rPr lang="it-IT" dirty="0" err="1"/>
              <a:t>matrices</a:t>
            </a:r>
            <a:r>
              <a:rPr lang="it-IT" dirty="0"/>
              <a:t> </a:t>
            </a:r>
            <a:r>
              <a:rPr lang="it-IT" dirty="0" err="1"/>
              <a:t>analyze</a:t>
            </a:r>
            <a:r>
              <a:rPr lang="it-IT" dirty="0"/>
              <a:t> </a:t>
            </a:r>
            <a:r>
              <a:rPr lang="it-IT" dirty="0" err="1"/>
              <a:t>isolated</a:t>
            </a:r>
            <a:r>
              <a:rPr lang="it-IT" dirty="0"/>
              <a:t> </a:t>
            </a:r>
            <a:r>
              <a:rPr lang="it-IT" dirty="0" err="1"/>
              <a:t>pairs</a:t>
            </a:r>
            <a:r>
              <a:rPr lang="it-IT" dirty="0"/>
              <a:t>;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cardiovascular</a:t>
            </a:r>
            <a:r>
              <a:rPr lang="it-IT" dirty="0"/>
              <a:t> risk </a:t>
            </a:r>
            <a:r>
              <a:rPr lang="it-IT" dirty="0" err="1"/>
              <a:t>involves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multivariate interactions.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Geometric</a:t>
            </a:r>
            <a:r>
              <a:rPr lang="it-IT" b="1" dirty="0"/>
              <a:t> Solution:</a:t>
            </a:r>
            <a:r>
              <a:rPr lang="it-IT" dirty="0"/>
              <a:t> </a:t>
            </a:r>
            <a:r>
              <a:rPr lang="it-IT" dirty="0" err="1"/>
              <a:t>Dimensional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 </a:t>
            </a:r>
            <a:r>
              <a:rPr lang="it-IT" dirty="0" err="1"/>
              <a:t>maps</a:t>
            </a:r>
            <a:r>
              <a:rPr lang="it-IT" dirty="0"/>
              <a:t> 303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multidimensional</a:t>
            </a:r>
            <a:r>
              <a:rPr lang="it-IT" dirty="0"/>
              <a:t> </a:t>
            </a:r>
            <a:r>
              <a:rPr lang="it-IT" dirty="0" err="1"/>
              <a:t>architecture</a:t>
            </a:r>
            <a:r>
              <a:rPr lang="it-IT" dirty="0"/>
              <a:t> via </a:t>
            </a:r>
            <a:r>
              <a:rPr lang="it-IT" dirty="0" err="1"/>
              <a:t>orthogonal</a:t>
            </a:r>
            <a:r>
              <a:rPr lang="it-IT" dirty="0"/>
              <a:t> </a:t>
            </a:r>
            <a:r>
              <a:rPr lang="it-IT" dirty="0" err="1"/>
              <a:t>projection</a:t>
            </a:r>
            <a:r>
              <a:rPr lang="it-IT" dirty="0"/>
              <a:t> (PCA) to </a:t>
            </a:r>
            <a:r>
              <a:rPr lang="it-IT" dirty="0" err="1"/>
              <a:t>compress</a:t>
            </a:r>
            <a:r>
              <a:rPr lang="it-IT" dirty="0"/>
              <a:t> global </a:t>
            </a:r>
            <a:r>
              <a:rPr lang="it-IT" dirty="0" err="1"/>
              <a:t>variance</a:t>
            </a:r>
            <a:endParaRPr lang="it-IT" dirty="0"/>
          </a:p>
          <a:p>
            <a:pPr lvl="0">
              <a:lnSpc>
                <a:spcPct val="150000"/>
              </a:lnSpc>
            </a:pP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PCA </a:t>
            </a:r>
            <a:r>
              <a:rPr lang="it-IT" b="1" dirty="0" err="1"/>
              <a:t>Methodology</a:t>
            </a:r>
            <a:r>
              <a:rPr lang="it-IT" b="1" dirty="0"/>
              <a:t>:</a:t>
            </a:r>
            <a:r>
              <a:rPr lang="it-IT" dirty="0"/>
              <a:t> Applied on the 5 </a:t>
            </a:r>
            <a:r>
              <a:rPr lang="it-IT" dirty="0" err="1"/>
              <a:t>standardized</a:t>
            </a:r>
            <a:r>
              <a:rPr lang="it-IT" dirty="0"/>
              <a:t> </a:t>
            </a:r>
            <a:r>
              <a:rPr lang="it-IT" dirty="0" err="1"/>
              <a:t>continuous</a:t>
            </a:r>
            <a:r>
              <a:rPr lang="it-IT" dirty="0"/>
              <a:t> features (age, </a:t>
            </a:r>
            <a:r>
              <a:rPr lang="it-IT" dirty="0" err="1"/>
              <a:t>trestbps</a:t>
            </a:r>
            <a:r>
              <a:rPr lang="it-IT" dirty="0"/>
              <a:t>, </a:t>
            </a:r>
            <a:r>
              <a:rPr lang="it-IT" dirty="0" err="1"/>
              <a:t>chol</a:t>
            </a:r>
            <a:r>
              <a:rPr lang="it-IT" dirty="0"/>
              <a:t>, </a:t>
            </a:r>
            <a:r>
              <a:rPr lang="it-IT" dirty="0" err="1"/>
              <a:t>thalach</a:t>
            </a:r>
            <a:r>
              <a:rPr lang="it-IT" dirty="0"/>
              <a:t>, </a:t>
            </a:r>
            <a:r>
              <a:rPr lang="it-IT" dirty="0" err="1"/>
              <a:t>oldpeak</a:t>
            </a:r>
            <a:r>
              <a:rPr lang="it-IT" dirty="0"/>
              <a:t>); scaling </a:t>
            </a:r>
            <a:r>
              <a:rPr lang="it-IT" dirty="0" err="1"/>
              <a:t>ensures</a:t>
            </a:r>
            <a:r>
              <a:rPr lang="it-IT" dirty="0"/>
              <a:t>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fairness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magnitude</a:t>
            </a:r>
            <a:r>
              <a:rPr lang="it-IT" dirty="0"/>
              <a:t> </a:t>
            </a:r>
            <a:r>
              <a:rPr lang="it-IT" dirty="0" err="1"/>
              <a:t>distortion</a:t>
            </a:r>
            <a:r>
              <a:rPr lang="it-IT" dirty="0"/>
              <a:t>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Decision</a:t>
            </a:r>
            <a:r>
              <a:rPr lang="it-IT" b="1" dirty="0"/>
              <a:t> </a:t>
            </a:r>
            <a:r>
              <a:rPr lang="it-IT" b="1" dirty="0" err="1"/>
              <a:t>Objectives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Maximize</a:t>
            </a:r>
            <a:r>
              <a:rPr lang="it-IT" dirty="0"/>
              <a:t> </a:t>
            </a:r>
            <a:r>
              <a:rPr lang="it-IT" dirty="0" err="1"/>
              <a:t>explained</a:t>
            </a:r>
            <a:r>
              <a:rPr lang="it-IT" dirty="0"/>
              <a:t> </a:t>
            </a:r>
            <a:r>
              <a:rPr lang="it-IT" dirty="0" err="1"/>
              <a:t>variance</a:t>
            </a:r>
            <a:r>
              <a:rPr lang="it-IT" dirty="0"/>
              <a:t> for </a:t>
            </a:r>
            <a:r>
              <a:rPr lang="it-IT" dirty="0" err="1"/>
              <a:t>dimensional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; project </a:t>
            </a:r>
            <a:r>
              <a:rPr lang="it-IT" dirty="0" err="1"/>
              <a:t>patient</a:t>
            </a:r>
            <a:r>
              <a:rPr lang="it-IT" dirty="0"/>
              <a:t> </a:t>
            </a:r>
            <a:r>
              <a:rPr lang="it-IT" dirty="0" err="1"/>
              <a:t>behavior</a:t>
            </a:r>
            <a:r>
              <a:rPr lang="it-IT" dirty="0"/>
              <a:t> </a:t>
            </a:r>
            <a:r>
              <a:rPr lang="it-IT" dirty="0" err="1"/>
              <a:t>onto</a:t>
            </a:r>
            <a:r>
              <a:rPr lang="it-IT" dirty="0"/>
              <a:t> PC1 and PC2 to isolate </a:t>
            </a:r>
            <a:r>
              <a:rPr lang="it-IT" dirty="0" err="1"/>
              <a:t>latent</a:t>
            </a:r>
            <a:r>
              <a:rPr lang="it-IT" dirty="0"/>
              <a:t> dataset </a:t>
            </a:r>
            <a:r>
              <a:rPr lang="it-IT" dirty="0" err="1"/>
              <a:t>structure</a:t>
            </a:r>
            <a:endParaRPr lang="it-IT" dirty="0"/>
          </a:p>
          <a:p>
            <a:pPr lvl="0">
              <a:lnSpc>
                <a:spcPct val="150000"/>
              </a:lnSpc>
            </a:pPr>
            <a:endParaRPr lang="it-I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419129-E7B6-05D5-07B7-D05CBD14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it-IT" sz="2900"/>
              <a:t>PCA Global Scree Plot &amp; Cumulative Variance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EE0EEF-E340-8263-20C6-E2275041B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15" y="2807208"/>
            <a:ext cx="2686137" cy="3760498"/>
          </a:xfrm>
        </p:spPr>
        <p:txBody>
          <a:bodyPr anchor="t">
            <a:normAutofit fontScale="47500" lnSpcReduction="20000"/>
          </a:bodyPr>
          <a:lstStyle/>
          <a:p>
            <a:pPr lvl="0">
              <a:lnSpc>
                <a:spcPct val="170000"/>
              </a:lnSpc>
            </a:pPr>
            <a:r>
              <a:rPr lang="it-IT" b="1" dirty="0"/>
              <a:t>Global </a:t>
            </a:r>
            <a:r>
              <a:rPr lang="it-IT" b="1" dirty="0" err="1"/>
              <a:t>Spatial</a:t>
            </a:r>
            <a:r>
              <a:rPr lang="it-IT" b="1" dirty="0"/>
              <a:t> </a:t>
            </a:r>
            <a:r>
              <a:rPr lang="it-IT" b="1" dirty="0" err="1"/>
              <a:t>Decomposition</a:t>
            </a:r>
            <a:r>
              <a:rPr lang="it-IT" b="1" dirty="0"/>
              <a:t>:</a:t>
            </a:r>
            <a:r>
              <a:rPr lang="it-IT" dirty="0"/>
              <a:t> PCA </a:t>
            </a:r>
            <a:r>
              <a:rPr lang="it-IT" dirty="0" err="1"/>
              <a:t>applied</a:t>
            </a:r>
            <a:r>
              <a:rPr lang="it-IT" dirty="0"/>
              <a:t> to the 5 core </a:t>
            </a:r>
            <a:r>
              <a:rPr lang="it-IT" dirty="0" err="1"/>
              <a:t>continuous</a:t>
            </a:r>
            <a:r>
              <a:rPr lang="it-IT" dirty="0"/>
              <a:t> features (age, </a:t>
            </a:r>
            <a:r>
              <a:rPr lang="it-IT" dirty="0" err="1"/>
              <a:t>trestbps</a:t>
            </a:r>
            <a:r>
              <a:rPr lang="it-IT" dirty="0"/>
              <a:t>, </a:t>
            </a:r>
            <a:r>
              <a:rPr lang="it-IT" dirty="0" err="1"/>
              <a:t>chol</a:t>
            </a:r>
            <a:r>
              <a:rPr lang="it-IT" dirty="0"/>
              <a:t>, </a:t>
            </a:r>
            <a:r>
              <a:rPr lang="it-IT" dirty="0" err="1"/>
              <a:t>thalach</a:t>
            </a:r>
            <a:r>
              <a:rPr lang="it-IT" dirty="0"/>
              <a:t>, </a:t>
            </a:r>
            <a:r>
              <a:rPr lang="it-IT" dirty="0" err="1"/>
              <a:t>oldpeak</a:t>
            </a:r>
            <a:r>
              <a:rPr lang="it-IT" dirty="0"/>
              <a:t>) to </a:t>
            </a:r>
            <a:r>
              <a:rPr lang="it-IT" dirty="0" err="1"/>
              <a:t>quantify</a:t>
            </a:r>
            <a:r>
              <a:rPr lang="it-IT" dirty="0"/>
              <a:t> information </a:t>
            </a:r>
            <a:r>
              <a:rPr lang="it-IT" dirty="0" err="1"/>
              <a:t>compression</a:t>
            </a:r>
            <a:r>
              <a:rPr lang="it-IT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b="1" dirty="0"/>
              <a:t>Cumulative Curve:</a:t>
            </a:r>
            <a:r>
              <a:rPr lang="it-IT" dirty="0"/>
              <a:t> </a:t>
            </a:r>
            <a:r>
              <a:rPr lang="it-IT" dirty="0" err="1"/>
              <a:t>Variance</a:t>
            </a:r>
            <a:r>
              <a:rPr lang="it-IT" dirty="0"/>
              <a:t> </a:t>
            </a:r>
            <a:r>
              <a:rPr lang="it-IT" dirty="0" err="1"/>
              <a:t>captured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5 </a:t>
            </a:r>
            <a:r>
              <a:rPr lang="it-IT" dirty="0" err="1"/>
              <a:t>components</a:t>
            </a:r>
            <a:r>
              <a:rPr lang="it-IT" dirty="0"/>
              <a:t>; PC1 alone </a:t>
            </a:r>
            <a:r>
              <a:rPr lang="it-IT" dirty="0" err="1"/>
              <a:t>explains</a:t>
            </a:r>
            <a:r>
              <a:rPr lang="it-IT" dirty="0"/>
              <a:t> over 35% of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variance</a:t>
            </a:r>
            <a:r>
              <a:rPr lang="it-IT" dirty="0"/>
              <a:t> </a:t>
            </a:r>
            <a:r>
              <a:rPr lang="it-IT" dirty="0" err="1"/>
              <a:t>reflecting</a:t>
            </a:r>
            <a:r>
              <a:rPr lang="it-IT" dirty="0"/>
              <a:t> </a:t>
            </a:r>
            <a:r>
              <a:rPr lang="it-IT" dirty="0" err="1"/>
              <a:t>primary</a:t>
            </a:r>
            <a:r>
              <a:rPr lang="it-IT" dirty="0"/>
              <a:t> </a:t>
            </a:r>
            <a:r>
              <a:rPr lang="it-IT" dirty="0" err="1"/>
              <a:t>physiological</a:t>
            </a:r>
            <a:r>
              <a:rPr lang="it-IT" dirty="0"/>
              <a:t> </a:t>
            </a:r>
            <a:r>
              <a:rPr lang="it-IT" dirty="0" err="1"/>
              <a:t>axes</a:t>
            </a:r>
            <a:r>
              <a:rPr lang="it-IT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b="1" dirty="0"/>
              <a:t>Critical </a:t>
            </a:r>
            <a:r>
              <a:rPr lang="it-IT" b="1" dirty="0" err="1"/>
              <a:t>Threshold</a:t>
            </a:r>
            <a:r>
              <a:rPr lang="it-IT" b="1" dirty="0"/>
              <a:t> </a:t>
            </a:r>
            <a:r>
              <a:rPr lang="it-IT" b="1" dirty="0" err="1"/>
              <a:t>Intercept</a:t>
            </a:r>
            <a:r>
              <a:rPr lang="it-IT" b="1" dirty="0"/>
              <a:t>:</a:t>
            </a:r>
            <a:r>
              <a:rPr lang="it-IT" dirty="0"/>
              <a:t> The 80% </a:t>
            </a:r>
            <a:r>
              <a:rPr lang="it-IT" dirty="0" err="1"/>
              <a:t>reference</a:t>
            </a:r>
            <a:r>
              <a:rPr lang="it-IT" dirty="0"/>
              <a:t> </a:t>
            </a: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crossed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3rd and 4th </a:t>
            </a:r>
            <a:r>
              <a:rPr lang="it-IT" dirty="0" err="1"/>
              <a:t>principal</a:t>
            </a:r>
            <a:r>
              <a:rPr lang="it-IT" dirty="0"/>
              <a:t> </a:t>
            </a:r>
            <a:r>
              <a:rPr lang="it-IT" dirty="0" err="1"/>
              <a:t>components</a:t>
            </a:r>
            <a:r>
              <a:rPr lang="it-IT" dirty="0"/>
              <a:t>, </a:t>
            </a:r>
            <a:r>
              <a:rPr lang="it-IT" dirty="0" err="1"/>
              <a:t>preserving</a:t>
            </a:r>
            <a:r>
              <a:rPr lang="it-IT" dirty="0"/>
              <a:t> </a:t>
            </a:r>
            <a:r>
              <a:rPr lang="it-IT" dirty="0" err="1"/>
              <a:t>variability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eliminating</a:t>
            </a:r>
            <a:r>
              <a:rPr lang="it-IT" dirty="0"/>
              <a:t> </a:t>
            </a:r>
            <a:r>
              <a:rPr lang="it-IT" dirty="0" err="1"/>
              <a:t>noise</a:t>
            </a:r>
            <a:endParaRPr lang="it-IT" dirty="0"/>
          </a:p>
          <a:p>
            <a:pPr>
              <a:lnSpc>
                <a:spcPct val="170000"/>
              </a:lnSpc>
            </a:pPr>
            <a:endParaRPr lang="it-IT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7814DB-632B-0B8B-5B64-2A7D795E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011581"/>
            <a:ext cx="5177790" cy="283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16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 sz="4300"/>
              <a:t>PCA Biplot Representation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4101084" cy="3835502"/>
          </a:xfrm>
        </p:spPr>
        <p:txBody>
          <a:bodyPr anchor="t">
            <a:noAutofit/>
          </a:bodyPr>
          <a:lstStyle/>
          <a:p>
            <a:pPr lvl="0">
              <a:lnSpc>
                <a:spcPct val="170000"/>
              </a:lnSpc>
            </a:pP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Multidimensional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Space: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Simultaneous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projection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patient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profiles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and feature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onto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PC1 and PC2,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capturing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of 57.6% (PC1: 36.0%, PC2: 21.6%).</a:t>
            </a:r>
          </a:p>
          <a:p>
            <a:pPr lvl="0">
              <a:lnSpc>
                <a:spcPct val="170000"/>
              </a:lnSpc>
            </a:pP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Interpretations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(Loadings):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Arrow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express the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of the 5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(age,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trestbps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chol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thalach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oldpeak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>
              <a:lnSpc>
                <a:spcPct val="170000"/>
              </a:lnSpc>
            </a:pP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Hemodynamic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and Risk Drivers:</a:t>
            </a:r>
            <a:endParaRPr lang="it-IT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</a:pP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thalach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orients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the negative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half-plane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of PC1.</a:t>
            </a:r>
          </a:p>
          <a:p>
            <a:pPr lvl="1">
              <a:lnSpc>
                <a:spcPct val="170000"/>
              </a:lnSpc>
            </a:pP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age,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trestbps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 and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chol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project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positive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oldpeak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extends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lower-right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quadrant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70000"/>
              </a:lnSpc>
            </a:pP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Cohort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polarization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clearly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distinguishes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Class 0 (blue) and Class 1 (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orange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latent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70000"/>
              </a:lnSpc>
            </a:pP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Structural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Dynamics: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Biomarkers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naturally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drive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geometric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requiring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it-IT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endParaRPr lang="it-IT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CB3E494-11B6-7D1A-8DD2-E22570D96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1847605"/>
            <a:ext cx="4094226" cy="31627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Feature Loadings (Clinical Bias):</a:t>
            </a:r>
            <a:r>
              <a:rPr lang="it-IT" dirty="0"/>
              <a:t> Arrow </a:t>
            </a:r>
            <a:r>
              <a:rPr lang="it-IT" dirty="0" err="1"/>
              <a:t>directions</a:t>
            </a:r>
            <a:r>
              <a:rPr lang="it-IT" dirty="0"/>
              <a:t> indicate </a:t>
            </a:r>
            <a:r>
              <a:rPr lang="it-IT" dirty="0" err="1"/>
              <a:t>biological</a:t>
            </a:r>
            <a:r>
              <a:rPr lang="it-IT" dirty="0"/>
              <a:t> </a:t>
            </a:r>
            <a:r>
              <a:rPr lang="it-IT" dirty="0" err="1"/>
              <a:t>bias</a:t>
            </a:r>
            <a:r>
              <a:rPr lang="it-IT" dirty="0"/>
              <a:t>, with </a:t>
            </a:r>
            <a:r>
              <a:rPr lang="it-IT" dirty="0" err="1"/>
              <a:t>vectors</a:t>
            </a:r>
            <a:r>
              <a:rPr lang="it-IT" dirty="0"/>
              <a:t> like </a:t>
            </a:r>
            <a:r>
              <a:rPr lang="it-IT" dirty="0" err="1"/>
              <a:t>oldpeak</a:t>
            </a:r>
            <a:r>
              <a:rPr lang="it-IT" dirty="0"/>
              <a:t> and age </a:t>
            </a:r>
            <a:r>
              <a:rPr lang="it-IT" dirty="0" err="1"/>
              <a:t>acting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direct</a:t>
            </a:r>
            <a:r>
              <a:rPr lang="it-IT" dirty="0"/>
              <a:t> </a:t>
            </a:r>
            <a:r>
              <a:rPr lang="it-IT" dirty="0" err="1"/>
              <a:t>cardiovascular</a:t>
            </a:r>
            <a:r>
              <a:rPr lang="it-IT" dirty="0"/>
              <a:t> risk drivers.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Vector</a:t>
            </a:r>
            <a:r>
              <a:rPr lang="it-IT" b="1" dirty="0"/>
              <a:t> </a:t>
            </a:r>
            <a:r>
              <a:rPr lang="it-IT" b="1" dirty="0" err="1"/>
              <a:t>Magnitude</a:t>
            </a:r>
            <a:r>
              <a:rPr lang="it-IT" b="1" dirty="0"/>
              <a:t> (</a:t>
            </a:r>
            <a:r>
              <a:rPr lang="it-IT" b="1" dirty="0" err="1"/>
              <a:t>Contribution</a:t>
            </a:r>
            <a:r>
              <a:rPr lang="it-IT" b="1" dirty="0"/>
              <a:t> to </a:t>
            </a:r>
            <a:r>
              <a:rPr lang="it-IT" b="1" dirty="0" err="1"/>
              <a:t>Variance</a:t>
            </a:r>
            <a:r>
              <a:rPr lang="it-IT" b="1" dirty="0"/>
              <a:t>):</a:t>
            </a:r>
            <a:r>
              <a:rPr lang="it-IT" dirty="0"/>
              <a:t> Arrow </a:t>
            </a:r>
            <a:r>
              <a:rPr lang="it-IT" dirty="0" err="1"/>
              <a:t>length</a:t>
            </a:r>
            <a:r>
              <a:rPr lang="it-IT" dirty="0"/>
              <a:t> </a:t>
            </a:r>
            <a:r>
              <a:rPr lang="it-IT" dirty="0" err="1"/>
              <a:t>expresses</a:t>
            </a:r>
            <a:r>
              <a:rPr lang="it-IT" dirty="0"/>
              <a:t>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significance</a:t>
            </a:r>
            <a:r>
              <a:rPr lang="it-IT" dirty="0"/>
              <a:t>,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</a:t>
            </a:r>
            <a:r>
              <a:rPr lang="it-IT" dirty="0" err="1"/>
              <a:t>vectors</a:t>
            </a:r>
            <a:r>
              <a:rPr lang="it-IT" dirty="0"/>
              <a:t> </a:t>
            </a:r>
            <a:r>
              <a:rPr lang="it-IT" dirty="0" err="1"/>
              <a:t>signify</a:t>
            </a:r>
            <a:r>
              <a:rPr lang="it-IT" dirty="0"/>
              <a:t> </a:t>
            </a:r>
            <a:r>
              <a:rPr lang="it-IT" dirty="0" err="1"/>
              <a:t>biomarkers</a:t>
            </a:r>
            <a:r>
              <a:rPr lang="it-IT" dirty="0"/>
              <a:t> </a:t>
            </a:r>
            <a:r>
              <a:rPr lang="it-IT" dirty="0" err="1"/>
              <a:t>contributing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to PC1 and PC2.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Decision</a:t>
            </a:r>
            <a:r>
              <a:rPr lang="it-IT" b="1" dirty="0"/>
              <a:t> </a:t>
            </a:r>
            <a:r>
              <a:rPr lang="it-IT" b="1" dirty="0" err="1"/>
              <a:t>Boundary</a:t>
            </a:r>
            <a:r>
              <a:rPr lang="it-IT" b="1" dirty="0"/>
              <a:t> (</a:t>
            </a:r>
            <a:r>
              <a:rPr lang="it-IT" b="1" dirty="0" err="1"/>
              <a:t>Intrinsic</a:t>
            </a:r>
            <a:r>
              <a:rPr lang="it-IT" b="1" dirty="0"/>
              <a:t> </a:t>
            </a:r>
            <a:r>
              <a:rPr lang="it-IT" b="1" dirty="0" err="1"/>
              <a:t>Latent</a:t>
            </a:r>
            <a:r>
              <a:rPr lang="it-IT" b="1" dirty="0"/>
              <a:t> </a:t>
            </a:r>
            <a:r>
              <a:rPr lang="it-IT" b="1" dirty="0" err="1"/>
              <a:t>Structure</a:t>
            </a:r>
            <a:r>
              <a:rPr lang="it-IT" b="1" dirty="0"/>
              <a:t>):</a:t>
            </a:r>
            <a:r>
              <a:rPr lang="it-IT" dirty="0"/>
              <a:t> 2D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bias</a:t>
            </a:r>
            <a:r>
              <a:rPr lang="it-IT" dirty="0"/>
              <a:t> </a:t>
            </a:r>
            <a:r>
              <a:rPr lang="it-IT" dirty="0" err="1"/>
              <a:t>demonstrates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separation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Class 0 and Class 1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stems</a:t>
            </a:r>
            <a:r>
              <a:rPr lang="it-IT" dirty="0"/>
              <a:t> </a:t>
            </a:r>
            <a:r>
              <a:rPr lang="it-IT" dirty="0" err="1"/>
              <a:t>entirely</a:t>
            </a:r>
            <a:r>
              <a:rPr lang="it-IT" dirty="0"/>
              <a:t> from </a:t>
            </a:r>
            <a:r>
              <a:rPr lang="it-IT" dirty="0" err="1"/>
              <a:t>natural</a:t>
            </a:r>
            <a:r>
              <a:rPr lang="it-IT" dirty="0"/>
              <a:t> data </a:t>
            </a:r>
            <a:r>
              <a:rPr lang="it-IT" dirty="0" err="1"/>
              <a:t>variance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algorithmic</a:t>
            </a:r>
            <a:r>
              <a:rPr lang="it-IT" dirty="0"/>
              <a:t> </a:t>
            </a:r>
            <a:r>
              <a:rPr lang="it-IT" dirty="0" err="1"/>
              <a:t>supervision</a:t>
            </a:r>
            <a:endParaRPr lang="it-IT" dirty="0"/>
          </a:p>
          <a:p>
            <a:pPr lvl="0">
              <a:lnSpc>
                <a:spcPct val="150000"/>
              </a:lnSpc>
            </a:pPr>
            <a:endParaRPr lang="it-IT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 sz="4700"/>
              <a:t>Variance Explained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 fontScale="47500" lnSpcReduction="20000"/>
          </a:bodyPr>
          <a:lstStyle/>
          <a:p>
            <a:pPr lvl="0">
              <a:lnSpc>
                <a:spcPct val="170000"/>
              </a:lnSpc>
            </a:pP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2D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Latent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Space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Projection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patient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on the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Cartesian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plane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defined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by the first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Principal Components (PC1 and PC2) from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standardized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features.</a:t>
            </a:r>
          </a:p>
          <a:p>
            <a:pPr lvl="0">
              <a:lnSpc>
                <a:spcPct val="170000"/>
              </a:lnSpc>
            </a:pP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Quantification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of Information: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 PC1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captures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36.0% and PC2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captures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21.6% of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summarizing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57.6% of the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70000"/>
              </a:lnSpc>
            </a:pP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Cohort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Segregation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Enclosure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polarization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reinforced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by 95%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covariance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ellipses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; Class 0 (blue) clusters in the positive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half-plane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of PC1,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Class 1 (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orange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concentrates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negative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70000"/>
              </a:lnSpc>
            </a:pPr>
            <a:endParaRPr lang="it-IT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D4BA94E-D1CA-29B9-DE09-D1262291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2077906"/>
            <a:ext cx="4094226" cy="27021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A42005A-0730-4D8D-E6D1-103C0689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 sz="2600">
                <a:latin typeface="Arial" panose="020B0604020202020204" pitchFamily="34" charset="0"/>
                <a:cs typeface="Arial" panose="020B0604020202020204" pitchFamily="34" charset="0"/>
              </a:rPr>
              <a:t>Data-Driven Selection of the Number of Patient Clusters 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80D7594-F66E-FDFC-91DD-7350184975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</p:spPr>
            <p:txBody>
              <a:bodyPr anchor="t">
                <a:noAutofit/>
              </a:bodyPr>
              <a:lstStyle/>
              <a:p>
                <a:pPr lvl="0">
                  <a:lnSpc>
                    <a:spcPct val="170000"/>
                  </a:lnSpc>
                </a:pP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Cluster Number </a:t>
                </a: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Optimization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Rigorous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data-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driven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strategy to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select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optimal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number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patient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clusters (</a:t>
                </a:r>
                <a14:m>
                  <m:oMath xmlns:m="http://schemas.openxmlformats.org/officeDocument/2006/math">
                    <m:r>
                      <a:rPr lang="it-IT" sz="11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avoiding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arbitrary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assignments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Geometric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Inspection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(Elbow Method):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Within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-Cluster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Inertia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plot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guides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identification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structural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stability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points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clusters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increase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2 to 8.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Statistical </a:t>
                </a: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Validation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(Silhouette Analysis):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Confirms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it-IT" sz="11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1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maximizes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internal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cohesion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separation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, recording a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peak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score of 0.24</a:t>
                </a:r>
              </a:p>
              <a:p>
                <a:pPr lvl="0">
                  <a:lnSpc>
                    <a:spcPct val="170000"/>
                  </a:lnSpc>
                </a:pPr>
                <a:endParaRPr lang="it-IT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80D7594-F66E-FDFC-91DD-735018497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EDD6D802-561C-0445-17C7-535DC43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286" y="2610155"/>
            <a:ext cx="4094226" cy="163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7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/>
              <a:t>Unsupervised Clustering Strategy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</p:spPr>
            <p:txBody>
              <a:bodyPr anchor="t">
                <a:noAutofit/>
              </a:bodyPr>
              <a:lstStyle/>
              <a:p>
                <a:pPr lvl="0">
                  <a:lnSpc>
                    <a:spcPct val="170000"/>
                  </a:lnSpc>
                </a:pP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Blind </a:t>
                </a: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Methodology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(K-Means):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Partitions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latent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space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it-IT" sz="11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1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into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cohorts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based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solely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geometric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distances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without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diagnosis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labels.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Structural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Comparison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&amp; Ground Truth: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Maps target classes to show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overlapping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distributions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pathological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patients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within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coordinate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space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Contingency Matrix </a:t>
                </a:r>
                <a:r>
                  <a:rPr lang="it-IT" sz="11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Alignment</a:t>
                </a:r>
                <a:r>
                  <a:rPr lang="it-IT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 Cross-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references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true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target classes with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unsupervised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clusters (e.g., 124 in Cluster B for Class 1, 89 in Cluster A for Class 0) to illustrate </a:t>
                </a:r>
                <a:r>
                  <a:rPr lang="it-IT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structural</a:t>
                </a:r>
                <a:r>
                  <a:rPr lang="it-IT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agreement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785FA54A-9CFD-02B8-513F-76F35675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286" y="2671569"/>
            <a:ext cx="4094226" cy="15148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  <a:t>Hierarchical Dendrogram of Heart-Disease Patient Profiles</a:t>
            </a:r>
            <a:b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</p:spPr>
            <p:txBody>
              <a:bodyPr anchor="t">
                <a:normAutofit fontScale="47500" lnSpcReduction="20000"/>
              </a:bodyPr>
              <a:lstStyle/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Ward's</a:t>
                </a:r>
                <a:r>
                  <a:rPr lang="it-IT" b="1" dirty="0"/>
                  <a:t> Linkage </a:t>
                </a:r>
                <a:r>
                  <a:rPr lang="it-IT" b="1" dirty="0" err="1"/>
                  <a:t>Methodology</a:t>
                </a:r>
                <a:r>
                  <a:rPr lang="it-IT" b="1" dirty="0"/>
                  <a:t>:</a:t>
                </a:r>
                <a:r>
                  <a:rPr lang="it-IT" dirty="0"/>
                  <a:t> </a:t>
                </a:r>
                <a:r>
                  <a:rPr lang="it-IT" dirty="0" err="1"/>
                  <a:t>Aggregates</a:t>
                </a:r>
                <a:r>
                  <a:rPr lang="it-IT" dirty="0"/>
                  <a:t> clusters </a:t>
                </a:r>
                <a:r>
                  <a:rPr lang="it-IT" dirty="0" err="1"/>
                  <a:t>progressively</a:t>
                </a:r>
                <a:r>
                  <a:rPr lang="it-IT" dirty="0"/>
                  <a:t> to </a:t>
                </a:r>
                <a:r>
                  <a:rPr lang="it-IT" dirty="0" err="1"/>
                  <a:t>minimize</a:t>
                </a:r>
                <a:r>
                  <a:rPr lang="it-IT" dirty="0"/>
                  <a:t> the </a:t>
                </a:r>
                <a:r>
                  <a:rPr lang="it-IT" dirty="0" err="1"/>
                  <a:t>increase</a:t>
                </a:r>
                <a:r>
                  <a:rPr lang="it-IT" dirty="0"/>
                  <a:t> in </a:t>
                </a:r>
                <a:r>
                  <a:rPr lang="it-IT" dirty="0" err="1"/>
                  <a:t>internal</a:t>
                </a:r>
                <a:r>
                  <a:rPr lang="it-IT" dirty="0"/>
                  <a:t> </a:t>
                </a:r>
                <a:r>
                  <a:rPr lang="it-IT" dirty="0" err="1"/>
                  <a:t>variance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each</a:t>
                </a:r>
                <a:r>
                  <a:rPr lang="it-IT" dirty="0"/>
                  <a:t> </a:t>
                </a:r>
                <a:r>
                  <a:rPr lang="it-IT" dirty="0" err="1"/>
                  <a:t>merging</a:t>
                </a:r>
                <a:r>
                  <a:rPr lang="it-IT" dirty="0"/>
                  <a:t> step.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Cut</a:t>
                </a:r>
                <a:r>
                  <a:rPr lang="it-IT" b="1" dirty="0"/>
                  <a:t>-off </a:t>
                </a:r>
                <a:r>
                  <a:rPr lang="it-IT" b="1" dirty="0" err="1"/>
                  <a:t>Threshold</a:t>
                </a:r>
                <a:r>
                  <a:rPr lang="it-IT" b="1" dirty="0"/>
                  <a:t> Definition:</a:t>
                </a:r>
                <a:r>
                  <a:rPr lang="it-IT" dirty="0"/>
                  <a:t> </a:t>
                </a:r>
                <a:r>
                  <a:rPr lang="it-IT" dirty="0" err="1"/>
                  <a:t>Insertion</a:t>
                </a:r>
                <a:r>
                  <a:rPr lang="it-IT" dirty="0"/>
                  <a:t> of the </a:t>
                </a:r>
                <a:r>
                  <a:rPr lang="it-IT" dirty="0" err="1"/>
                  <a:t>orange</a:t>
                </a:r>
                <a:r>
                  <a:rPr lang="it-IT" dirty="0"/>
                  <a:t> </a:t>
                </a:r>
                <a:r>
                  <a:rPr lang="it-IT" dirty="0" err="1"/>
                  <a:t>dashed</a:t>
                </a:r>
                <a:r>
                  <a:rPr lang="it-IT" dirty="0"/>
                  <a:t> line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height</a:t>
                </a:r>
                <a:r>
                  <a:rPr lang="it-IT" dirty="0"/>
                  <a:t> 21.3 </a:t>
                </a:r>
                <a:r>
                  <a:rPr lang="it-IT" dirty="0" err="1"/>
                  <a:t>intercepts</a:t>
                </a:r>
                <a:r>
                  <a:rPr lang="it-IT" dirty="0"/>
                  <a:t> the </a:t>
                </a:r>
                <a:r>
                  <a:rPr lang="it-IT" dirty="0" err="1"/>
                  <a:t>two</a:t>
                </a:r>
                <a:r>
                  <a:rPr lang="it-IT" dirty="0"/>
                  <a:t> </a:t>
                </a:r>
                <a:r>
                  <a:rPr lang="it-IT" dirty="0" err="1"/>
                  <a:t>main</a:t>
                </a:r>
                <a:r>
                  <a:rPr lang="it-IT" dirty="0"/>
                  <a:t> </a:t>
                </a:r>
                <a:r>
                  <a:rPr lang="it-IT" dirty="0" err="1"/>
                  <a:t>branches</a:t>
                </a:r>
                <a:r>
                  <a:rPr lang="it-IT" dirty="0"/>
                  <a:t>, </a:t>
                </a:r>
                <a:r>
                  <a:rPr lang="it-IT" dirty="0" err="1"/>
                  <a:t>providing</a:t>
                </a:r>
                <a:r>
                  <a:rPr lang="it-IT" dirty="0"/>
                  <a:t> </a:t>
                </a:r>
                <a:r>
                  <a:rPr lang="it-IT" dirty="0" err="1"/>
                  <a:t>independent</a:t>
                </a:r>
                <a:r>
                  <a:rPr lang="it-IT" dirty="0"/>
                  <a:t> </a:t>
                </a:r>
                <a:r>
                  <a:rPr lang="it-IT" dirty="0" err="1"/>
                  <a:t>validation</a:t>
                </a:r>
                <a:r>
                  <a:rPr lang="it-IT" dirty="0"/>
                  <a:t> of </a:t>
                </a:r>
                <a:r>
                  <a:rPr lang="it-IT" dirty="0" err="1"/>
                  <a:t>population</a:t>
                </a:r>
                <a:r>
                  <a:rPr lang="it-IT" dirty="0"/>
                  <a:t> </a:t>
                </a:r>
                <a:r>
                  <a:rPr lang="it-IT" dirty="0" err="1"/>
                  <a:t>bipartition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dirty="0"/>
                  <a:t>).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Structure</a:t>
                </a:r>
                <a:r>
                  <a:rPr lang="it-IT" b="1" dirty="0"/>
                  <a:t> of Sub-</a:t>
                </a:r>
                <a:r>
                  <a:rPr lang="it-IT" b="1" dirty="0" err="1"/>
                  <a:t>Subpopulations</a:t>
                </a:r>
                <a:r>
                  <a:rPr lang="it-IT" b="1" dirty="0"/>
                  <a:t>:</a:t>
                </a:r>
                <a:endParaRPr lang="it-IT" dirty="0"/>
              </a:p>
              <a:p>
                <a:pPr lvl="1">
                  <a:lnSpc>
                    <a:spcPct val="170000"/>
                  </a:lnSpc>
                </a:pPr>
                <a:r>
                  <a:rPr lang="it-IT" i="1" dirty="0"/>
                  <a:t>Orange Macro-Branch (Left):</a:t>
                </a:r>
                <a:r>
                  <a:rPr lang="it-IT" dirty="0"/>
                  <a:t> </a:t>
                </a:r>
                <a:r>
                  <a:rPr lang="it-IT" dirty="0" err="1"/>
                  <a:t>Identifies</a:t>
                </a:r>
                <a:r>
                  <a:rPr lang="it-IT" dirty="0"/>
                  <a:t> the first </a:t>
                </a:r>
                <a:r>
                  <a:rPr lang="it-IT" dirty="0" err="1"/>
                  <a:t>main</a:t>
                </a:r>
                <a:r>
                  <a:rPr lang="it-IT" dirty="0"/>
                  <a:t> </a:t>
                </a:r>
                <a:r>
                  <a:rPr lang="it-IT" dirty="0" err="1"/>
                  <a:t>branch</a:t>
                </a:r>
                <a:r>
                  <a:rPr lang="it-IT" dirty="0"/>
                  <a:t> </a:t>
                </a:r>
                <a:r>
                  <a:rPr lang="it-IT" dirty="0" err="1"/>
                  <a:t>based</a:t>
                </a:r>
                <a:r>
                  <a:rPr lang="it-IT" dirty="0"/>
                  <a:t> on multivariate </a:t>
                </a:r>
                <a:r>
                  <a:rPr lang="it-IT" dirty="0" err="1"/>
                  <a:t>similarity</a:t>
                </a:r>
                <a:r>
                  <a:rPr lang="it-IT" dirty="0"/>
                  <a:t>.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it-IT" i="1" dirty="0"/>
                  <a:t>Green Macro-Branch (Right):</a:t>
                </a:r>
                <a:r>
                  <a:rPr lang="it-IT" dirty="0"/>
                  <a:t> </a:t>
                </a:r>
                <a:r>
                  <a:rPr lang="it-IT" dirty="0" err="1"/>
                  <a:t>Identifies</a:t>
                </a:r>
                <a:r>
                  <a:rPr lang="it-IT" dirty="0"/>
                  <a:t> the second </a:t>
                </a:r>
                <a:r>
                  <a:rPr lang="it-IT" dirty="0" err="1"/>
                  <a:t>main</a:t>
                </a:r>
                <a:r>
                  <a:rPr lang="it-IT" dirty="0"/>
                  <a:t> </a:t>
                </a:r>
                <a:r>
                  <a:rPr lang="it-IT" dirty="0" err="1"/>
                  <a:t>branch</a:t>
                </a:r>
                <a:r>
                  <a:rPr lang="it-IT" dirty="0"/>
                  <a:t> with </a:t>
                </a:r>
                <a:r>
                  <a:rPr lang="it-IT" dirty="0" err="1"/>
                  <a:t>further</a:t>
                </a:r>
                <a:r>
                  <a:rPr lang="it-IT" dirty="0"/>
                  <a:t> </a:t>
                </a:r>
                <a:r>
                  <a:rPr lang="it-IT" dirty="0" err="1"/>
                  <a:t>hierarchical</a:t>
                </a:r>
                <a:r>
                  <a:rPr lang="it-IT" dirty="0"/>
                  <a:t> </a:t>
                </a:r>
                <a:r>
                  <a:rPr lang="it-IT" dirty="0" err="1"/>
                  <a:t>stratification</a:t>
                </a:r>
                <a:r>
                  <a:rPr lang="it-IT" dirty="0"/>
                  <a:t> (sample sizes </a:t>
                </a:r>
                <a:r>
                  <a:rPr lang="it-IT" dirty="0" err="1"/>
                  <a:t>shown</a:t>
                </a:r>
                <a:r>
                  <a:rPr lang="it-IT" dirty="0"/>
                  <a:t> in </a:t>
                </a:r>
                <a:r>
                  <a:rPr lang="it-IT" dirty="0" err="1"/>
                  <a:t>parentheses</a:t>
                </a:r>
                <a:r>
                  <a:rPr lang="it-IT" dirty="0"/>
                  <a:t>)</a:t>
                </a:r>
              </a:p>
              <a:p>
                <a:pPr lvl="0">
                  <a:lnSpc>
                    <a:spcPct val="170000"/>
                  </a:lnSpc>
                </a:pPr>
                <a:endParaRPr lang="it-IT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C911E96F-6EF1-A14E-A9A4-A1B0B6F18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286" y="2415679"/>
            <a:ext cx="4094226" cy="2026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Comparative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452850"/>
            <a:ext cx="6711654" cy="491322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Clinical-Mathematical </a:t>
            </a:r>
            <a:r>
              <a:rPr lang="it-IT" b="1" dirty="0" err="1"/>
              <a:t>Alignment</a:t>
            </a:r>
            <a:r>
              <a:rPr lang="it-IT" b="1" dirty="0"/>
              <a:t>:</a:t>
            </a:r>
            <a:endParaRPr lang="it-IT" dirty="0"/>
          </a:p>
          <a:p>
            <a:pPr lvl="1">
              <a:lnSpc>
                <a:spcPct val="150000"/>
              </a:lnSpc>
            </a:pPr>
            <a:r>
              <a:rPr lang="it-IT" i="1" dirty="0"/>
              <a:t>"Blind" Clustering:</a:t>
            </a:r>
            <a:r>
              <a:rPr lang="it-IT" dirty="0"/>
              <a:t> K-Means </a:t>
            </a:r>
            <a:r>
              <a:rPr lang="it-IT" dirty="0" err="1"/>
              <a:t>segmented</a:t>
            </a:r>
            <a:r>
              <a:rPr lang="it-IT" dirty="0"/>
              <a:t> the </a:t>
            </a:r>
            <a:r>
              <a:rPr lang="it-IT" dirty="0" err="1"/>
              <a:t>cohort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exclusively</a:t>
            </a:r>
            <a:r>
              <a:rPr lang="it-IT" dirty="0"/>
              <a:t> on </a:t>
            </a:r>
            <a:r>
              <a:rPr lang="it-IT" dirty="0" err="1"/>
              <a:t>latent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distances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conditioning</a:t>
            </a:r>
            <a:r>
              <a:rPr lang="it-IT" dirty="0"/>
              <a:t> labels.</a:t>
            </a:r>
          </a:p>
          <a:p>
            <a:pPr lvl="1">
              <a:lnSpc>
                <a:spcPct val="150000"/>
              </a:lnSpc>
            </a:pPr>
            <a:r>
              <a:rPr lang="it-IT" i="1" dirty="0" err="1"/>
              <a:t>Phenotype</a:t>
            </a:r>
            <a:r>
              <a:rPr lang="it-IT" i="1" dirty="0"/>
              <a:t> </a:t>
            </a:r>
            <a:r>
              <a:rPr lang="it-IT" i="1" dirty="0" err="1"/>
              <a:t>Reconstruction</a:t>
            </a:r>
            <a:r>
              <a:rPr lang="it-IT" i="1" dirty="0"/>
              <a:t>:</a:t>
            </a:r>
            <a:r>
              <a:rPr lang="it-IT" dirty="0"/>
              <a:t> Clusters </a:t>
            </a:r>
            <a:r>
              <a:rPr lang="it-IT" dirty="0" err="1"/>
              <a:t>spontaneously</a:t>
            </a:r>
            <a:r>
              <a:rPr lang="it-IT" dirty="0"/>
              <a:t> </a:t>
            </a:r>
            <a:r>
              <a:rPr lang="it-IT" dirty="0" err="1"/>
              <a:t>capture</a:t>
            </a:r>
            <a:r>
              <a:rPr lang="it-IT" dirty="0"/>
              <a:t> the </a:t>
            </a:r>
            <a:r>
              <a:rPr lang="it-IT" dirty="0" err="1"/>
              <a:t>true</a:t>
            </a:r>
            <a:r>
              <a:rPr lang="it-IT" dirty="0"/>
              <a:t> </a:t>
            </a:r>
            <a:r>
              <a:rPr lang="it-IT" dirty="0" err="1"/>
              <a:t>biological</a:t>
            </a:r>
            <a:r>
              <a:rPr lang="it-IT" dirty="0"/>
              <a:t> </a:t>
            </a:r>
            <a:r>
              <a:rPr lang="it-IT" dirty="0" err="1"/>
              <a:t>separation</a:t>
            </a:r>
            <a:r>
              <a:rPr lang="it-IT" dirty="0"/>
              <a:t> of the dataset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Interpretation</a:t>
            </a:r>
            <a:r>
              <a:rPr lang="it-IT" b="1" dirty="0"/>
              <a:t> of </a:t>
            </a:r>
            <a:r>
              <a:rPr lang="it-IT" b="1" dirty="0" err="1"/>
              <a:t>Extracted</a:t>
            </a:r>
            <a:r>
              <a:rPr lang="it-IT" b="1" dirty="0"/>
              <a:t> </a:t>
            </a:r>
            <a:r>
              <a:rPr lang="it-IT" b="1" dirty="0" err="1"/>
              <a:t>Cohorts</a:t>
            </a:r>
            <a:r>
              <a:rPr lang="it-IT" b="1" dirty="0"/>
              <a:t>:</a:t>
            </a:r>
            <a:endParaRPr lang="it-IT" dirty="0"/>
          </a:p>
          <a:p>
            <a:pPr lvl="1">
              <a:lnSpc>
                <a:spcPct val="150000"/>
              </a:lnSpc>
            </a:pPr>
            <a:r>
              <a:rPr lang="it-IT" i="1" dirty="0"/>
              <a:t>Cluster A </a:t>
            </a:r>
            <a:r>
              <a:rPr lang="it-IT" i="1" dirty="0" err="1"/>
              <a:t>Profile</a:t>
            </a:r>
            <a:r>
              <a:rPr lang="it-IT" i="1" dirty="0"/>
              <a:t>:</a:t>
            </a:r>
            <a:r>
              <a:rPr lang="it-IT" dirty="0"/>
              <a:t> </a:t>
            </a:r>
            <a:r>
              <a:rPr lang="it-IT" dirty="0" err="1"/>
              <a:t>Captures</a:t>
            </a:r>
            <a:r>
              <a:rPr lang="it-IT" dirty="0"/>
              <a:t> </a:t>
            </a:r>
            <a:r>
              <a:rPr lang="it-IT" dirty="0" err="1"/>
              <a:t>physiological</a:t>
            </a:r>
            <a:r>
              <a:rPr lang="it-IT" dirty="0"/>
              <a:t> </a:t>
            </a:r>
            <a:r>
              <a:rPr lang="it-IT" dirty="0" err="1"/>
              <a:t>phenotypes</a:t>
            </a:r>
            <a:r>
              <a:rPr lang="it-IT" dirty="0"/>
              <a:t> with </a:t>
            </a:r>
            <a:r>
              <a:rPr lang="it-IT" dirty="0" err="1"/>
              <a:t>favorable</a:t>
            </a:r>
            <a:r>
              <a:rPr lang="it-IT" dirty="0"/>
              <a:t> </a:t>
            </a:r>
            <a:r>
              <a:rPr lang="it-IT" dirty="0" err="1"/>
              <a:t>hemodynamic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 under stress.</a:t>
            </a:r>
          </a:p>
          <a:p>
            <a:pPr lvl="1">
              <a:lnSpc>
                <a:spcPct val="150000"/>
              </a:lnSpc>
            </a:pPr>
            <a:r>
              <a:rPr lang="it-IT" i="1" dirty="0"/>
              <a:t>Cluster B </a:t>
            </a:r>
            <a:r>
              <a:rPr lang="it-IT" i="1" dirty="0" err="1"/>
              <a:t>Profile</a:t>
            </a:r>
            <a:r>
              <a:rPr lang="it-IT" i="1" dirty="0"/>
              <a:t>:</a:t>
            </a:r>
            <a:r>
              <a:rPr lang="it-IT" dirty="0"/>
              <a:t> </a:t>
            </a:r>
            <a:r>
              <a:rPr lang="it-IT" dirty="0" err="1"/>
              <a:t>Isolates</a:t>
            </a:r>
            <a:r>
              <a:rPr lang="it-IT" dirty="0"/>
              <a:t> high-risk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 sensitive to markers of </a:t>
            </a:r>
            <a:r>
              <a:rPr lang="it-IT" dirty="0" err="1"/>
              <a:t>myocardial</a:t>
            </a:r>
            <a:r>
              <a:rPr lang="it-IT" dirty="0"/>
              <a:t> distress (</a:t>
            </a:r>
            <a:r>
              <a:rPr lang="it-IT" dirty="0" err="1"/>
              <a:t>oldpeak</a:t>
            </a:r>
            <a:r>
              <a:rPr lang="it-IT" dirty="0"/>
              <a:t>).</a:t>
            </a:r>
          </a:p>
          <a:p>
            <a:pPr marL="0" indent="0">
              <a:lnSpc>
                <a:spcPct val="150000"/>
              </a:lnSpc>
              <a:buNone/>
            </a:pPr>
            <a:endParaRPr lang="it-IT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E170BEC-7769-5C6F-7252-714A4FA2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pPr algn="ctr"/>
            <a: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  <a:t>Distribution of Top Feature Drivers across K-Means Clusters</a:t>
            </a:r>
            <a:b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C53B10B-5038-04D6-9DFE-2749522EC1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6138" y="886382"/>
                <a:ext cx="7631722" cy="1851689"/>
              </a:xfrm>
            </p:spPr>
            <p:txBody>
              <a:bodyPr anchor="ctr">
                <a:normAutofit fontScale="62500" lnSpcReduction="20000"/>
              </a:bodyPr>
              <a:lstStyle/>
              <a:p>
                <a:pPr lvl="0">
                  <a:lnSpc>
                    <a:spcPct val="160000"/>
                  </a:lnSpc>
                </a:pPr>
                <a:r>
                  <a:rPr lang="it-IT" b="1" dirty="0" err="1"/>
                  <a:t>Supervised</a:t>
                </a:r>
                <a:r>
                  <a:rPr lang="it-IT" b="1" dirty="0"/>
                  <a:t> Feature </a:t>
                </a:r>
                <a:r>
                  <a:rPr lang="it-IT" b="1" dirty="0" err="1"/>
                  <a:t>Attribution</a:t>
                </a:r>
                <a:r>
                  <a:rPr lang="it-IT" b="1" dirty="0"/>
                  <a:t>:</a:t>
                </a:r>
                <a:r>
                  <a:rPr lang="it-IT" dirty="0"/>
                  <a:t> </a:t>
                </a:r>
                <a:r>
                  <a:rPr lang="it-IT" dirty="0" err="1"/>
                  <a:t>Auxiliary</a:t>
                </a:r>
                <a:r>
                  <a:rPr lang="it-IT" dirty="0"/>
                  <a:t> Random Forest model (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dirty="0"/>
                  <a:t>) </a:t>
                </a:r>
                <a:r>
                  <a:rPr lang="it-IT" dirty="0" err="1"/>
                  <a:t>evaluating</a:t>
                </a:r>
                <a:r>
                  <a:rPr lang="it-IT" dirty="0"/>
                  <a:t> feature </a:t>
                </a:r>
                <a:r>
                  <a:rPr lang="it-IT" dirty="0" err="1"/>
                  <a:t>discrimination</a:t>
                </a:r>
                <a:r>
                  <a:rPr lang="it-IT" dirty="0"/>
                  <a:t> via Mean </a:t>
                </a:r>
                <a:r>
                  <a:rPr lang="it-IT" dirty="0" err="1"/>
                  <a:t>Decrease</a:t>
                </a:r>
                <a:r>
                  <a:rPr lang="it-IT" dirty="0"/>
                  <a:t> in Gini.</a:t>
                </a:r>
              </a:p>
              <a:p>
                <a:pPr lvl="0">
                  <a:lnSpc>
                    <a:spcPct val="160000"/>
                  </a:lnSpc>
                </a:pPr>
                <a:r>
                  <a:rPr lang="it-IT" b="1" dirty="0"/>
                  <a:t>Dominant Drivers:</a:t>
                </a:r>
                <a:r>
                  <a:rPr lang="it-IT" dirty="0"/>
                  <a:t> </a:t>
                </a:r>
                <a:r>
                  <a:rPr lang="it-IT" b="1" dirty="0"/>
                  <a:t>age</a:t>
                </a:r>
                <a:r>
                  <a:rPr lang="it-IT" dirty="0"/>
                  <a:t> and </a:t>
                </a:r>
                <a:r>
                  <a:rPr lang="it-IT" b="1" dirty="0" err="1"/>
                  <a:t>thalach</a:t>
                </a:r>
                <a:r>
                  <a:rPr lang="it-IT" dirty="0"/>
                  <a:t> act </a:t>
                </a:r>
                <a:r>
                  <a:rPr lang="it-IT" dirty="0" err="1"/>
                  <a:t>as</a:t>
                </a:r>
                <a:r>
                  <a:rPr lang="it-IT" dirty="0"/>
                  <a:t> </a:t>
                </a:r>
                <a:r>
                  <a:rPr lang="it-IT" dirty="0" err="1"/>
                  <a:t>primary</a:t>
                </a:r>
                <a:r>
                  <a:rPr lang="it-IT" dirty="0"/>
                  <a:t> </a:t>
                </a:r>
                <a:r>
                  <a:rPr lang="it-IT" dirty="0" err="1"/>
                  <a:t>structural</a:t>
                </a:r>
                <a:r>
                  <a:rPr lang="it-IT" dirty="0"/>
                  <a:t> splitters with </a:t>
                </a:r>
                <a:r>
                  <a:rPr lang="it-IT" dirty="0" err="1"/>
                  <a:t>highest</a:t>
                </a:r>
                <a:r>
                  <a:rPr lang="it-IT" dirty="0"/>
                  <a:t> Gini </a:t>
                </a:r>
                <a:r>
                  <a:rPr lang="it-IT" dirty="0" err="1"/>
                  <a:t>importance</a:t>
                </a:r>
                <a:r>
                  <a:rPr lang="it-IT" dirty="0"/>
                  <a:t>.</a:t>
                </a:r>
              </a:p>
              <a:p>
                <a:pPr lvl="0">
                  <a:lnSpc>
                    <a:spcPct val="160000"/>
                  </a:lnSpc>
                </a:pPr>
                <a:r>
                  <a:rPr lang="it-IT" b="1" dirty="0" err="1"/>
                  <a:t>Standardized</a:t>
                </a:r>
                <a:r>
                  <a:rPr lang="it-IT" b="1" dirty="0"/>
                  <a:t> </a:t>
                </a:r>
                <a:r>
                  <a:rPr lang="it-IT" b="1" dirty="0" err="1"/>
                  <a:t>Profiles</a:t>
                </a:r>
                <a:r>
                  <a:rPr lang="it-IT" b="1" dirty="0"/>
                  <a:t>:</a:t>
                </a:r>
                <a:r>
                  <a:rPr lang="it-IT" dirty="0"/>
                  <a:t> </a:t>
                </a:r>
                <a:r>
                  <a:rPr lang="it-IT" dirty="0" err="1"/>
                  <a:t>Z</a:t>
                </a:r>
                <a:r>
                  <a:rPr lang="it-IT" dirty="0"/>
                  <a:t>-score </a:t>
                </a:r>
                <a:r>
                  <a:rPr lang="it-IT" dirty="0" err="1"/>
                  <a:t>boxplots</a:t>
                </a:r>
                <a:r>
                  <a:rPr lang="it-IT" dirty="0"/>
                  <a:t> </a:t>
                </a:r>
                <a:r>
                  <a:rPr lang="it-IT" dirty="0" err="1"/>
                  <a:t>map</a:t>
                </a:r>
                <a:r>
                  <a:rPr lang="it-IT" dirty="0"/>
                  <a:t> </a:t>
                </a:r>
                <a:r>
                  <a:rPr lang="it-IT" dirty="0" err="1"/>
                  <a:t>distinct</a:t>
                </a:r>
                <a:r>
                  <a:rPr lang="it-IT" dirty="0"/>
                  <a:t> clinical </a:t>
                </a:r>
                <a:r>
                  <a:rPr lang="it-IT" dirty="0" err="1"/>
                  <a:t>distributions</a:t>
                </a:r>
                <a:r>
                  <a:rPr lang="it-IT" dirty="0"/>
                  <a:t> </a:t>
                </a:r>
                <a:r>
                  <a:rPr lang="it-IT" dirty="0" err="1"/>
                  <a:t>across</a:t>
                </a:r>
                <a:r>
                  <a:rPr lang="it-IT" dirty="0"/>
                  <a:t> Cluster A and Cluster B</a:t>
                </a:r>
              </a:p>
              <a:p>
                <a:pPr lvl="0" algn="ctr">
                  <a:lnSpc>
                    <a:spcPct val="160000"/>
                  </a:lnSpc>
                </a:pPr>
                <a:endParaRPr lang="it-IT" sz="4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C53B10B-5038-04D6-9DFE-2749522EC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6138" y="886382"/>
                <a:ext cx="7631722" cy="18516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4F15F2BD-07AE-5B31-44D3-30496822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5" y="2738072"/>
            <a:ext cx="7886696" cy="32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7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5BDD54E-5914-3332-E907-6BFE93B2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366" y="552906"/>
            <a:ext cx="3874452" cy="1674904"/>
          </a:xfrm>
        </p:spPr>
        <p:txBody>
          <a:bodyPr anchor="ctr">
            <a:normAutofit/>
          </a:bodyPr>
          <a:lstStyle/>
          <a:p>
            <a:r>
              <a:rPr lang="it-IT" sz="3500">
                <a:latin typeface="Arial" panose="020B0604020202020204" pitchFamily="34" charset="0"/>
                <a:cs typeface="Arial" panose="020B0604020202020204" pitchFamily="34" charset="0"/>
              </a:rPr>
              <a:t>Statistical Biomarker Discrimination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FDBE72-AEFA-F09A-DFC5-FF0F86DB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623" y="576056"/>
            <a:ext cx="4774427" cy="2190294"/>
          </a:xfrm>
        </p:spPr>
        <p:txBody>
          <a:bodyPr anchor="ctr">
            <a:normAutofit fontScale="47500" lnSpcReduction="20000"/>
          </a:bodyPr>
          <a:lstStyle/>
          <a:p>
            <a:pPr lvl="0">
              <a:lnSpc>
                <a:spcPct val="170000"/>
              </a:lnSpc>
            </a:pPr>
            <a:r>
              <a:rPr lang="it-IT" b="1" dirty="0"/>
              <a:t>Biomarker </a:t>
            </a:r>
            <a:r>
              <a:rPr lang="it-IT" b="1" dirty="0" err="1"/>
              <a:t>Stratification</a:t>
            </a:r>
            <a:r>
              <a:rPr lang="it-IT" b="1" dirty="0"/>
              <a:t> (Violin Plots):</a:t>
            </a:r>
            <a:r>
              <a:rPr lang="it-IT" dirty="0"/>
              <a:t> </a:t>
            </a:r>
            <a:r>
              <a:rPr lang="it-IT" dirty="0" err="1"/>
              <a:t>Density</a:t>
            </a:r>
            <a:r>
              <a:rPr lang="it-IT" dirty="0"/>
              <a:t> </a:t>
            </a:r>
            <a:r>
              <a:rPr lang="it-IT" dirty="0" err="1"/>
              <a:t>variations</a:t>
            </a:r>
            <a:r>
              <a:rPr lang="it-IT" dirty="0"/>
              <a:t> </a:t>
            </a:r>
            <a:r>
              <a:rPr lang="it-IT" dirty="0" err="1"/>
              <a:t>map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metrics</a:t>
            </a:r>
            <a:r>
              <a:rPr lang="it-IT" dirty="0"/>
              <a:t> </a:t>
            </a:r>
            <a:r>
              <a:rPr lang="it-IT" dirty="0" err="1"/>
              <a:t>differentiate</a:t>
            </a:r>
            <a:r>
              <a:rPr lang="it-IT" dirty="0"/>
              <a:t> </a:t>
            </a:r>
            <a:r>
              <a:rPr lang="it-IT" dirty="0" err="1"/>
              <a:t>patient</a:t>
            </a:r>
            <a:r>
              <a:rPr lang="it-IT" dirty="0"/>
              <a:t> groups </a:t>
            </a:r>
            <a:r>
              <a:rPr lang="it-IT" dirty="0" err="1"/>
              <a:t>across</a:t>
            </a:r>
            <a:r>
              <a:rPr lang="it-IT" dirty="0"/>
              <a:t> target classes.</a:t>
            </a:r>
          </a:p>
          <a:p>
            <a:pPr lvl="0">
              <a:lnSpc>
                <a:spcPct val="170000"/>
              </a:lnSpc>
            </a:pPr>
            <a:r>
              <a:rPr lang="it-IT" b="1" dirty="0" err="1"/>
              <a:t>Hemodynamic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exhibit</a:t>
            </a:r>
            <a:r>
              <a:rPr lang="it-IT" dirty="0"/>
              <a:t> a </a:t>
            </a:r>
            <a:r>
              <a:rPr lang="it-IT" dirty="0" err="1"/>
              <a:t>wider</a:t>
            </a:r>
            <a:r>
              <a:rPr lang="it-IT" dirty="0"/>
              <a:t> </a:t>
            </a:r>
            <a:r>
              <a:rPr lang="it-IT" dirty="0" err="1"/>
              <a:t>thalach</a:t>
            </a:r>
            <a:r>
              <a:rPr lang="it-IT" dirty="0"/>
              <a:t> spread and </a:t>
            </a:r>
            <a:r>
              <a:rPr lang="it-IT" dirty="0" err="1"/>
              <a:t>pronounced</a:t>
            </a:r>
            <a:r>
              <a:rPr lang="it-IT" dirty="0"/>
              <a:t> </a:t>
            </a:r>
            <a:r>
              <a:rPr lang="it-IT" dirty="0" err="1"/>
              <a:t>oldpeak</a:t>
            </a:r>
            <a:r>
              <a:rPr lang="it-IT" dirty="0"/>
              <a:t> ST-</a:t>
            </a:r>
            <a:r>
              <a:rPr lang="it-IT" dirty="0" err="1"/>
              <a:t>depression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primary</a:t>
            </a:r>
            <a:r>
              <a:rPr lang="it-IT" dirty="0"/>
              <a:t> risk </a:t>
            </a:r>
            <a:r>
              <a:rPr lang="it-IT" dirty="0" err="1"/>
              <a:t>indicator</a:t>
            </a:r>
            <a:r>
              <a:rPr lang="it-IT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b="1" dirty="0" err="1"/>
              <a:t>Demographic</a:t>
            </a:r>
            <a:r>
              <a:rPr lang="it-IT" b="1" dirty="0"/>
              <a:t> </a:t>
            </a:r>
            <a:r>
              <a:rPr lang="it-IT" b="1" dirty="0" err="1"/>
              <a:t>Profile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cohorts</a:t>
            </a:r>
            <a:r>
              <a:rPr lang="it-IT" dirty="0"/>
              <a:t> concentrate more </a:t>
            </a:r>
            <a:r>
              <a:rPr lang="it-IT" dirty="0" err="1"/>
              <a:t>heavily</a:t>
            </a:r>
            <a:r>
              <a:rPr lang="it-IT" dirty="0"/>
              <a:t> in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older</a:t>
            </a:r>
            <a:r>
              <a:rPr lang="it-IT" dirty="0"/>
              <a:t> age </a:t>
            </a:r>
            <a:r>
              <a:rPr lang="it-IT" dirty="0" err="1"/>
              <a:t>brackets</a:t>
            </a:r>
            <a:endParaRPr lang="it-IT" dirty="0"/>
          </a:p>
          <a:p>
            <a:pPr lvl="0">
              <a:lnSpc>
                <a:spcPct val="170000"/>
              </a:lnSpc>
            </a:pPr>
            <a:endParaRPr lang="it-IT" sz="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5BE5D05-BFCD-DEE2-B8EA-12DEBAB6A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74" y="2994395"/>
            <a:ext cx="7886677" cy="272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68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pPr algn="ctr"/>
            <a:r>
              <a:rPr lang="it-IT" sz="3500"/>
              <a:t>Multi-View Medical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138" y="997527"/>
            <a:ext cx="7631722" cy="1613016"/>
          </a:xfrm>
        </p:spPr>
        <p:txBody>
          <a:bodyPr anchor="ctr">
            <a:normAutofit fontScale="62500" lnSpcReduction="20000"/>
          </a:bodyPr>
          <a:lstStyle/>
          <a:p>
            <a:pPr lvl="0">
              <a:lnSpc>
                <a:spcPct val="160000"/>
              </a:lnSpc>
            </a:pPr>
            <a:r>
              <a:rPr lang="it-IT" b="1" dirty="0"/>
              <a:t>Independent View </a:t>
            </a:r>
            <a:r>
              <a:rPr lang="it-IT" b="1" dirty="0" err="1"/>
              <a:t>Decomposition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Separates</a:t>
            </a:r>
            <a:r>
              <a:rPr lang="it-IT" dirty="0"/>
              <a:t> View 1 (Clinical/</a:t>
            </a:r>
            <a:r>
              <a:rPr lang="it-IT" dirty="0" err="1"/>
              <a:t>Demographic</a:t>
            </a:r>
            <a:r>
              <a:rPr lang="it-IT" dirty="0"/>
              <a:t>: age, </a:t>
            </a:r>
            <a:r>
              <a:rPr lang="it-IT" dirty="0" err="1"/>
              <a:t>trestbps</a:t>
            </a:r>
            <a:r>
              <a:rPr lang="it-IT" dirty="0"/>
              <a:t>, </a:t>
            </a:r>
            <a:r>
              <a:rPr lang="it-IT" dirty="0" err="1"/>
              <a:t>chol</a:t>
            </a:r>
            <a:r>
              <a:rPr lang="it-IT" dirty="0"/>
              <a:t>) from View 2 (</a:t>
            </a:r>
            <a:r>
              <a:rPr lang="it-IT" dirty="0" err="1"/>
              <a:t>Diagnostic</a:t>
            </a:r>
            <a:r>
              <a:rPr lang="it-IT" dirty="0"/>
              <a:t>/Stress Test: </a:t>
            </a:r>
            <a:r>
              <a:rPr lang="it-IT" dirty="0" err="1"/>
              <a:t>thalach</a:t>
            </a:r>
            <a:r>
              <a:rPr lang="it-IT" dirty="0"/>
              <a:t>, </a:t>
            </a:r>
            <a:r>
              <a:rPr lang="it-IT" dirty="0" err="1"/>
              <a:t>oldpeak</a:t>
            </a:r>
            <a:r>
              <a:rPr lang="it-IT" dirty="0"/>
              <a:t>) to </a:t>
            </a:r>
            <a:r>
              <a:rPr lang="it-IT" dirty="0" err="1"/>
              <a:t>prevent</a:t>
            </a:r>
            <a:r>
              <a:rPr lang="it-IT" dirty="0"/>
              <a:t> cross-source </a:t>
            </a:r>
            <a:r>
              <a:rPr lang="it-IT" dirty="0" err="1"/>
              <a:t>noise</a:t>
            </a:r>
            <a:r>
              <a:rPr lang="it-IT" dirty="0"/>
              <a:t>.</a:t>
            </a:r>
          </a:p>
          <a:p>
            <a:pPr lvl="0">
              <a:lnSpc>
                <a:spcPct val="160000"/>
              </a:lnSpc>
            </a:pPr>
            <a:r>
              <a:rPr lang="it-IT" b="1" dirty="0"/>
              <a:t>Late Data Fusion Pipeline:</a:t>
            </a:r>
            <a:r>
              <a:rPr lang="it-IT" dirty="0"/>
              <a:t> Independent PCA </a:t>
            </a:r>
            <a:r>
              <a:rPr lang="it-IT" dirty="0" err="1"/>
              <a:t>maximizes</a:t>
            </a:r>
            <a:r>
              <a:rPr lang="it-IT" dirty="0"/>
              <a:t> </a:t>
            </a:r>
            <a:r>
              <a:rPr lang="it-IT" dirty="0" err="1"/>
              <a:t>local</a:t>
            </a:r>
            <a:r>
              <a:rPr lang="it-IT" dirty="0"/>
              <a:t> </a:t>
            </a:r>
            <a:r>
              <a:rPr lang="it-IT" dirty="0" err="1"/>
              <a:t>variance</a:t>
            </a:r>
            <a:r>
              <a:rPr lang="it-IT" dirty="0"/>
              <a:t> per </a:t>
            </a:r>
            <a:r>
              <a:rPr lang="it-IT" dirty="0" err="1"/>
              <a:t>view</a:t>
            </a:r>
            <a:r>
              <a:rPr lang="it-IT" dirty="0"/>
              <a:t>; a </a:t>
            </a:r>
            <a:r>
              <a:rPr lang="it-IT" dirty="0" err="1"/>
              <a:t>shared</a:t>
            </a:r>
            <a:r>
              <a:rPr lang="it-IT" dirty="0"/>
              <a:t> 2D fusion </a:t>
            </a:r>
            <a:r>
              <a:rPr lang="it-IT" dirty="0" err="1"/>
              <a:t>plane</a:t>
            </a:r>
            <a:r>
              <a:rPr lang="it-IT" dirty="0"/>
              <a:t> highlights </a:t>
            </a:r>
            <a:r>
              <a:rPr lang="it-IT" dirty="0" err="1"/>
              <a:t>cohort</a:t>
            </a:r>
            <a:r>
              <a:rPr lang="it-IT" dirty="0"/>
              <a:t> </a:t>
            </a:r>
            <a:r>
              <a:rPr lang="it-IT" dirty="0" err="1"/>
              <a:t>separation</a:t>
            </a:r>
            <a:r>
              <a:rPr lang="it-IT" dirty="0"/>
              <a:t>; </a:t>
            </a:r>
            <a:r>
              <a:rPr lang="it-IT" dirty="0" err="1"/>
              <a:t>purified</a:t>
            </a:r>
            <a:r>
              <a:rPr lang="it-IT" dirty="0"/>
              <a:t> multi-</a:t>
            </a:r>
            <a:r>
              <a:rPr lang="it-IT" dirty="0" err="1"/>
              <a:t>view</a:t>
            </a:r>
            <a:r>
              <a:rPr lang="it-IT" dirty="0"/>
              <a:t> </a:t>
            </a:r>
            <a:r>
              <a:rPr lang="it-IT" dirty="0" err="1"/>
              <a:t>representations</a:t>
            </a:r>
            <a:r>
              <a:rPr lang="it-IT" dirty="0"/>
              <a:t> feed </a:t>
            </a:r>
            <a:r>
              <a:rPr lang="it-IT" dirty="0" err="1"/>
              <a:t>robust</a:t>
            </a:r>
            <a:r>
              <a:rPr lang="it-IT" dirty="0"/>
              <a:t> downstream </a:t>
            </a:r>
            <a:r>
              <a:rPr lang="it-IT" dirty="0" err="1"/>
              <a:t>classifiers</a:t>
            </a:r>
            <a:endParaRPr lang="it-IT" dirty="0"/>
          </a:p>
          <a:p>
            <a:pPr lvl="0" algn="ctr">
              <a:lnSpc>
                <a:spcPct val="160000"/>
              </a:lnSpc>
            </a:pPr>
            <a:endParaRPr lang="it-IT" sz="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1794B6D-D141-7132-F5D3-C63C402F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14" y="2784575"/>
            <a:ext cx="5234086" cy="38993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Patient Distance Heatmap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 fontScale="47500" lnSpcReduction="20000"/>
          </a:bodyPr>
          <a:lstStyle/>
          <a:p>
            <a:pPr lvl="0">
              <a:lnSpc>
                <a:spcPct val="170000"/>
              </a:lnSpc>
            </a:pPr>
            <a:r>
              <a:rPr lang="it-IT" b="1" dirty="0" err="1"/>
              <a:t>Spatial</a:t>
            </a:r>
            <a:r>
              <a:rPr lang="it-IT" b="1" dirty="0"/>
              <a:t> </a:t>
            </a:r>
            <a:r>
              <a:rPr lang="it-IT" b="1" dirty="0" err="1"/>
              <a:t>Similarity</a:t>
            </a:r>
            <a:r>
              <a:rPr lang="it-IT" b="1" dirty="0"/>
              <a:t> Mapping:</a:t>
            </a:r>
            <a:r>
              <a:rPr lang="it-IT" dirty="0"/>
              <a:t> </a:t>
            </a:r>
            <a:r>
              <a:rPr lang="it-IT" dirty="0" err="1"/>
              <a:t>Euclidean</a:t>
            </a:r>
            <a:r>
              <a:rPr lang="it-IT" dirty="0"/>
              <a:t> </a:t>
            </a:r>
            <a:r>
              <a:rPr lang="it-IT" dirty="0" err="1"/>
              <a:t>distances</a:t>
            </a:r>
            <a:r>
              <a:rPr lang="it-IT" dirty="0"/>
              <a:t> </a:t>
            </a:r>
            <a:r>
              <a:rPr lang="it-IT" dirty="0" err="1"/>
              <a:t>quantify</a:t>
            </a:r>
            <a:r>
              <a:rPr lang="it-IT" dirty="0"/>
              <a:t>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similarity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the </a:t>
            </a:r>
            <a:r>
              <a:rPr lang="it-IT" i="1" dirty="0"/>
              <a:t>Clinical-</a:t>
            </a:r>
            <a:r>
              <a:rPr lang="it-IT" i="1" dirty="0" err="1"/>
              <a:t>Demographic</a:t>
            </a:r>
            <a:r>
              <a:rPr lang="it-IT" i="1" dirty="0"/>
              <a:t> View</a:t>
            </a:r>
            <a:r>
              <a:rPr lang="it-IT" dirty="0"/>
              <a:t>; light/dark blue </a:t>
            </a:r>
            <a:r>
              <a:rPr lang="it-IT" dirty="0" err="1"/>
              <a:t>tones</a:t>
            </a:r>
            <a:r>
              <a:rPr lang="it-IT" dirty="0"/>
              <a:t> </a:t>
            </a:r>
            <a:r>
              <a:rPr lang="it-IT" dirty="0" err="1"/>
              <a:t>denote</a:t>
            </a:r>
            <a:r>
              <a:rPr lang="it-IT" dirty="0"/>
              <a:t> </a:t>
            </a:r>
            <a:r>
              <a:rPr lang="it-IT" dirty="0" err="1"/>
              <a:t>profile</a:t>
            </a:r>
            <a:r>
              <a:rPr lang="it-IT" dirty="0"/>
              <a:t> </a:t>
            </a:r>
            <a:r>
              <a:rPr lang="it-IT" dirty="0" err="1"/>
              <a:t>similarity</a:t>
            </a:r>
            <a:r>
              <a:rPr lang="it-IT" dirty="0"/>
              <a:t>/</a:t>
            </a:r>
            <a:r>
              <a:rPr lang="it-IT" dirty="0" err="1"/>
              <a:t>dissimilarity</a:t>
            </a:r>
            <a:r>
              <a:rPr lang="it-IT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b="1" dirty="0"/>
              <a:t>Block </a:t>
            </a:r>
            <a:r>
              <a:rPr lang="it-IT" b="1" dirty="0" err="1"/>
              <a:t>Structures</a:t>
            </a:r>
            <a:r>
              <a:rPr lang="it-IT" b="1" dirty="0"/>
              <a:t> &amp; </a:t>
            </a:r>
            <a:r>
              <a:rPr lang="it-IT" b="1" dirty="0" err="1"/>
              <a:t>Anomalies</a:t>
            </a:r>
            <a:r>
              <a:rPr lang="it-IT" b="1" dirty="0"/>
              <a:t>:</a:t>
            </a:r>
            <a:r>
              <a:rPr lang="it-IT" dirty="0"/>
              <a:t> Ward </a:t>
            </a:r>
            <a:r>
              <a:rPr lang="it-IT" dirty="0" err="1"/>
              <a:t>hierarchical</a:t>
            </a:r>
            <a:r>
              <a:rPr lang="it-IT" dirty="0"/>
              <a:t> clustering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diagonal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of comparable </a:t>
            </a:r>
            <a:r>
              <a:rPr lang="it-IT" dirty="0" err="1"/>
              <a:t>patient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; side color </a:t>
            </a:r>
            <a:r>
              <a:rPr lang="it-IT" dirty="0" err="1"/>
              <a:t>bars</a:t>
            </a:r>
            <a:r>
              <a:rPr lang="it-IT" dirty="0"/>
              <a:t> </a:t>
            </a:r>
            <a:r>
              <a:rPr lang="it-IT" dirty="0" err="1"/>
              <a:t>verify</a:t>
            </a:r>
            <a:r>
              <a:rPr lang="it-IT" dirty="0"/>
              <a:t> </a:t>
            </a:r>
            <a:r>
              <a:rPr lang="it-IT" dirty="0" err="1"/>
              <a:t>alignment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clinical </a:t>
            </a:r>
            <a:r>
              <a:rPr lang="it-IT" dirty="0" err="1"/>
              <a:t>similarities</a:t>
            </a:r>
            <a:r>
              <a:rPr lang="it-IT" dirty="0"/>
              <a:t> and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disease</a:t>
            </a:r>
            <a:r>
              <a:rPr lang="it-IT" dirty="0"/>
              <a:t> status</a:t>
            </a:r>
          </a:p>
          <a:p>
            <a:pPr lvl="0">
              <a:lnSpc>
                <a:spcPct val="170000"/>
              </a:lnSpc>
            </a:pPr>
            <a:endParaRPr lang="it-IT" sz="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73118E7-267E-3FBA-5108-793BB1E9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725193"/>
            <a:ext cx="5177790" cy="54076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049275-A76F-6434-C17D-C4399227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  <a:t>Patient Distance Heatmap (Diagnostic View)</a:t>
            </a:r>
            <a:b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DC04EC-FEEE-1EF3-1114-463910E2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Hemodynamic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Euclidean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distances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solely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on the </a:t>
            </a:r>
            <a:r>
              <a:rPr lang="it-IT" sz="900" i="1" dirty="0" err="1"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it-IT" sz="900" i="1" dirty="0">
                <a:latin typeface="Arial" panose="020B0604020202020204" pitchFamily="34" charset="0"/>
                <a:cs typeface="Arial" panose="020B0604020202020204" pitchFamily="34" charset="0"/>
              </a:rPr>
              <a:t>/Stress-Test View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thalach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oldpeak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>
              <a:lnSpc>
                <a:spcPct val="150000"/>
              </a:lnSpc>
            </a:pP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Checkerboard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 Macro-</a:t>
            </a: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Highlights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cohorts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nearly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identical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chronotropic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responses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under stress.</a:t>
            </a:r>
          </a:p>
          <a:p>
            <a:pPr lvl="0">
              <a:lnSpc>
                <a:spcPct val="150000"/>
              </a:lnSpc>
            </a:pP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Acute Signal Sensitivity: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Sharp color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contrast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clearly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polarizes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pathological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phenotypes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with a high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Framework </a:t>
            </a:r>
            <a:r>
              <a:rPr lang="it-IT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it-IT" sz="9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 Proves the stress test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a self-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contained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free of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demographic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 ready for Late Fusion</a:t>
            </a:r>
          </a:p>
          <a:p>
            <a:pPr lvl="0">
              <a:lnSpc>
                <a:spcPct val="150000"/>
              </a:lnSpc>
            </a:pPr>
            <a:endParaRPr lang="it-IT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D1ABDC4-8688-0911-180C-CF497AE42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732234"/>
            <a:ext cx="5177790" cy="539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55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 Fusion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it-IT" b="1" dirty="0" err="1"/>
              <a:t>Staged</a:t>
            </a:r>
            <a:r>
              <a:rPr lang="it-IT" b="1" dirty="0"/>
              <a:t> Architecture (Late Fusion):</a:t>
            </a:r>
            <a:r>
              <a:rPr lang="it-IT" dirty="0"/>
              <a:t> </a:t>
            </a:r>
            <a:r>
              <a:rPr lang="it-IT" dirty="0" err="1"/>
              <a:t>Extracts</a:t>
            </a:r>
            <a:r>
              <a:rPr lang="it-IT" dirty="0"/>
              <a:t> </a:t>
            </a:r>
            <a:r>
              <a:rPr lang="it-IT" dirty="0" err="1"/>
              <a:t>independent</a:t>
            </a:r>
            <a:r>
              <a:rPr lang="it-IT" dirty="0"/>
              <a:t> </a:t>
            </a:r>
            <a:r>
              <a:rPr lang="it-IT" dirty="0" err="1"/>
              <a:t>representations</a:t>
            </a:r>
            <a:r>
              <a:rPr lang="it-IT" dirty="0"/>
              <a:t> per </a:t>
            </a:r>
            <a:r>
              <a:rPr lang="it-IT" dirty="0" err="1"/>
              <a:t>view</a:t>
            </a:r>
            <a:r>
              <a:rPr lang="it-IT" dirty="0"/>
              <a:t> </a:t>
            </a:r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early</a:t>
            </a:r>
            <a:r>
              <a:rPr lang="it-IT" dirty="0"/>
              <a:t> data fusion; </a:t>
            </a:r>
            <a:r>
              <a:rPr lang="it-IT" dirty="0" err="1"/>
              <a:t>integrates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in the common </a:t>
            </a:r>
            <a:r>
              <a:rPr lang="it-IT" dirty="0" err="1"/>
              <a:t>latent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 to </a:t>
            </a:r>
            <a:r>
              <a:rPr lang="it-IT" dirty="0" err="1"/>
              <a:t>prevent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 </a:t>
            </a:r>
            <a:r>
              <a:rPr lang="it-IT" dirty="0" err="1"/>
              <a:t>propagation</a:t>
            </a:r>
            <a:r>
              <a:rPr lang="it-IT" dirty="0"/>
              <a:t>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Latent</a:t>
            </a:r>
            <a:r>
              <a:rPr lang="it-IT" b="1" dirty="0"/>
              <a:t> </a:t>
            </a:r>
            <a:r>
              <a:rPr lang="it-IT" b="1" dirty="0" err="1"/>
              <a:t>Pathology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Identifies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appearing</a:t>
            </a:r>
            <a:r>
              <a:rPr lang="it-IT" dirty="0"/>
              <a:t> </a:t>
            </a:r>
            <a:r>
              <a:rPr lang="it-IT" dirty="0" err="1"/>
              <a:t>normal</a:t>
            </a:r>
            <a:r>
              <a:rPr lang="it-IT" dirty="0"/>
              <a:t> </a:t>
            </a:r>
            <a:r>
              <a:rPr lang="it-IT" dirty="0" err="1"/>
              <a:t>clinically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reveal</a:t>
            </a:r>
            <a:r>
              <a:rPr lang="it-IT" dirty="0"/>
              <a:t> clear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evidence</a:t>
            </a:r>
            <a:r>
              <a:rPr lang="it-IT" dirty="0"/>
              <a:t> </a:t>
            </a:r>
            <a:r>
              <a:rPr lang="it-IT" dirty="0" err="1"/>
              <a:t>solely</a:t>
            </a:r>
            <a:r>
              <a:rPr lang="it-IT" dirty="0"/>
              <a:t> in the </a:t>
            </a:r>
            <a:r>
              <a:rPr lang="it-IT" dirty="0" err="1"/>
              <a:t>diagnostic</a:t>
            </a:r>
            <a:r>
              <a:rPr lang="it-IT" dirty="0"/>
              <a:t>/stress test </a:t>
            </a:r>
            <a:r>
              <a:rPr lang="it-IT" dirty="0" err="1"/>
              <a:t>view</a:t>
            </a:r>
            <a:endParaRPr lang="it-IT" dirty="0"/>
          </a:p>
          <a:p>
            <a:pPr marL="0" indent="0">
              <a:lnSpc>
                <a:spcPct val="150000"/>
              </a:lnSpc>
              <a:buNone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it-IT" sz="2200">
                <a:latin typeface="Arial" panose="020B0604020202020204" pitchFamily="34" charset="0"/>
                <a:cs typeface="Arial" panose="020B0604020202020204" pitchFamily="34" charset="0"/>
              </a:rPr>
              <a:t>Supervised Performance: Random Forest Confusion Matrix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 fontScale="55000" lnSpcReduction="20000"/>
          </a:bodyPr>
          <a:lstStyle/>
          <a:p>
            <a:pPr lvl="0">
              <a:lnSpc>
                <a:spcPct val="170000"/>
              </a:lnSpc>
            </a:pPr>
            <a:r>
              <a:rPr lang="it-IT" b="1" dirty="0"/>
              <a:t>Test Set Performance:</a:t>
            </a:r>
            <a:r>
              <a:rPr lang="it-IT" dirty="0"/>
              <a:t> 20/28 </a:t>
            </a:r>
            <a:r>
              <a:rPr lang="it-IT" dirty="0" err="1"/>
              <a:t>correct</a:t>
            </a:r>
            <a:r>
              <a:rPr lang="it-IT" dirty="0"/>
              <a:t> for Class 0 (8 </a:t>
            </a:r>
            <a:r>
              <a:rPr lang="it-IT" dirty="0" err="1"/>
              <a:t>FPs</a:t>
            </a:r>
            <a:r>
              <a:rPr lang="it-IT" dirty="0"/>
              <a:t>); 22/33 </a:t>
            </a:r>
            <a:r>
              <a:rPr lang="it-IT" dirty="0" err="1"/>
              <a:t>correct</a:t>
            </a:r>
            <a:r>
              <a:rPr lang="it-IT" dirty="0"/>
              <a:t> for Class 1 (11 </a:t>
            </a:r>
            <a:r>
              <a:rPr lang="it-IT" dirty="0" err="1"/>
              <a:t>FNs</a:t>
            </a:r>
            <a:r>
              <a:rPr lang="it-IT" dirty="0"/>
              <a:t>).</a:t>
            </a:r>
          </a:p>
          <a:p>
            <a:pPr lvl="0">
              <a:lnSpc>
                <a:spcPct val="170000"/>
              </a:lnSpc>
            </a:pPr>
            <a:r>
              <a:rPr lang="it-IT" b="1" dirty="0" err="1"/>
              <a:t>Predictive</a:t>
            </a:r>
            <a:r>
              <a:rPr lang="it-IT" b="1" dirty="0"/>
              <a:t> </a:t>
            </a:r>
            <a:r>
              <a:rPr lang="it-IT" b="1" dirty="0" err="1"/>
              <a:t>Efficacy</a:t>
            </a:r>
            <a:r>
              <a:rPr lang="it-IT" b="1" dirty="0"/>
              <a:t>:</a:t>
            </a:r>
            <a:r>
              <a:rPr lang="it-IT" dirty="0"/>
              <a:t> High sensitivity in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isolating</a:t>
            </a:r>
            <a:r>
              <a:rPr lang="it-IT" dirty="0"/>
              <a:t> </a:t>
            </a:r>
            <a:r>
              <a:rPr lang="it-IT" dirty="0" err="1"/>
              <a:t>true</a:t>
            </a:r>
            <a:r>
              <a:rPr lang="it-IT" dirty="0"/>
              <a:t>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instances</a:t>
            </a:r>
            <a:r>
              <a:rPr lang="it-IT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b="1" dirty="0" err="1"/>
              <a:t>Supervised</a:t>
            </a:r>
            <a:r>
              <a:rPr lang="it-IT" b="1" dirty="0"/>
              <a:t> </a:t>
            </a:r>
            <a:r>
              <a:rPr lang="it-IT" b="1" dirty="0" err="1"/>
              <a:t>Validation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Confirms</a:t>
            </a:r>
            <a:r>
              <a:rPr lang="it-IT" dirty="0"/>
              <a:t> the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predictive</a:t>
            </a:r>
            <a:r>
              <a:rPr lang="it-IT" dirty="0"/>
              <a:t> power of the multi-</a:t>
            </a:r>
            <a:r>
              <a:rPr lang="it-IT" dirty="0" err="1"/>
              <a:t>view</a:t>
            </a:r>
            <a:r>
              <a:rPr lang="it-IT" dirty="0"/>
              <a:t> feature </a:t>
            </a:r>
            <a:r>
              <a:rPr lang="it-IT" dirty="0" err="1"/>
              <a:t>space</a:t>
            </a:r>
            <a:r>
              <a:rPr lang="it-IT" dirty="0"/>
              <a:t> and Random Forest </a:t>
            </a:r>
            <a:r>
              <a:rPr lang="it-IT" dirty="0" err="1"/>
              <a:t>architecture</a:t>
            </a:r>
            <a:r>
              <a:rPr lang="it-IT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it-IT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C7C30D1-C0D3-60E3-1BA5-B044B7E2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306107"/>
            <a:ext cx="5177790" cy="42457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Density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</a:pPr>
            <a:r>
              <a:rPr lang="it-IT" b="1" dirty="0"/>
              <a:t>Clinical </a:t>
            </a:r>
            <a:r>
              <a:rPr lang="it-IT" b="1" dirty="0" err="1"/>
              <a:t>Anomaly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Boxplots</a:t>
            </a:r>
            <a:r>
              <a:rPr lang="it-IT" dirty="0"/>
              <a:t> </a:t>
            </a:r>
            <a:r>
              <a:rPr lang="it-IT" dirty="0" err="1"/>
              <a:t>identify</a:t>
            </a:r>
            <a:r>
              <a:rPr lang="it-IT" dirty="0"/>
              <a:t> 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 with </a:t>
            </a:r>
            <a:r>
              <a:rPr lang="it-IT" dirty="0" err="1"/>
              <a:t>extreme</a:t>
            </a:r>
            <a:r>
              <a:rPr lang="it-IT" dirty="0"/>
              <a:t> clinical </a:t>
            </a:r>
            <a:r>
              <a:rPr lang="it-IT" dirty="0" err="1"/>
              <a:t>values</a:t>
            </a:r>
            <a:r>
              <a:rPr lang="it-IT" dirty="0"/>
              <a:t>,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cholesterol</a:t>
            </a:r>
            <a:r>
              <a:rPr lang="it-IT" dirty="0"/>
              <a:t> (</a:t>
            </a:r>
            <a:r>
              <a:rPr lang="it-IT" dirty="0" err="1"/>
              <a:t>chol</a:t>
            </a:r>
            <a:r>
              <a:rPr lang="it-IT" dirty="0"/>
              <a:t>) &gt; 381 mg/</a:t>
            </a:r>
            <a:r>
              <a:rPr lang="it-IT" dirty="0" err="1"/>
              <a:t>dL</a:t>
            </a:r>
            <a:r>
              <a:rPr lang="it-IT" dirty="0"/>
              <a:t> and </a:t>
            </a:r>
            <a:r>
              <a:rPr lang="it-IT" dirty="0" err="1"/>
              <a:t>blood</a:t>
            </a:r>
            <a:r>
              <a:rPr lang="it-IT" dirty="0"/>
              <a:t> pressure (</a:t>
            </a:r>
            <a:r>
              <a:rPr lang="it-IT" dirty="0" err="1"/>
              <a:t>trestbps</a:t>
            </a:r>
            <a:r>
              <a:rPr lang="it-IT" dirty="0"/>
              <a:t>) &gt; 181 mmHg.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Methodological</a:t>
            </a:r>
            <a:r>
              <a:rPr lang="it-IT" b="1" dirty="0"/>
              <a:t> Rigor (Data </a:t>
            </a:r>
            <a:r>
              <a:rPr lang="it-IT" b="1" dirty="0" err="1"/>
              <a:t>Preservation</a:t>
            </a:r>
            <a:r>
              <a:rPr lang="it-IT" b="1" dirty="0"/>
              <a:t>):</a:t>
            </a:r>
            <a:r>
              <a:rPr lang="it-IT" dirty="0"/>
              <a:t> 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preserves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303 </a:t>
            </a:r>
            <a:r>
              <a:rPr lang="it-IT" dirty="0" err="1"/>
              <a:t>original</a:t>
            </a:r>
            <a:r>
              <a:rPr lang="it-IT" dirty="0"/>
              <a:t> </a:t>
            </a:r>
            <a:r>
              <a:rPr lang="it-IT" dirty="0" err="1"/>
              <a:t>records</a:t>
            </a:r>
            <a:r>
              <a:rPr lang="it-IT" dirty="0"/>
              <a:t>, </a:t>
            </a:r>
            <a:r>
              <a:rPr lang="it-IT" dirty="0" err="1"/>
              <a:t>recognizing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extreme</a:t>
            </a:r>
            <a:r>
              <a:rPr lang="it-IT" dirty="0"/>
              <a:t> </a:t>
            </a:r>
            <a:r>
              <a:rPr lang="it-IT" dirty="0" err="1"/>
              <a:t>medical</a:t>
            </a:r>
            <a:r>
              <a:rPr lang="it-IT" dirty="0"/>
              <a:t> </a:t>
            </a:r>
            <a:r>
              <a:rPr lang="it-IT" dirty="0" err="1"/>
              <a:t>anomalies</a:t>
            </a:r>
            <a:r>
              <a:rPr lang="it-IT" dirty="0"/>
              <a:t> </a:t>
            </a:r>
            <a:r>
              <a:rPr lang="it-IT" dirty="0" err="1"/>
              <a:t>represent</a:t>
            </a:r>
            <a:r>
              <a:rPr lang="it-IT" dirty="0"/>
              <a:t> severe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phenotypes</a:t>
            </a:r>
            <a:r>
              <a:rPr lang="it-IT" dirty="0"/>
              <a:t>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.</a:t>
            </a:r>
          </a:p>
          <a:p>
            <a:pPr lvl="0">
              <a:lnSpc>
                <a:spcPct val="150000"/>
              </a:lnSpc>
            </a:pPr>
            <a:r>
              <a:rPr lang="it-IT" b="1" dirty="0" err="1"/>
              <a:t>Implications</a:t>
            </a:r>
            <a:r>
              <a:rPr lang="it-IT" b="1" dirty="0"/>
              <a:t> for </a:t>
            </a:r>
            <a:r>
              <a:rPr lang="it-IT" b="1" dirty="0" err="1"/>
              <a:t>Latent</a:t>
            </a:r>
            <a:r>
              <a:rPr lang="it-IT" b="1" dirty="0"/>
              <a:t> Space:</a:t>
            </a:r>
            <a:r>
              <a:rPr lang="it-IT" dirty="0"/>
              <a:t> </a:t>
            </a:r>
            <a:r>
              <a:rPr lang="it-IT" dirty="0" err="1"/>
              <a:t>Maintaining</a:t>
            </a:r>
            <a:r>
              <a:rPr lang="it-IT" dirty="0"/>
              <a:t> the complete </a:t>
            </a:r>
            <a:r>
              <a:rPr lang="it-IT" dirty="0" err="1"/>
              <a:t>distribution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essential</a:t>
            </a:r>
            <a:r>
              <a:rPr lang="it-IT" dirty="0"/>
              <a:t> for PCA and clustering </a:t>
            </a:r>
            <a:r>
              <a:rPr lang="it-IT" dirty="0" err="1"/>
              <a:t>algorithms</a:t>
            </a:r>
            <a:r>
              <a:rPr lang="it-IT" dirty="0"/>
              <a:t> to </a:t>
            </a:r>
            <a:r>
              <a:rPr lang="it-IT" dirty="0" err="1"/>
              <a:t>accurately</a:t>
            </a:r>
            <a:r>
              <a:rPr lang="it-IT" dirty="0"/>
              <a:t> </a:t>
            </a:r>
            <a:r>
              <a:rPr lang="it-IT" dirty="0" err="1"/>
              <a:t>map</a:t>
            </a:r>
            <a:r>
              <a:rPr lang="it-IT" dirty="0"/>
              <a:t>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transitions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healthy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 and acute </a:t>
            </a:r>
            <a:r>
              <a:rPr lang="it-IT" dirty="0" err="1"/>
              <a:t>pathologies</a:t>
            </a:r>
            <a:r>
              <a:rPr lang="it-IT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it-IT" sz="2900">
                <a:latin typeface="Arial" panose="020B0604020202020204" pitchFamily="34" charset="0"/>
                <a:cs typeface="Arial" panose="020B0604020202020204" pitchFamily="34" charset="0"/>
              </a:rPr>
              <a:t>Supervised Diagnostics: ROC Curve Performance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3202" y="2818782"/>
                <a:ext cx="2779284" cy="3709339"/>
              </a:xfrm>
            </p:spPr>
            <p:txBody>
              <a:bodyPr anchor="t">
                <a:normAutofit fontScale="40000" lnSpcReduction="20000"/>
              </a:bodyPr>
              <a:lstStyle/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Discriminant</a:t>
                </a:r>
                <a:r>
                  <a:rPr lang="it-IT" b="1" dirty="0"/>
                  <a:t> Power </a:t>
                </a:r>
                <a:r>
                  <a:rPr lang="it-IT" b="1" dirty="0" err="1"/>
                  <a:t>Validation</a:t>
                </a:r>
                <a:r>
                  <a:rPr lang="it-IT" b="1" dirty="0"/>
                  <a:t>:</a:t>
                </a:r>
                <a:r>
                  <a:rPr lang="it-IT" dirty="0"/>
                  <a:t> ROC curve </a:t>
                </a:r>
                <a:r>
                  <a:rPr lang="it-IT" dirty="0" err="1"/>
                  <a:t>analysis</a:t>
                </a:r>
                <a:r>
                  <a:rPr lang="it-IT" dirty="0"/>
                  <a:t> on an </a:t>
                </a:r>
                <a:r>
                  <a:rPr lang="it-IT" dirty="0" err="1"/>
                  <a:t>independent</a:t>
                </a:r>
                <a:r>
                  <a:rPr lang="it-IT" dirty="0"/>
                  <a:t> test set </a:t>
                </a:r>
                <a:r>
                  <a:rPr lang="it-IT" dirty="0" err="1"/>
                  <a:t>confirms</a:t>
                </a:r>
                <a:r>
                  <a:rPr lang="it-IT" dirty="0"/>
                  <a:t> the </a:t>
                </a:r>
                <a:r>
                  <a:rPr lang="it-IT" dirty="0" err="1"/>
                  <a:t>effectiveness</a:t>
                </a:r>
                <a:r>
                  <a:rPr lang="it-IT" dirty="0"/>
                  <a:t> of Random Forest in </a:t>
                </a:r>
                <a:r>
                  <a:rPr lang="it-IT" dirty="0" err="1"/>
                  <a:t>distinguishing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the </a:t>
                </a:r>
                <a:r>
                  <a:rPr lang="it-IT" dirty="0" err="1"/>
                  <a:t>two</a:t>
                </a:r>
                <a:r>
                  <a:rPr lang="it-IT" dirty="0"/>
                  <a:t> target classes.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Quantification</a:t>
                </a:r>
                <a:r>
                  <a:rPr lang="it-IT" b="1" dirty="0"/>
                  <a:t> (AUC = 0.77 for Late Fusion):</a:t>
                </a:r>
                <a:r>
                  <a:rPr lang="it-IT" dirty="0"/>
                  <a:t> AUC scores </a:t>
                </a:r>
                <a:r>
                  <a:rPr lang="it-IT" dirty="0" err="1"/>
                  <a:t>certify</a:t>
                </a:r>
                <a:r>
                  <a:rPr lang="it-IT" dirty="0"/>
                  <a:t> </a:t>
                </a:r>
                <a:r>
                  <a:rPr lang="it-IT" dirty="0" err="1"/>
                  <a:t>statistical</a:t>
                </a:r>
                <a:r>
                  <a:rPr lang="it-IT" dirty="0"/>
                  <a:t> </a:t>
                </a:r>
                <a:r>
                  <a:rPr lang="it-IT" dirty="0" err="1"/>
                  <a:t>robustness</a:t>
                </a:r>
                <a:r>
                  <a:rPr lang="it-IT" dirty="0"/>
                  <a:t> and discriminative power, with Late Fusion </a:t>
                </a:r>
                <a:r>
                  <a:rPr lang="it-IT" dirty="0" err="1"/>
                  <a:t>achieving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dirty="0"/>
                  <a:t> performance (0.77), </a:t>
                </a:r>
                <a:r>
                  <a:rPr lang="it-IT" dirty="0" err="1"/>
                  <a:t>followed</a:t>
                </a:r>
                <a:r>
                  <a:rPr lang="it-IT" dirty="0"/>
                  <a:t> by the </a:t>
                </a:r>
                <a:r>
                  <a:rPr lang="it-IT" dirty="0" err="1"/>
                  <a:t>Diagnostic</a:t>
                </a:r>
                <a:r>
                  <a:rPr lang="it-IT" dirty="0"/>
                  <a:t> </a:t>
                </a:r>
                <a:r>
                  <a:rPr lang="it-IT" dirty="0" err="1"/>
                  <a:t>view</a:t>
                </a:r>
                <a:r>
                  <a:rPr lang="it-IT" dirty="0"/>
                  <a:t> (0.76), </a:t>
                </a:r>
                <a:r>
                  <a:rPr lang="it-IT" dirty="0" err="1"/>
                  <a:t>Flat</a:t>
                </a:r>
                <a:r>
                  <a:rPr lang="it-IT" dirty="0"/>
                  <a:t> 5-feature RF (0.74), and Clinical </a:t>
                </a:r>
                <a:r>
                  <a:rPr lang="it-IT" dirty="0" err="1"/>
                  <a:t>view</a:t>
                </a:r>
                <a:r>
                  <a:rPr lang="it-IT" dirty="0"/>
                  <a:t> (0.66).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Trajectory</a:t>
                </a:r>
                <a:r>
                  <a:rPr lang="it-IT" b="1" dirty="0"/>
                  <a:t> Analysis:</a:t>
                </a:r>
                <a:r>
                  <a:rPr lang="it-IT" dirty="0"/>
                  <a:t> The progressive rise of the </a:t>
                </a:r>
                <a:r>
                  <a:rPr lang="it-IT" dirty="0" err="1"/>
                  <a:t>curves</a:t>
                </a:r>
                <a:r>
                  <a:rPr lang="it-IT" dirty="0"/>
                  <a:t> </a:t>
                </a:r>
                <a:r>
                  <a:rPr lang="it-IT" dirty="0" err="1"/>
                  <a:t>above</a:t>
                </a:r>
                <a:r>
                  <a:rPr lang="it-IT" dirty="0"/>
                  <a:t> the random </a:t>
                </a:r>
                <a:r>
                  <a:rPr lang="it-IT" dirty="0" err="1"/>
                  <a:t>classifier</a:t>
                </a:r>
                <a:r>
                  <a:rPr lang="it-IT" dirty="0"/>
                  <a:t> line </a:t>
                </a:r>
                <a:r>
                  <a:rPr lang="it-IT" dirty="0" err="1"/>
                  <a:t>demonstrates</a:t>
                </a:r>
                <a:r>
                  <a:rPr lang="it-IT" dirty="0"/>
                  <a:t> a </a:t>
                </a:r>
                <a:r>
                  <a:rPr lang="it-IT" dirty="0" err="1"/>
                  <a:t>favorable</a:t>
                </a:r>
                <a:r>
                  <a:rPr lang="it-IT" dirty="0"/>
                  <a:t> balance </a:t>
                </a:r>
                <a:r>
                  <a:rPr lang="it-IT" dirty="0" err="1"/>
                  <a:t>between</a:t>
                </a:r>
                <a:r>
                  <a:rPr lang="it-IT" dirty="0"/>
                  <a:t> a high True Positive Rate and a </a:t>
                </a:r>
                <a:r>
                  <a:rPr lang="it-IT" dirty="0" err="1"/>
                  <a:t>controlled</a:t>
                </a:r>
                <a:r>
                  <a:rPr lang="it-IT" dirty="0"/>
                  <a:t> false </a:t>
                </a:r>
                <a:r>
                  <a:rPr lang="it-IT" dirty="0" err="1"/>
                  <a:t>alarm</a:t>
                </a:r>
                <a:r>
                  <a:rPr lang="it-IT" dirty="0"/>
                  <a:t> rate.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b="1" dirty="0" err="1"/>
                  <a:t>Effectiveness</a:t>
                </a:r>
                <a:r>
                  <a:rPr lang="it-IT" b="1" dirty="0"/>
                  <a:t> of Multi-View Architecture:</a:t>
                </a:r>
                <a:r>
                  <a:rPr lang="it-IT" dirty="0"/>
                  <a:t> The clear </a:t>
                </a:r>
                <a:r>
                  <a:rPr lang="it-IT" dirty="0" err="1"/>
                  <a:t>separation</a:t>
                </a:r>
                <a:r>
                  <a:rPr lang="it-IT" dirty="0"/>
                  <a:t> from the </a:t>
                </a:r>
                <a:r>
                  <a:rPr lang="it-IT" dirty="0" err="1"/>
                  <a:t>diagonal</a:t>
                </a:r>
                <a:r>
                  <a:rPr lang="it-IT" dirty="0"/>
                  <a:t> random line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i="0"/>
                      <m:t>AUC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r>
                  <a:rPr lang="it-IT" dirty="0"/>
                  <a:t>) </a:t>
                </a:r>
                <a:r>
                  <a:rPr lang="it-IT" dirty="0" err="1"/>
                  <a:t>mathematically</a:t>
                </a:r>
                <a:r>
                  <a:rPr lang="it-IT" dirty="0"/>
                  <a:t> </a:t>
                </a:r>
                <a:r>
                  <a:rPr lang="it-IT" dirty="0" err="1"/>
                  <a:t>validates</a:t>
                </a:r>
                <a:r>
                  <a:rPr lang="it-IT" dirty="0"/>
                  <a:t> the </a:t>
                </a:r>
                <a:r>
                  <a:rPr lang="it-IT" dirty="0" err="1"/>
                  <a:t>contribution</a:t>
                </a:r>
                <a:r>
                  <a:rPr lang="it-IT" dirty="0"/>
                  <a:t> and </a:t>
                </a:r>
                <a:r>
                  <a:rPr lang="it-IT" dirty="0" err="1"/>
                  <a:t>superiority</a:t>
                </a:r>
                <a:r>
                  <a:rPr lang="it-IT" dirty="0"/>
                  <a:t> of the multi-</a:t>
                </a:r>
                <a:r>
                  <a:rPr lang="it-IT" dirty="0" err="1"/>
                  <a:t>view</a:t>
                </a:r>
                <a:r>
                  <a:rPr lang="it-IT" dirty="0"/>
                  <a:t> </a:t>
                </a:r>
                <a:r>
                  <a:rPr lang="it-IT" dirty="0" err="1"/>
                  <a:t>predictive</a:t>
                </a:r>
                <a:r>
                  <a:rPr lang="it-IT" dirty="0"/>
                  <a:t> framework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2818782"/>
                <a:ext cx="2779284" cy="37093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87E8787F-EDC9-5458-164D-43CB6F14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722" y="1325523"/>
            <a:ext cx="5177790" cy="420695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2501CD3-E438-DDFD-58CD-81F5C242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 sz="2600">
                <a:latin typeface="Arial" panose="020B0604020202020204" pitchFamily="34" charset="0"/>
                <a:cs typeface="Arial" panose="020B0604020202020204" pitchFamily="34" charset="0"/>
              </a:rPr>
              <a:t>Global Explainability: Computational Weight of Clinical Features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FB0DCD-8D7E-F288-C6C6-75366C1D9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709250"/>
          </a:xfrm>
        </p:spPr>
        <p:txBody>
          <a:bodyPr anchor="t">
            <a:noAutofit/>
          </a:bodyPr>
          <a:lstStyle/>
          <a:p>
            <a:pPr lvl="0">
              <a:lnSpc>
                <a:spcPct val="170000"/>
              </a:lnSpc>
            </a:pPr>
            <a:r>
              <a:rPr lang="it-IT" sz="800" b="1" dirty="0" err="1"/>
              <a:t>Algorithmic</a:t>
            </a:r>
            <a:r>
              <a:rPr lang="it-IT" sz="800" b="1" dirty="0"/>
              <a:t> </a:t>
            </a:r>
            <a:r>
              <a:rPr lang="it-IT" sz="800" b="1" dirty="0" err="1"/>
              <a:t>Transparency</a:t>
            </a:r>
            <a:r>
              <a:rPr lang="it-IT" sz="800" b="1" dirty="0"/>
              <a:t> (XAI):</a:t>
            </a:r>
            <a:r>
              <a:rPr lang="it-IT" sz="800" dirty="0"/>
              <a:t> Application of the Mean </a:t>
            </a:r>
            <a:r>
              <a:rPr lang="it-IT" sz="800" dirty="0" err="1"/>
              <a:t>Decrease</a:t>
            </a:r>
            <a:r>
              <a:rPr lang="it-IT" sz="800" dirty="0"/>
              <a:t> in Gini </a:t>
            </a:r>
            <a:r>
              <a:rPr lang="it-IT" sz="800" dirty="0" err="1"/>
              <a:t>Impurity</a:t>
            </a:r>
            <a:r>
              <a:rPr lang="it-IT" sz="800" dirty="0"/>
              <a:t> to </a:t>
            </a:r>
            <a:r>
              <a:rPr lang="it-IT" sz="800" dirty="0" err="1"/>
              <a:t>quantify</a:t>
            </a:r>
            <a:r>
              <a:rPr lang="it-IT" sz="800" dirty="0"/>
              <a:t> the </a:t>
            </a:r>
            <a:r>
              <a:rPr lang="it-IT" sz="800" dirty="0" err="1"/>
              <a:t>statistical</a:t>
            </a:r>
            <a:r>
              <a:rPr lang="it-IT" sz="800" dirty="0"/>
              <a:t> impact of </a:t>
            </a:r>
            <a:r>
              <a:rPr lang="it-IT" sz="800" dirty="0" err="1"/>
              <a:t>each</a:t>
            </a:r>
            <a:r>
              <a:rPr lang="it-IT" sz="800" dirty="0"/>
              <a:t> </a:t>
            </a:r>
            <a:r>
              <a:rPr lang="it-IT" sz="800" dirty="0" err="1"/>
              <a:t>continuous</a:t>
            </a:r>
            <a:r>
              <a:rPr lang="it-IT" sz="800" dirty="0"/>
              <a:t> feature on the </a:t>
            </a:r>
            <a:r>
              <a:rPr lang="it-IT" sz="800" dirty="0" err="1"/>
              <a:t>model's</a:t>
            </a:r>
            <a:r>
              <a:rPr lang="it-IT" sz="800" dirty="0"/>
              <a:t> </a:t>
            </a:r>
            <a:r>
              <a:rPr lang="it-IT" sz="800" dirty="0" err="1"/>
              <a:t>decision</a:t>
            </a:r>
            <a:r>
              <a:rPr lang="it-IT" sz="800" dirty="0"/>
              <a:t> </a:t>
            </a:r>
            <a:r>
              <a:rPr lang="it-IT" sz="800" dirty="0" err="1"/>
              <a:t>stability</a:t>
            </a:r>
            <a:r>
              <a:rPr lang="it-IT" sz="800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sz="800" b="1" dirty="0"/>
              <a:t>Top </a:t>
            </a:r>
            <a:r>
              <a:rPr lang="it-IT" sz="800" b="1" dirty="0" err="1"/>
              <a:t>Diagnostic</a:t>
            </a:r>
            <a:r>
              <a:rPr lang="it-IT" sz="800" b="1" dirty="0"/>
              <a:t> Drivers:</a:t>
            </a:r>
            <a:endParaRPr lang="it-IT" sz="800" dirty="0"/>
          </a:p>
          <a:p>
            <a:pPr lvl="1">
              <a:lnSpc>
                <a:spcPct val="170000"/>
              </a:lnSpc>
            </a:pPr>
            <a:r>
              <a:rPr lang="it-IT" sz="800" i="1" dirty="0" err="1"/>
              <a:t>thalach</a:t>
            </a:r>
            <a:r>
              <a:rPr lang="it-IT" sz="800" i="1" dirty="0"/>
              <a:t> &amp; </a:t>
            </a:r>
            <a:r>
              <a:rPr lang="it-IT" sz="800" i="1" dirty="0" err="1"/>
              <a:t>oldpeak</a:t>
            </a:r>
            <a:r>
              <a:rPr lang="it-IT" sz="800" i="1" dirty="0"/>
              <a:t> (Dominant):</a:t>
            </a:r>
            <a:r>
              <a:rPr lang="it-IT" sz="800" dirty="0"/>
              <a:t> </a:t>
            </a:r>
            <a:r>
              <a:rPr lang="it-IT" sz="800" dirty="0" err="1"/>
              <a:t>Ranked</a:t>
            </a:r>
            <a:r>
              <a:rPr lang="it-IT" sz="800" dirty="0"/>
              <a:t> </a:t>
            </a:r>
            <a:r>
              <a:rPr lang="it-IT" sz="800" dirty="0" err="1"/>
              <a:t>as</a:t>
            </a:r>
            <a:r>
              <a:rPr lang="it-IT" sz="800" dirty="0"/>
              <a:t> </a:t>
            </a:r>
            <a:r>
              <a:rPr lang="it-IT" sz="800" dirty="0" err="1"/>
              <a:t>primary</a:t>
            </a:r>
            <a:r>
              <a:rPr lang="it-IT" sz="800" dirty="0"/>
              <a:t> ensemble drivers, </a:t>
            </a:r>
            <a:r>
              <a:rPr lang="it-IT" sz="800" dirty="0" err="1"/>
              <a:t>confirming</a:t>
            </a:r>
            <a:r>
              <a:rPr lang="it-IT" sz="800" dirty="0"/>
              <a:t> </a:t>
            </a:r>
            <a:r>
              <a:rPr lang="it-IT" sz="800" dirty="0" err="1"/>
              <a:t>that</a:t>
            </a:r>
            <a:r>
              <a:rPr lang="it-IT" sz="800" dirty="0"/>
              <a:t> maximum </a:t>
            </a:r>
            <a:r>
              <a:rPr lang="it-IT" sz="800" dirty="0" err="1"/>
              <a:t>heart</a:t>
            </a:r>
            <a:r>
              <a:rPr lang="it-IT" sz="800" dirty="0"/>
              <a:t> rate under stress and ST-</a:t>
            </a:r>
            <a:r>
              <a:rPr lang="it-IT" sz="800" dirty="0" err="1"/>
              <a:t>depression</a:t>
            </a:r>
            <a:r>
              <a:rPr lang="it-IT" sz="800" dirty="0"/>
              <a:t> </a:t>
            </a:r>
            <a:r>
              <a:rPr lang="it-IT" sz="800" dirty="0" err="1"/>
              <a:t>hold</a:t>
            </a:r>
            <a:r>
              <a:rPr lang="it-IT" sz="800" dirty="0"/>
              <a:t> the </a:t>
            </a:r>
            <a:r>
              <a:rPr lang="it-IT" sz="800" dirty="0" err="1"/>
              <a:t>highest</a:t>
            </a:r>
            <a:r>
              <a:rPr lang="it-IT" sz="800" dirty="0"/>
              <a:t> relative </a:t>
            </a:r>
            <a:r>
              <a:rPr lang="it-IT" sz="800" dirty="0" err="1"/>
              <a:t>statistical</a:t>
            </a:r>
            <a:r>
              <a:rPr lang="it-IT" sz="800" dirty="0"/>
              <a:t> </a:t>
            </a:r>
            <a:r>
              <a:rPr lang="it-IT" sz="800" dirty="0" err="1"/>
              <a:t>importance</a:t>
            </a:r>
            <a:r>
              <a:rPr lang="it-IT" sz="800" dirty="0"/>
              <a:t> in </a:t>
            </a:r>
            <a:r>
              <a:rPr lang="it-IT" sz="800" dirty="0" err="1"/>
              <a:t>determining</a:t>
            </a:r>
            <a:r>
              <a:rPr lang="it-IT" sz="800" dirty="0"/>
              <a:t> </a:t>
            </a:r>
            <a:r>
              <a:rPr lang="it-IT" sz="800" dirty="0" err="1"/>
              <a:t>cardiac</a:t>
            </a:r>
            <a:r>
              <a:rPr lang="it-IT" sz="800" dirty="0"/>
              <a:t> risk.</a:t>
            </a:r>
          </a:p>
          <a:p>
            <a:pPr lvl="1">
              <a:lnSpc>
                <a:spcPct val="170000"/>
              </a:lnSpc>
            </a:pPr>
            <a:r>
              <a:rPr lang="it-IT" sz="800" i="1" dirty="0"/>
              <a:t>age (</a:t>
            </a:r>
            <a:r>
              <a:rPr lang="it-IT" sz="800" i="1" dirty="0" err="1"/>
              <a:t>Fundamental</a:t>
            </a:r>
            <a:r>
              <a:rPr lang="it-IT" sz="800" i="1" dirty="0"/>
              <a:t>):</a:t>
            </a:r>
            <a:r>
              <a:rPr lang="it-IT" sz="800" dirty="0"/>
              <a:t> Follows </a:t>
            </a:r>
            <a:r>
              <a:rPr lang="it-IT" sz="800" dirty="0" err="1"/>
              <a:t>closely</a:t>
            </a:r>
            <a:r>
              <a:rPr lang="it-IT" sz="800" dirty="0"/>
              <a:t>, </a:t>
            </a:r>
            <a:r>
              <a:rPr lang="it-IT" sz="800" dirty="0" err="1"/>
              <a:t>demonstrating</a:t>
            </a:r>
            <a:r>
              <a:rPr lang="it-IT" sz="800" dirty="0"/>
              <a:t> </a:t>
            </a:r>
            <a:r>
              <a:rPr lang="it-IT" sz="800" dirty="0" err="1"/>
              <a:t>that</a:t>
            </a:r>
            <a:r>
              <a:rPr lang="it-IT" sz="800" dirty="0"/>
              <a:t> the model </a:t>
            </a:r>
            <a:r>
              <a:rPr lang="it-IT" sz="800" dirty="0" err="1"/>
              <a:t>effectively</a:t>
            </a:r>
            <a:r>
              <a:rPr lang="it-IT" sz="800" dirty="0"/>
              <a:t> balances </a:t>
            </a:r>
            <a:r>
              <a:rPr lang="it-IT" sz="800" dirty="0" err="1"/>
              <a:t>demographic</a:t>
            </a:r>
            <a:r>
              <a:rPr lang="it-IT" sz="800" dirty="0"/>
              <a:t> background with clinical </a:t>
            </a:r>
            <a:r>
              <a:rPr lang="it-IT" sz="800" dirty="0" err="1"/>
              <a:t>metrics</a:t>
            </a:r>
            <a:r>
              <a:rPr lang="it-IT" sz="800" dirty="0"/>
              <a:t>.</a:t>
            </a:r>
          </a:p>
          <a:p>
            <a:pPr lvl="0">
              <a:lnSpc>
                <a:spcPct val="170000"/>
              </a:lnSpc>
            </a:pPr>
            <a:r>
              <a:rPr lang="it-IT" sz="800" b="1" dirty="0"/>
              <a:t>Intermediate &amp; </a:t>
            </a:r>
            <a:r>
              <a:rPr lang="it-IT" sz="800" b="1" dirty="0" err="1"/>
              <a:t>Secondary</a:t>
            </a:r>
            <a:r>
              <a:rPr lang="it-IT" sz="800" b="1" dirty="0"/>
              <a:t> </a:t>
            </a:r>
            <a:r>
              <a:rPr lang="it-IT" sz="800" b="1" dirty="0" err="1"/>
              <a:t>Contribution</a:t>
            </a:r>
            <a:r>
              <a:rPr lang="it-IT" sz="800" b="1" dirty="0"/>
              <a:t>:</a:t>
            </a:r>
            <a:endParaRPr lang="it-IT" sz="800" dirty="0"/>
          </a:p>
          <a:p>
            <a:pPr lvl="1">
              <a:lnSpc>
                <a:spcPct val="170000"/>
              </a:lnSpc>
            </a:pPr>
            <a:r>
              <a:rPr lang="it-IT" sz="800" i="1" dirty="0" err="1"/>
              <a:t>chol</a:t>
            </a:r>
            <a:r>
              <a:rPr lang="it-IT" sz="800" i="1" dirty="0"/>
              <a:t> &amp; </a:t>
            </a:r>
            <a:r>
              <a:rPr lang="it-IT" sz="800" i="1" dirty="0" err="1"/>
              <a:t>trestbps</a:t>
            </a:r>
            <a:r>
              <a:rPr lang="it-IT" sz="800" i="1" dirty="0"/>
              <a:t>:</a:t>
            </a:r>
            <a:r>
              <a:rPr lang="it-IT" sz="800" dirty="0"/>
              <a:t> Serum </a:t>
            </a:r>
            <a:r>
              <a:rPr lang="it-IT" sz="800" dirty="0" err="1"/>
              <a:t>cholesterol</a:t>
            </a:r>
            <a:r>
              <a:rPr lang="it-IT" sz="800" dirty="0"/>
              <a:t> and </a:t>
            </a:r>
            <a:r>
              <a:rPr lang="it-IT" sz="800" dirty="0" err="1"/>
              <a:t>resting</a:t>
            </a:r>
            <a:r>
              <a:rPr lang="it-IT" sz="800" dirty="0"/>
              <a:t> </a:t>
            </a:r>
            <a:r>
              <a:rPr lang="it-IT" sz="800" dirty="0" err="1"/>
              <a:t>blood</a:t>
            </a:r>
            <a:r>
              <a:rPr lang="it-IT" sz="800" dirty="0"/>
              <a:t> pressure provide the </a:t>
            </a:r>
            <a:r>
              <a:rPr lang="it-IT" sz="800" dirty="0" err="1"/>
              <a:t>secondary</a:t>
            </a:r>
            <a:r>
              <a:rPr lang="it-IT" sz="800" dirty="0"/>
              <a:t> </a:t>
            </a:r>
            <a:r>
              <a:rPr lang="it-IT" sz="800" dirty="0" err="1"/>
              <a:t>physiological</a:t>
            </a:r>
            <a:r>
              <a:rPr lang="it-IT" sz="800" dirty="0"/>
              <a:t> </a:t>
            </a:r>
            <a:r>
              <a:rPr lang="it-IT" sz="800" dirty="0" err="1"/>
              <a:t>context</a:t>
            </a:r>
            <a:r>
              <a:rPr lang="it-IT" sz="800" dirty="0"/>
              <a:t> </a:t>
            </a:r>
            <a:r>
              <a:rPr lang="it-IT" sz="800" dirty="0" err="1"/>
              <a:t>necessary</a:t>
            </a:r>
            <a:r>
              <a:rPr lang="it-IT" sz="800" dirty="0"/>
              <a:t> to </a:t>
            </a:r>
            <a:r>
              <a:rPr lang="it-IT" sz="800" dirty="0" err="1"/>
              <a:t>refine</a:t>
            </a:r>
            <a:r>
              <a:rPr lang="it-IT" sz="800" dirty="0"/>
              <a:t> </a:t>
            </a:r>
            <a:r>
              <a:rPr lang="it-IT" sz="800" dirty="0" err="1"/>
              <a:t>decision</a:t>
            </a:r>
            <a:r>
              <a:rPr lang="it-IT" sz="800" dirty="0"/>
              <a:t> </a:t>
            </a:r>
            <a:r>
              <a:rPr lang="it-IT" sz="800" dirty="0" err="1"/>
              <a:t>boundaries</a:t>
            </a:r>
            <a:r>
              <a:rPr lang="it-IT" sz="800" dirty="0"/>
              <a:t>, </a:t>
            </a:r>
            <a:r>
              <a:rPr lang="it-IT" sz="800" dirty="0" err="1"/>
              <a:t>though</a:t>
            </a:r>
            <a:r>
              <a:rPr lang="it-IT" sz="800" dirty="0"/>
              <a:t> with </a:t>
            </a:r>
            <a:r>
              <a:rPr lang="it-IT" sz="800" dirty="0" err="1"/>
              <a:t>lower</a:t>
            </a:r>
            <a:r>
              <a:rPr lang="it-IT" sz="800" dirty="0"/>
              <a:t> relative Gini </a:t>
            </a:r>
            <a:r>
              <a:rPr lang="it-IT" sz="800" dirty="0" err="1"/>
              <a:t>importance</a:t>
            </a:r>
            <a:r>
              <a:rPr lang="it-IT" sz="800" dirty="0"/>
              <a:t> </a:t>
            </a:r>
            <a:r>
              <a:rPr lang="it-IT" sz="800" dirty="0" err="1"/>
              <a:t>compared</a:t>
            </a:r>
            <a:r>
              <a:rPr lang="it-IT" sz="800" dirty="0"/>
              <a:t> to </a:t>
            </a:r>
            <a:r>
              <a:rPr lang="it-IT" sz="800" dirty="0" err="1"/>
              <a:t>primary</a:t>
            </a:r>
            <a:r>
              <a:rPr lang="it-IT" sz="800" dirty="0"/>
              <a:t> </a:t>
            </a:r>
            <a:r>
              <a:rPr lang="it-IT" sz="800" dirty="0" err="1"/>
              <a:t>functional</a:t>
            </a:r>
            <a:r>
              <a:rPr lang="it-IT" sz="800" dirty="0"/>
              <a:t> and </a:t>
            </a:r>
            <a:r>
              <a:rPr lang="it-IT" sz="800" dirty="0" err="1"/>
              <a:t>demographic</a:t>
            </a:r>
            <a:r>
              <a:rPr lang="it-IT" sz="800" dirty="0"/>
              <a:t> </a:t>
            </a:r>
            <a:r>
              <a:rPr lang="it-IT" sz="800" dirty="0" err="1"/>
              <a:t>indicators</a:t>
            </a:r>
            <a:endParaRPr lang="it-IT" sz="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6B87DEB-4954-62E5-7F9D-F4641861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2175143"/>
            <a:ext cx="4094226" cy="250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14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it-IT" sz="2900">
                <a:latin typeface="Arial" panose="020B0604020202020204" pitchFamily="34" charset="0"/>
                <a:cs typeface="Arial" panose="020B0604020202020204" pitchFamily="34" charset="0"/>
              </a:rPr>
              <a:t>Adjusted Odds Ratios (Forest Plot)</a:t>
            </a:r>
            <a:br>
              <a:rPr lang="it-IT" sz="29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</p:spPr>
            <p:txBody>
              <a:bodyPr anchor="t">
                <a:noAutofit/>
              </a:bodyPr>
              <a:lstStyle/>
              <a:p>
                <a:pPr lvl="0">
                  <a:lnSpc>
                    <a:spcPct val="170000"/>
                  </a:lnSpc>
                </a:pP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Methodological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Approach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Implementation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a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multivariable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logistic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regression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standardized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features (age,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trestbps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,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chol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,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thalach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,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oldpeak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) to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extract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adjusted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Odds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Ratios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ORs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) and 95% confidence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intervals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quantifying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net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association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cardiac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disease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risk.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 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Associations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Odds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Ratios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relative to 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Nullity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Line 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at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it-IT" sz="700" i="1"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it-IT" sz="70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):</a:t>
                </a:r>
                <a:endParaRPr lang="it-IT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it-IT" sz="7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thalach</a:t>
                </a: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(Positive Association):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Positioned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right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nullity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line (</a:t>
                </a:r>
                <a14:m>
                  <m:oMath xmlns:m="http://schemas.openxmlformats.org/officeDocument/2006/math">
                    <m:r>
                      <a:rPr lang="it-IT" sz="700" i="1"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it-IT" sz="70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reflecting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its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strong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predictive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relationship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within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multivariable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space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age (</a:t>
                </a:r>
                <a:r>
                  <a:rPr lang="it-IT" sz="7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Neutral</a:t>
                </a: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Association):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Centered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near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nullity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line (</a:t>
                </a:r>
                <a14:m>
                  <m:oMath xmlns:m="http://schemas.openxmlformats.org/officeDocument/2006/math">
                    <m:r>
                      <a:rPr lang="it-IT" sz="700" i="1"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it-IT" sz="70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indicating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balanced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net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effects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when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adjusted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other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hemodynamic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parameters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it-IT" sz="7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chol</a:t>
                </a: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7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trestbps</a:t>
                </a: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&amp; </a:t>
                </a:r>
                <a:r>
                  <a:rPr lang="it-IT" sz="7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oldpeak</a:t>
                </a: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(Inverse </a:t>
                </a:r>
                <a:r>
                  <a:rPr lang="it-IT" sz="7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Associations</a:t>
                </a:r>
                <a:r>
                  <a:rPr lang="it-IT" sz="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in Model):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Positioned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left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unit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line (</a:t>
                </a:r>
                <a14:m>
                  <m:oMath xmlns:m="http://schemas.openxmlformats.org/officeDocument/2006/math">
                    <m:r>
                      <a:rPr lang="it-IT" sz="700" i="1"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it-IT" sz="70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) under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multivariable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adjustment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highlighting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conditional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interactions in the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logistic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regression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equation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>
                  <a:lnSpc>
                    <a:spcPct val="170000"/>
                  </a:lnSpc>
                </a:pP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Statistical </a:t>
                </a:r>
                <a:r>
                  <a:rPr lang="it-IT" sz="7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Significance</a:t>
                </a:r>
                <a:r>
                  <a:rPr lang="it-IT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 Error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bars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95% confidence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intervals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illustrating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precision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estimation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uncertainty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each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it-I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 clinical feature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2660904"/>
                <a:ext cx="3614166" cy="35478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A634A7FC-9075-8A8B-4137-B77F48503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286" y="2026728"/>
            <a:ext cx="4094226" cy="28045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331259"/>
            <a:ext cx="6711654" cy="4195481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it-IT" sz="1500" b="1" dirty="0">
                <a:latin typeface="Arial" panose="020B0604020202020204" pitchFamily="34" charset="0"/>
                <a:cs typeface="Arial" panose="020B0604020202020204" pitchFamily="34" charset="0"/>
              </a:rPr>
              <a:t>Data Integrity: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robust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, complete, and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dataset,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ensuring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basis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for clinical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it-IT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  <a:r>
              <a:rPr lang="it-IT" sz="1500" b="1" dirty="0">
                <a:latin typeface="Arial" panose="020B0604020202020204" pitchFamily="34" charset="0"/>
                <a:cs typeface="Arial" panose="020B0604020202020204" pitchFamily="34" charset="0"/>
              </a:rPr>
              <a:t> Learning: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 The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synergy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PCA and K-Means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enabled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autonomous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extraction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pathological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patterns,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confirming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geometric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biomarkers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it-IT" sz="1500" b="1" dirty="0">
                <a:latin typeface="Arial" panose="020B0604020202020204" pitchFamily="34" charset="0"/>
                <a:cs typeface="Arial" panose="020B0604020202020204" pitchFamily="34" charset="0"/>
              </a:rPr>
              <a:t>Multi-View Framework: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 The Late Fusion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demonstrated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superiority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isolating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hemodynamic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signals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from baseline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demographic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it-IT" sz="1500" b="1" dirty="0">
                <a:latin typeface="Arial" panose="020B0604020202020204" pitchFamily="34" charset="0"/>
                <a:cs typeface="Arial" panose="020B0604020202020204" pitchFamily="34" charset="0"/>
              </a:rPr>
              <a:t>Future Vision: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 The project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demonstrates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of Visual Analytics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integrated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Artificial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Intelligence,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paving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the way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towards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transparent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interpretable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dirty="0" err="1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it-IT" sz="1500" dirty="0">
                <a:latin typeface="Arial" panose="020B0604020202020204" pitchFamily="34" charset="0"/>
                <a:cs typeface="Arial" panose="020B0604020202020204" pitchFamily="34" charset="0"/>
              </a:rPr>
              <a:t> medicine (XAI).</a:t>
            </a:r>
          </a:p>
          <a:p>
            <a:pPr>
              <a:lnSpc>
                <a:spcPct val="150000"/>
              </a:lnSpc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</TotalTime>
  <Words>2325</Words>
  <Application>Microsoft Macintosh PowerPoint</Application>
  <PresentationFormat>Presentazione su schermo (4:3)</PresentationFormat>
  <Paragraphs>135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Tema di Office</vt:lpstr>
      <vt:lpstr>Advanced Visualization and Latent Space Fusion for Clinical Heart Disease Analytics</vt:lpstr>
      <vt:lpstr>Introduction</vt:lpstr>
      <vt:lpstr>Dataset Structure</vt:lpstr>
      <vt:lpstr>Target Class Distribution &amp; Balance Assessment </vt:lpstr>
      <vt:lpstr>Outlier Boundary Definition &amp; Detection</vt:lpstr>
      <vt:lpstr>Feature Scaling</vt:lpstr>
      <vt:lpstr>Feature Interaction Space</vt:lpstr>
      <vt:lpstr>Non-Linearity Hypothesis</vt:lpstr>
      <vt:lpstr>PCA Setup</vt:lpstr>
      <vt:lpstr>PCA Global Scree Plot &amp; Cumulative Variance</vt:lpstr>
      <vt:lpstr>PCA Biplot Representation</vt:lpstr>
      <vt:lpstr>Geometric Interpretation</vt:lpstr>
      <vt:lpstr>Variance Explained</vt:lpstr>
      <vt:lpstr>Data-Driven Selection of the Number of Patient Clusters </vt:lpstr>
      <vt:lpstr>Unsupervised Clustering Strategy</vt:lpstr>
      <vt:lpstr>Hierarchical Dendrogram of Heart-Disease Patient Profiles </vt:lpstr>
      <vt:lpstr>Comparative Evaluation</vt:lpstr>
      <vt:lpstr>Distribution of Top Feature Drivers across K-Means Clusters </vt:lpstr>
      <vt:lpstr>Statistical Biomarker Discrimination</vt:lpstr>
      <vt:lpstr>Multi-View Medical Framework</vt:lpstr>
      <vt:lpstr>Patient Distance Heatmap </vt:lpstr>
      <vt:lpstr>Patient Distance Heatmap (Diagnostic View) </vt:lpstr>
      <vt:lpstr>Late Fusion Insight</vt:lpstr>
      <vt:lpstr>Supervised Performance: Random Forest Confusion Matrix</vt:lpstr>
      <vt:lpstr>Statistical Density Cohorts</vt:lpstr>
      <vt:lpstr>Supervised Diagnostics: ROC Curve Performance</vt:lpstr>
      <vt:lpstr>Global Explainability: Computational Weight of Clinical Features</vt:lpstr>
      <vt:lpstr>Adjusted Odds Ratios (Forest Plot) </vt:lpstr>
      <vt:lpstr>Conclusions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Martina Filice</cp:lastModifiedBy>
  <cp:revision>97</cp:revision>
  <dcterms:created xsi:type="dcterms:W3CDTF">2013-01-27T09:14:16Z</dcterms:created>
  <dcterms:modified xsi:type="dcterms:W3CDTF">2026-09-23T07:29:36Z</dcterms:modified>
  <cp:category/>
</cp:coreProperties>
</file>
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91" r:id="rId5"/>
    <p:sldId id="261" r:id="rId6"/>
    <p:sldId id="263" r:id="rId7"/>
    <p:sldId id="264" r:id="rId8"/>
    <p:sldId id="266" r:id="rId9"/>
    <p:sldId id="267" r:id="rId10"/>
    <p:sldId id="290" r:id="rId11"/>
    <p:sldId id="268" r:id="rId12"/>
    <p:sldId id="269" r:id="rId13"/>
    <p:sldId id="270" r:id="rId14"/>
    <p:sldId id="285" r:id="rId15"/>
    <p:sldId id="271" r:id="rId16"/>
    <p:sldId id="272" r:id="rId17"/>
    <p:sldId id="273" r:id="rId18"/>
    <p:sldId id="286" r:id="rId19"/>
    <p:sldId id="287" r:id="rId20"/>
    <p:sldId id="275" r:id="rId21"/>
    <p:sldId id="276" r:id="rId22"/>
    <p:sldId id="288" r:id="rId23"/>
    <p:sldId id="277" r:id="rId24"/>
    <p:sldId id="278" r:id="rId25"/>
    <p:sldId id="279" r:id="rId26"/>
    <p:sldId id="281" r:id="rId27"/>
    <p:sldId id="289" r:id="rId28"/>
    <p:sldId id="282" r:id="rId29"/>
    <p:sldId id="283" r:id="rId30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65"/>
    <p:restoredTop sz="94632"/>
  </p:normalViewPr>
  <p:slideViewPr>
    <p:cSldViewPr snapToGrid="0" snapToObjects="1">
      <p:cViewPr varScale="1">
        <p:scale>
          <a:sx n="94" d="100"/>
          <a:sy n="94" d="100"/>
        </p:scale>
        <p:origin x="200" y="1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7E5313-86DE-DB01-B26F-8DA06A9EB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3E95609-FED2-9993-4F5B-65FF60E50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B56180-4BF8-D842-B429-19159226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1D72A80-7C64-6C64-95A4-9FE566F0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88A24A-6AF4-5628-3C09-FAEBE1547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46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4589B3-7CC1-CB9E-5437-AF9F786B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A10ACA-AD46-900F-1B0A-9D05AEFDF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78C91D-2BC7-D17A-4489-402CD6C1B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84D4CA-F49E-0FA7-B179-78F779BE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2B8529A-0AB8-6094-7836-BD27D7A0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34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AFC03D-BA6B-5D13-5FCE-B5ACC185E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899B11-7948-D1CD-4AD5-8ACA5634A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9C9EB9-98C0-3654-61A1-5AB98F6AD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5421DD-02AF-7C80-0BCC-54B24564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746651B-E0CC-8855-8D60-1BCC4F373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82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6A8FB7-F41B-CDAF-A05A-06740A1C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225F2B-5D73-0ECD-6AA2-389586C6C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108F3F-5809-2A10-8424-B20C1AB02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45AE53-5BB2-0709-C1D9-BBE55C27F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575E12A-73A2-73E1-CC28-3BE81FD2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76F9AA4-1451-2598-33E6-16611D11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09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03DB49-0616-4083-2AE2-1EDD99F14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3D54EA-E82F-AC77-7161-0D27001F7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DD583BF-ED37-555F-5D90-852714253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C206C16-7001-73D8-BDC2-57AF50B1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DAA730F-3127-D16C-5B06-E688AC3074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099CE34-759C-3B94-6889-7B81A44F6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92B7F39-C7E4-9A5E-0629-58FF31D98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4CD37B0-7AA1-722A-F5CB-B8651786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9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5C384A-D4FD-C269-BB08-0722EAD8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254D61-92AF-8252-C4E5-420D83E01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032B4AF-F902-0CED-233D-0E12F916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9FE64F9-8953-5C89-BDA6-2365D5C4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84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82FF272-E55C-60A4-78A0-270C422EC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03C8966-1F9F-A36A-BB9C-9B7179E82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8FF456-3406-4189-8CAF-6409C7F6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28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3D14D-EAC6-8CC6-4566-66FE32AC4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AF9E8-AFB3-29E1-A450-05B6DB4C0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B379CED-8837-9777-2EDE-F04392A2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F08664-ED90-BD9E-47A2-91886F99C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AA0AE3-6FEE-4D8A-2108-1A9E7AAD2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31FFC8B-1E64-D867-A483-7A7442084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58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A53B19-860D-6BE6-6464-5BEE51B0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168306-EDC3-BFCE-FCE0-08B278A41F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6494400-831A-3506-590F-1485D4EEC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A1220B9-6A08-759D-801A-A6857AF2E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DDB1A3-E2E3-5725-4D85-26310E8A5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58FDF0B-6528-7469-4D62-C8E74215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00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A3E843-0F2C-96BA-2887-7402BB8E7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6FB5654-5F2D-D59A-77D4-3B61C813B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3CE143D-B03C-DC4F-E0A3-5ED309E9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3A81B-0007-BD90-A8D9-F016FA7A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D80CC7-7D70-2ED6-2DC9-6A58735AE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5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92434-4474-910E-9390-6ECBE1969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347032C-6D09-F67B-68D2-D695716306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7A1CA9-893A-7428-88D7-B351EE153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355BBE-EA85-8F5F-EE88-19EACAD1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0AEC4F-A6B6-9F8D-20B2-C848EB8C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73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D8F2DD9-DBFC-1AEE-A314-ED95E912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799DEE5-2AE0-9D77-1B21-40EDEFC31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405365-FDA0-A4E7-5EA6-B0F906F7C9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94985CD-DC91-78C7-E319-1E1B97D08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072ED9-82CD-DA4F-2D67-F9E6B123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4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it-IT" sz="2500"/>
              <a:t>Advanced Visualization and Latent Space Fusion for Clinical Heart Disease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it-IT" sz="1700" dirty="0"/>
              <a:t>Scientific </a:t>
            </a:r>
            <a:r>
              <a:rPr lang="it-IT" sz="1700"/>
              <a:t>Visualization</a:t>
            </a:r>
            <a:r>
              <a:rPr lang="it-IT" sz="1700" dirty="0"/>
              <a:t> Project</a:t>
            </a:r>
          </a:p>
          <a:p>
            <a:r>
              <a:rPr lang="it-IT" sz="1700" dirty="0"/>
              <a:t>D’Elia Corinne, Filice Martina Università degli Studi di Milano. Corso di Laurea Magistrale, Informatica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DFA4ACB-DBC2-3AA5-99C8-509E44952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1" r="16968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953435"/>
          </a:xfrm>
        </p:spPr>
        <p:txBody>
          <a:bodyPr>
            <a:normAutofit/>
          </a:bodyPr>
          <a:lstStyle/>
          <a:p>
            <a:pPr lvl="0"/>
            <a:r>
              <a:rPr lang="it-IT" b="1" dirty="0"/>
              <a:t>Clinical </a:t>
            </a:r>
            <a:r>
              <a:rPr lang="it-IT" b="1" dirty="0" err="1"/>
              <a:t>Relevance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Cardiovascular</a:t>
            </a:r>
            <a:r>
              <a:rPr lang="it-IT" dirty="0"/>
              <a:t> </a:t>
            </a:r>
            <a:r>
              <a:rPr lang="it-IT" dirty="0" err="1"/>
              <a:t>diseases</a:t>
            </a:r>
            <a:r>
              <a:rPr lang="it-IT" dirty="0"/>
              <a:t> </a:t>
            </a:r>
            <a:r>
              <a:rPr lang="it-IT" dirty="0" err="1"/>
              <a:t>remain</a:t>
            </a:r>
            <a:r>
              <a:rPr lang="it-IT" dirty="0"/>
              <a:t> the </a:t>
            </a:r>
            <a:r>
              <a:rPr lang="it-IT" dirty="0" err="1"/>
              <a:t>leading</a:t>
            </a:r>
            <a:r>
              <a:rPr lang="it-IT" dirty="0"/>
              <a:t> cause of </a:t>
            </a:r>
            <a:r>
              <a:rPr lang="it-IT" dirty="0" err="1"/>
              <a:t>mortality</a:t>
            </a:r>
            <a:r>
              <a:rPr lang="it-IT" dirty="0"/>
              <a:t> </a:t>
            </a:r>
            <a:r>
              <a:rPr lang="it-IT" dirty="0" err="1"/>
              <a:t>globally</a:t>
            </a:r>
            <a:r>
              <a:rPr lang="it-IT" dirty="0"/>
              <a:t>, making the </a:t>
            </a:r>
            <a:r>
              <a:rPr lang="it-IT" dirty="0" err="1"/>
              <a:t>development</a:t>
            </a:r>
            <a:r>
              <a:rPr lang="it-IT" dirty="0"/>
              <a:t> of </a:t>
            </a:r>
            <a:r>
              <a:rPr lang="it-IT" dirty="0" err="1"/>
              <a:t>early</a:t>
            </a:r>
            <a:r>
              <a:rPr lang="it-IT" dirty="0"/>
              <a:t>, </a:t>
            </a:r>
            <a:r>
              <a:rPr lang="it-IT" dirty="0" err="1"/>
              <a:t>robust</a:t>
            </a:r>
            <a:r>
              <a:rPr lang="it-IT" dirty="0"/>
              <a:t>, and </a:t>
            </a:r>
            <a:r>
              <a:rPr lang="it-IT" dirty="0" err="1"/>
              <a:t>interpretable</a:t>
            </a:r>
            <a:r>
              <a:rPr lang="it-IT" dirty="0"/>
              <a:t> screening systems </a:t>
            </a:r>
            <a:r>
              <a:rPr lang="it-IT" dirty="0" err="1"/>
              <a:t>crucial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Parameter</a:t>
            </a:r>
            <a:r>
              <a:rPr lang="it-IT" b="1" dirty="0"/>
              <a:t> Integration:</a:t>
            </a:r>
            <a:r>
              <a:rPr lang="it-IT" dirty="0"/>
              <a:t> </a:t>
            </a:r>
            <a:r>
              <a:rPr lang="it-IT" dirty="0" err="1"/>
              <a:t>Modern</a:t>
            </a:r>
            <a:r>
              <a:rPr lang="it-IT" dirty="0"/>
              <a:t> </a:t>
            </a:r>
            <a:r>
              <a:rPr lang="it-IT" dirty="0" err="1"/>
              <a:t>diagnostic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 </a:t>
            </a:r>
            <a:r>
              <a:rPr lang="it-IT" dirty="0" err="1"/>
              <a:t>requires</a:t>
            </a:r>
            <a:r>
              <a:rPr lang="it-IT" dirty="0"/>
              <a:t> </a:t>
            </a:r>
            <a:r>
              <a:rPr lang="it-IT" dirty="0" err="1"/>
              <a:t>convergence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(baseline history) and </a:t>
            </a:r>
            <a:r>
              <a:rPr lang="it-IT" dirty="0" err="1"/>
              <a:t>dynamic</a:t>
            </a:r>
            <a:r>
              <a:rPr lang="it-IT" dirty="0"/>
              <a:t> </a:t>
            </a:r>
            <a:r>
              <a:rPr lang="it-IT" dirty="0" err="1"/>
              <a:t>hemodynamic</a:t>
            </a:r>
            <a:r>
              <a:rPr lang="it-IT" dirty="0"/>
              <a:t> </a:t>
            </a:r>
            <a:r>
              <a:rPr lang="it-IT" dirty="0" err="1"/>
              <a:t>biomarkers</a:t>
            </a:r>
            <a:r>
              <a:rPr lang="it-IT" dirty="0"/>
              <a:t> </a:t>
            </a:r>
            <a:r>
              <a:rPr lang="it-IT" dirty="0" err="1"/>
              <a:t>extracted</a:t>
            </a:r>
            <a:r>
              <a:rPr lang="it-IT" dirty="0"/>
              <a:t> under stress (stress test).</a:t>
            </a:r>
          </a:p>
          <a:p>
            <a:pPr lvl="0"/>
            <a:r>
              <a:rPr lang="it-IT" b="1" dirty="0"/>
              <a:t>Visual Analytics &amp; </a:t>
            </a:r>
            <a:r>
              <a:rPr lang="it-IT" b="1" dirty="0" err="1"/>
              <a:t>Explainable</a:t>
            </a:r>
            <a:r>
              <a:rPr lang="it-IT" b="1" dirty="0"/>
              <a:t> AI (XAI):</a:t>
            </a:r>
            <a:r>
              <a:rPr lang="it-IT" dirty="0"/>
              <a:t> The project </a:t>
            </a:r>
            <a:r>
              <a:rPr lang="it-IT" dirty="0" err="1"/>
              <a:t>aims</a:t>
            </a:r>
            <a:r>
              <a:rPr lang="it-IT" dirty="0"/>
              <a:t> to </a:t>
            </a:r>
            <a:r>
              <a:rPr lang="it-IT" dirty="0" err="1"/>
              <a:t>overcome</a:t>
            </a:r>
            <a:r>
              <a:rPr lang="it-IT" dirty="0"/>
              <a:t> the </a:t>
            </a:r>
            <a:r>
              <a:rPr lang="it-IT" dirty="0" err="1"/>
              <a:t>opaque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 of "black-box" </a:t>
            </a:r>
            <a:r>
              <a:rPr lang="it-IT" dirty="0" err="1"/>
              <a:t>computational</a:t>
            </a:r>
            <a:r>
              <a:rPr lang="it-IT" dirty="0"/>
              <a:t> models by </a:t>
            </a:r>
            <a:r>
              <a:rPr lang="it-IT" dirty="0" err="1"/>
              <a:t>prioritizing</a:t>
            </a:r>
            <a:r>
              <a:rPr lang="it-IT" dirty="0"/>
              <a:t> </a:t>
            </a:r>
            <a:r>
              <a:rPr lang="it-IT" dirty="0" err="1"/>
              <a:t>transparency</a:t>
            </a:r>
            <a:r>
              <a:rPr lang="it-IT" dirty="0"/>
              <a:t> and </a:t>
            </a:r>
            <a:r>
              <a:rPr lang="it-IT" dirty="0" err="1"/>
              <a:t>structural</a:t>
            </a:r>
            <a:r>
              <a:rPr lang="it-IT" dirty="0"/>
              <a:t> data </a:t>
            </a:r>
            <a:r>
              <a:rPr lang="it-IT" dirty="0" err="1"/>
              <a:t>validation</a:t>
            </a:r>
            <a:endParaRPr lang="it-IT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555669"/>
            <a:ext cx="7615656" cy="4692738"/>
          </a:xfrm>
        </p:spPr>
        <p:txBody>
          <a:bodyPr>
            <a:noAutofit/>
          </a:bodyPr>
          <a:lstStyle/>
          <a:p>
            <a:pPr lvl="0"/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Input Volume vs. Real Data: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raw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dataset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entering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pipeline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had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 large volume of 1025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records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Inspection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and Duplicate </a:t>
            </a: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Removal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initial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data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quality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audit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detected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redundancy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isolating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eliminating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723 duplicate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rows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from the file.</a:t>
            </a:r>
          </a:p>
          <a:p>
            <a:pPr lvl="0"/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Data Leakage </a:t>
            </a: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Prevention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Cleaning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reduced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dataset to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its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true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net size of 302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unique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patients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critical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methodological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step to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prevent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overfitting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predictive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models.</a:t>
            </a:r>
          </a:p>
          <a:p>
            <a:pPr lvl="0"/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Target </a:t>
            </a: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Balance: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On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clean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the target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variable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shows an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optimal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balance: 138 Class 0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subjects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and 164 Class 1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Multi-View </a:t>
            </a: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Partitioning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feature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organized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into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independent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information sources:</a:t>
            </a:r>
          </a:p>
          <a:p>
            <a:pPr lvl="1"/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Clinical &amp; </a:t>
            </a: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View (View 1):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Combines core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resting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baseline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parameters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(age,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lvl="1"/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&amp; Stress Test View (View 2):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Isolates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dynamic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functional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parameters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extracted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under stress (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745A8FB-7AE6-BB0C-5EE6-6A92CB442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Autofit/>
          </a:bodyPr>
          <a:lstStyle/>
          <a:p>
            <a:r>
              <a:rPr lang="it-IT" sz="2500" dirty="0">
                <a:latin typeface="Arial" panose="020B0604020202020204" pitchFamily="34" charset="0"/>
                <a:cs typeface="Arial" panose="020B0604020202020204" pitchFamily="34" charset="0"/>
              </a:rPr>
              <a:t>Target Class Distribution &amp; Balance </a:t>
            </a:r>
            <a:r>
              <a:rPr lang="it-IT" sz="2500" dirty="0" err="1"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br>
              <a:rPr lang="it-IT" sz="2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C176B5-1C05-316B-4206-CF862AB2C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1" y="2807208"/>
            <a:ext cx="2802433" cy="3633176"/>
          </a:xfrm>
        </p:spPr>
        <p:txBody>
          <a:bodyPr anchor="t">
            <a:noAutofit/>
          </a:bodyPr>
          <a:lstStyle/>
          <a:p>
            <a:pPr lvl="0"/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Class Frequency and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Structure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Composition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Following the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removal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exact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duplicate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records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, the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consolidated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consists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of 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302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unique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instances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Breakdown: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The dataset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split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into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138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instances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of Class 0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and 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164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instances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of Class 1</a:t>
            </a: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Class Balance &amp;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Methodological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Implication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Proportional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Equilibrium: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The bar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distribution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indicates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near-balanced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representation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target groups (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approx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. 45.7% vs 54.3%).</a:t>
            </a:r>
          </a:p>
          <a:p>
            <a:pPr lvl="1"/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Downstream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Robustness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balance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prevents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extreme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skewness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supporting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stable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predictive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performance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without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requiring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aggressive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oversampling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techniques</a:t>
            </a:r>
          </a:p>
          <a:p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0964B9D7-4B69-E68F-5D6B-3DBF4F5C3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720330"/>
            <a:ext cx="517779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100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Outlier Boundary Definition &amp; Detection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1" y="2807207"/>
            <a:ext cx="2802433" cy="3744063"/>
          </a:xfrm>
        </p:spPr>
        <p:txBody>
          <a:bodyPr anchor="t">
            <a:noAutofit/>
          </a:bodyPr>
          <a:lstStyle/>
          <a:p>
            <a:pPr lvl="0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Anomalies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Application of the Interquartile Range (IQR)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statistical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multi-panel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feature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define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normality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boundaries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statistical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per target class.</a:t>
            </a:r>
          </a:p>
          <a:p>
            <a:pPr lvl="0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Detection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of Out-of-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Threshold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Features:</a:t>
            </a: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Multi-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Stratification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visualized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in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six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-panel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distribution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plots (age,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stratified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by target class (0 / 1),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several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display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dispersed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observation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points and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beyond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standard whiskers.</a:t>
            </a:r>
          </a:p>
          <a:p>
            <a:pPr lvl="1"/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IPYNB</a:t>
            </a:r>
          </a:p>
          <a:p>
            <a:pPr lvl="1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Extremes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Parameters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serum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cholesterol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resting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blood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pressure (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), and ST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depression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exhibit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individual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data points stretching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into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upper or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lower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tails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capturing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valid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extremes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Clinical Management Strategy: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controlled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retention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these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distributional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within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analytical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workflow—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rather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their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blind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removal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—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essential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realistic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clinical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phenotypes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and high-risk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profiles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machine learning models must account for</a:t>
            </a:r>
          </a:p>
          <a:p>
            <a:pPr marL="0" indent="0">
              <a:buNone/>
            </a:pP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25F12A3-4107-E39B-2524-271CA2A6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836830"/>
            <a:ext cx="5177790" cy="3184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 err="1"/>
              <a:t>Standardization</a:t>
            </a:r>
            <a:r>
              <a:rPr lang="it-IT" b="1" dirty="0"/>
              <a:t> and </a:t>
            </a:r>
            <a:r>
              <a:rPr lang="it-IT" b="1" dirty="0" err="1"/>
              <a:t>preprocessing</a:t>
            </a:r>
            <a:r>
              <a:rPr lang="it-IT" b="1" dirty="0"/>
              <a:t> pipeline:</a:t>
            </a:r>
            <a:endParaRPr lang="it-IT" dirty="0"/>
          </a:p>
          <a:p>
            <a:pPr lvl="1"/>
            <a:r>
              <a:rPr lang="it-IT" b="1" dirty="0"/>
              <a:t>Why </a:t>
            </a:r>
            <a:r>
              <a:rPr lang="it-IT" b="1" dirty="0" err="1"/>
              <a:t>is</a:t>
            </a:r>
            <a:r>
              <a:rPr lang="it-IT" b="1" dirty="0"/>
              <a:t> </a:t>
            </a:r>
            <a:r>
              <a:rPr lang="it-IT" b="1" dirty="0" err="1"/>
              <a:t>this</a:t>
            </a:r>
            <a:r>
              <a:rPr lang="it-IT" b="1" dirty="0"/>
              <a:t> </a:t>
            </a:r>
            <a:r>
              <a:rPr lang="it-IT" b="1" dirty="0" err="1"/>
              <a:t>necessary</a:t>
            </a:r>
            <a:r>
              <a:rPr lang="it-IT" b="1" dirty="0"/>
              <a:t>?</a:t>
            </a:r>
            <a:r>
              <a:rPr lang="it-IT" dirty="0"/>
              <a:t> </a:t>
            </a:r>
            <a:r>
              <a:rPr lang="it-IT" dirty="0" err="1"/>
              <a:t>Variables</a:t>
            </a:r>
            <a:r>
              <a:rPr lang="it-IT" dirty="0"/>
              <a:t> like </a:t>
            </a:r>
            <a:r>
              <a:rPr lang="it-IT" dirty="0" err="1"/>
              <a:t>serum</a:t>
            </a:r>
            <a:r>
              <a:rPr lang="it-IT" dirty="0"/>
              <a:t> </a:t>
            </a:r>
            <a:r>
              <a:rPr lang="it-IT" dirty="0" err="1"/>
              <a:t>cholesterol</a:t>
            </a:r>
            <a:r>
              <a:rPr lang="it-IT" dirty="0"/>
              <a:t> (</a:t>
            </a:r>
            <a:r>
              <a:rPr lang="it-IT" dirty="0" err="1"/>
              <a:t>chol</a:t>
            </a:r>
            <a:r>
              <a:rPr lang="it-IT" dirty="0"/>
              <a:t>) </a:t>
            </a:r>
            <a:r>
              <a:rPr lang="it-IT" dirty="0" err="1"/>
              <a:t>reach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400, </a:t>
            </a:r>
            <a:r>
              <a:rPr lang="it-IT" dirty="0" err="1"/>
              <a:t>while</a:t>
            </a:r>
            <a:r>
              <a:rPr lang="it-IT" dirty="0"/>
              <a:t> ST-</a:t>
            </a:r>
            <a:r>
              <a:rPr lang="it-IT" dirty="0" err="1"/>
              <a:t>depression</a:t>
            </a:r>
            <a:r>
              <a:rPr lang="it-IT" dirty="0"/>
              <a:t> (</a:t>
            </a:r>
            <a:r>
              <a:rPr lang="it-IT" dirty="0" err="1"/>
              <a:t>oldpeak</a:t>
            </a:r>
            <a:r>
              <a:rPr lang="it-IT" dirty="0"/>
              <a:t>) ranges </a:t>
            </a:r>
            <a:r>
              <a:rPr lang="it-IT" dirty="0" err="1"/>
              <a:t>between</a:t>
            </a:r>
            <a:r>
              <a:rPr lang="it-IT" dirty="0"/>
              <a:t> -2 and 6. </a:t>
            </a:r>
            <a:r>
              <a:rPr lang="it-IT" dirty="0" err="1"/>
              <a:t>Without</a:t>
            </a:r>
            <a:r>
              <a:rPr lang="it-IT" dirty="0"/>
              <a:t> scaling, the 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be </a:t>
            </a:r>
            <a:r>
              <a:rPr lang="it-IT" dirty="0" err="1"/>
              <a:t>dominated</a:t>
            </a:r>
            <a:r>
              <a:rPr lang="it-IT" dirty="0"/>
              <a:t> by </a:t>
            </a:r>
            <a:r>
              <a:rPr lang="it-IT" dirty="0" err="1"/>
              <a:t>variables</a:t>
            </a:r>
            <a:r>
              <a:rPr lang="it-IT" dirty="0"/>
              <a:t> with </a:t>
            </a:r>
            <a:r>
              <a:rPr lang="it-IT" dirty="0" err="1"/>
              <a:t>larger</a:t>
            </a:r>
            <a:r>
              <a:rPr lang="it-IT" dirty="0"/>
              <a:t> </a:t>
            </a:r>
            <a:r>
              <a:rPr lang="it-IT" dirty="0" err="1"/>
              <a:t>magnitudes</a:t>
            </a:r>
            <a:r>
              <a:rPr lang="it-IT" dirty="0"/>
              <a:t>.</a:t>
            </a:r>
          </a:p>
          <a:p>
            <a:pPr lvl="1"/>
            <a:r>
              <a:rPr lang="it-IT" b="1" dirty="0"/>
              <a:t>Applied pipeline:</a:t>
            </a:r>
            <a:r>
              <a:rPr lang="it-IT" dirty="0"/>
              <a:t> Using </a:t>
            </a:r>
            <a:r>
              <a:rPr lang="it-IT" dirty="0" err="1"/>
              <a:t>StandardScaler</a:t>
            </a:r>
            <a:r>
              <a:rPr lang="it-IT" dirty="0"/>
              <a:t> (</a:t>
            </a:r>
            <a:r>
              <a:rPr lang="it-IT" dirty="0" err="1"/>
              <a:t>Z</a:t>
            </a:r>
            <a:r>
              <a:rPr lang="it-IT" dirty="0"/>
              <a:t>-score </a:t>
            </a:r>
            <a:r>
              <a:rPr lang="it-IT" dirty="0" err="1"/>
              <a:t>normalization</a:t>
            </a:r>
            <a:r>
              <a:rPr lang="it-IT" dirty="0"/>
              <a:t>), </a:t>
            </a:r>
            <a:r>
              <a:rPr lang="it-IT" dirty="0" err="1"/>
              <a:t>centering</a:t>
            </a:r>
            <a:r>
              <a:rPr lang="it-IT" dirty="0"/>
              <a:t> the </a:t>
            </a:r>
            <a:r>
              <a:rPr lang="it-IT" dirty="0" err="1"/>
              <a:t>mean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0 and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1 to </a:t>
            </a:r>
            <a:r>
              <a:rPr lang="it-IT" dirty="0" err="1"/>
              <a:t>ensure</a:t>
            </a:r>
            <a:r>
              <a:rPr lang="it-IT" dirty="0"/>
              <a:t> </a:t>
            </a:r>
            <a:r>
              <a:rPr lang="it-IT" dirty="0" err="1"/>
              <a:t>computational</a:t>
            </a:r>
            <a:r>
              <a:rPr lang="it-IT" dirty="0"/>
              <a:t> </a:t>
            </a:r>
            <a:r>
              <a:rPr lang="it-IT" dirty="0" err="1"/>
              <a:t>fairness</a:t>
            </a:r>
            <a:r>
              <a:rPr lang="it-IT" dirty="0"/>
              <a:t> in PCA and K-Means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/>
              <a:t>Feature Interaction Space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</p:spPr>
            <p:txBody>
              <a:bodyPr anchor="t">
                <a:noAutofit/>
              </a:bodyPr>
              <a:lstStyle/>
              <a:p>
                <a:pPr lvl="0"/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Continuous Feature </a:t>
                </a:r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Interplay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analysis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Pearson product-moment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matrix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restricted to the core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clinical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parameters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(age,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 to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map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strength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direction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linear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/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Identification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of Key Inter-Feature Patterns:</a:t>
                </a:r>
                <a:endParaRPr lang="it-IT" sz="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Inverse </a:t>
                </a:r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Chronotropic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Association: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 A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marked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negative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observed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age (age) and maximum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heart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rate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achieved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under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exercise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14:m>
                  <m:oMath xmlns:m="http://schemas.openxmlformats.org/officeDocument/2006/math">
                    <m:r>
                      <a:rPr lang="it-IT" sz="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800">
                        <a:latin typeface="Cambria Math" panose="02040503050406030204" pitchFamily="18" charset="0"/>
                      </a:rPr>
                      <m:t>=−0.40</m:t>
                    </m:r>
                  </m:oMath>
                </a14:m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reflecting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natural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physiological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decline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chronotropic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reserve</a:t>
                </a:r>
                <a:endParaRPr lang="it-IT" sz="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Direct </a:t>
                </a:r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Hemodynamic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Associations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 Positive linear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detected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age and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resting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blood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pressure (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14:m>
                  <m:oMath xmlns:m="http://schemas.openxmlformats.org/officeDocument/2006/math">
                    <m:r>
                      <a:rPr lang="it-IT" sz="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800">
                        <a:latin typeface="Cambria Math" panose="02040503050406030204" pitchFamily="18" charset="0"/>
                      </a:rPr>
                      <m:t>=0.28</m:t>
                    </m:r>
                  </m:oMath>
                </a14:m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well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serum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cholesterol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14:m>
                  <m:oMath xmlns:m="http://schemas.openxmlformats.org/officeDocument/2006/math">
                    <m:r>
                      <a:rPr lang="it-IT" sz="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800">
                        <a:latin typeface="Cambria Math" panose="02040503050406030204" pitchFamily="18" charset="0"/>
                      </a:rPr>
                      <m:t>=0.21</m:t>
                    </m:r>
                  </m:oMath>
                </a14:m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confirming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expected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cardiovascular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aging trends.</a:t>
                </a:r>
              </a:p>
              <a:p>
                <a:pPr lvl="1"/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Stress-Test Interaction: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 An inverse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visible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maximum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heart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rate (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 and ST-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segment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depression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14:m>
                  <m:oMath xmlns:m="http://schemas.openxmlformats.org/officeDocument/2006/math">
                    <m:r>
                      <a:rPr lang="it-IT" sz="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800">
                        <a:latin typeface="Cambria Math" panose="02040503050406030204" pitchFamily="18" charset="0"/>
                      </a:rPr>
                      <m:t>=−0.34</m:t>
                    </m:r>
                  </m:oMath>
                </a14:m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lvl="0"/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Overall </a:t>
                </a:r>
                <a:r>
                  <a:rPr lang="it-IT" sz="8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Analytical</a:t>
                </a:r>
                <a:r>
                  <a:rPr lang="it-IT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Value: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This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screening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an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essential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exploratory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 of the workflow: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maps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internal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collinearity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architecture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among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biomarkers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ensuring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stability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justifying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subsequent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latent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endParaRPr lang="it-IT" sz="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  <a:blipFill>
                <a:blip r:embed="rId2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604970-0892-6A99-0BF1-8F2C1E6E2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247856"/>
            <a:ext cx="5177790" cy="4362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Non-Linearity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it-IT" b="1" dirty="0"/>
              <a:t>Limits of Plane Linear Analysis:</a:t>
            </a:r>
            <a:endParaRPr lang="it-IT" dirty="0"/>
          </a:p>
          <a:p>
            <a:pPr lvl="1"/>
            <a:r>
              <a:rPr lang="it-IT" b="1" dirty="0"/>
              <a:t>Signal </a:t>
            </a:r>
            <a:r>
              <a:rPr lang="it-IT" b="1" dirty="0" err="1"/>
              <a:t>Fragmentation</a:t>
            </a:r>
            <a:r>
              <a:rPr lang="it-IT" b="1" dirty="0"/>
              <a:t>:</a:t>
            </a:r>
            <a:r>
              <a:rPr lang="it-IT" dirty="0"/>
              <a:t> Classic </a:t>
            </a:r>
            <a:r>
              <a:rPr lang="it-IT" dirty="0" err="1"/>
              <a:t>bivariate</a:t>
            </a:r>
            <a:r>
              <a:rPr lang="it-IT" dirty="0"/>
              <a:t> </a:t>
            </a:r>
            <a:r>
              <a:rPr lang="it-IT" dirty="0" err="1"/>
              <a:t>matrices</a:t>
            </a:r>
            <a:r>
              <a:rPr lang="it-IT" dirty="0"/>
              <a:t> (e.g., Pearson)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biomarkers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in </a:t>
            </a:r>
            <a:r>
              <a:rPr lang="it-IT" dirty="0" err="1"/>
              <a:t>isolated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Complex</a:t>
            </a:r>
            <a:r>
              <a:rPr lang="it-IT" b="1" dirty="0"/>
              <a:t> Interactions:</a:t>
            </a:r>
            <a:r>
              <a:rPr lang="it-IT" dirty="0"/>
              <a:t> 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cardiovascular</a:t>
            </a:r>
            <a:r>
              <a:rPr lang="it-IT" dirty="0"/>
              <a:t> risk </a:t>
            </a:r>
            <a:r>
              <a:rPr lang="it-IT" dirty="0" err="1"/>
              <a:t>does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follow linear trends;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interact</a:t>
            </a:r>
            <a:r>
              <a:rPr lang="it-IT" dirty="0"/>
              <a:t> in a multivariate </a:t>
            </a:r>
            <a:r>
              <a:rPr lang="it-IT" dirty="0" err="1"/>
              <a:t>manner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The Solution: </a:t>
            </a:r>
            <a:r>
              <a:rPr lang="it-IT" b="1" dirty="0" err="1"/>
              <a:t>Geometric</a:t>
            </a:r>
            <a:r>
              <a:rPr lang="it-IT" b="1" dirty="0"/>
              <a:t> </a:t>
            </a: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Spaces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Dimensional</a:t>
            </a:r>
            <a:r>
              <a:rPr lang="it-IT" b="1" dirty="0"/>
              <a:t> </a:t>
            </a:r>
            <a:r>
              <a:rPr lang="it-IT" b="1" dirty="0" err="1"/>
              <a:t>Reduction</a:t>
            </a:r>
            <a:r>
              <a:rPr lang="it-IT" b="1" dirty="0"/>
              <a:t>:</a:t>
            </a:r>
            <a:r>
              <a:rPr lang="it-IT" dirty="0"/>
              <a:t> Mathematical </a:t>
            </a:r>
            <a:r>
              <a:rPr lang="it-IT" dirty="0" err="1"/>
              <a:t>need</a:t>
            </a:r>
            <a:r>
              <a:rPr lang="it-IT" dirty="0"/>
              <a:t> to </a:t>
            </a:r>
            <a:r>
              <a:rPr lang="it-IT" dirty="0" err="1"/>
              <a:t>map</a:t>
            </a:r>
            <a:r>
              <a:rPr lang="it-IT" dirty="0"/>
              <a:t> the 303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a </a:t>
            </a:r>
            <a:r>
              <a:rPr lang="it-IT" dirty="0" err="1"/>
              <a:t>multidimensional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Orthogonal</a:t>
            </a:r>
            <a:r>
              <a:rPr lang="it-IT" b="1" dirty="0"/>
              <a:t> </a:t>
            </a:r>
            <a:r>
              <a:rPr lang="it-IT" b="1" dirty="0" err="1"/>
              <a:t>Projection</a:t>
            </a:r>
            <a:r>
              <a:rPr lang="it-IT" b="1" dirty="0"/>
              <a:t> (PCA):</a:t>
            </a:r>
            <a:r>
              <a:rPr lang="it-IT" dirty="0"/>
              <a:t> </a:t>
            </a:r>
            <a:r>
              <a:rPr lang="it-IT" dirty="0" err="1"/>
              <a:t>Transition</a:t>
            </a:r>
            <a:r>
              <a:rPr lang="it-IT" dirty="0"/>
              <a:t> to </a:t>
            </a:r>
            <a:r>
              <a:rPr lang="it-IT" dirty="0" err="1"/>
              <a:t>principal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 (PC1 and PC2) to </a:t>
            </a:r>
            <a:r>
              <a:rPr lang="it-IT" dirty="0" err="1"/>
              <a:t>compress</a:t>
            </a:r>
            <a:r>
              <a:rPr lang="it-IT" dirty="0"/>
              <a:t> the global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loss</a:t>
            </a:r>
            <a:r>
              <a:rPr lang="it-IT" dirty="0"/>
              <a:t> of information.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PCA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it-IT" b="1" dirty="0"/>
              <a:t>Principal Component Analysis </a:t>
            </a:r>
            <a:r>
              <a:rPr lang="it-IT" b="1" dirty="0" err="1"/>
              <a:t>methodology</a:t>
            </a:r>
            <a:r>
              <a:rPr lang="it-IT" b="1" dirty="0"/>
              <a:t>. </a:t>
            </a:r>
            <a:r>
              <a:rPr lang="it-IT" b="1" dirty="0" err="1"/>
              <a:t>Algorithm</a:t>
            </a:r>
            <a:r>
              <a:rPr lang="it-IT" b="1" dirty="0"/>
              <a:t> </a:t>
            </a:r>
            <a:r>
              <a:rPr lang="it-IT" b="1" dirty="0" err="1"/>
              <a:t>Methodology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Dataset </a:t>
            </a:r>
            <a:r>
              <a:rPr lang="it-IT" b="1" dirty="0" err="1"/>
              <a:t>Standardization</a:t>
            </a:r>
            <a:r>
              <a:rPr lang="it-IT" b="1" dirty="0"/>
              <a:t>:</a:t>
            </a:r>
            <a:r>
              <a:rPr lang="it-IT" dirty="0"/>
              <a:t> Application of Principal Component Analysis (PCA) on the 5 </a:t>
            </a:r>
            <a:r>
              <a:rPr lang="it-IT" dirty="0" err="1"/>
              <a:t>standardized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features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,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).</a:t>
            </a:r>
          </a:p>
          <a:p>
            <a:pPr lvl="1"/>
            <a:r>
              <a:rPr lang="it-IT" b="1" dirty="0" err="1"/>
              <a:t>Computational</a:t>
            </a:r>
            <a:r>
              <a:rPr lang="it-IT" b="1" dirty="0"/>
              <a:t> </a:t>
            </a:r>
            <a:r>
              <a:rPr lang="it-IT" b="1" dirty="0" err="1"/>
              <a:t>Fairness</a:t>
            </a:r>
            <a:r>
              <a:rPr lang="it-IT" b="1" dirty="0"/>
              <a:t>:</a:t>
            </a:r>
            <a:r>
              <a:rPr lang="it-IT" dirty="0"/>
              <a:t> Scaling </a:t>
            </a:r>
            <a:r>
              <a:rPr lang="it-IT" dirty="0" err="1"/>
              <a:t>prevents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distortion</a:t>
            </a:r>
            <a:r>
              <a:rPr lang="it-IT" dirty="0"/>
              <a:t> </a:t>
            </a:r>
            <a:r>
              <a:rPr lang="it-IT" dirty="0" err="1"/>
              <a:t>caused</a:t>
            </a:r>
            <a:r>
              <a:rPr lang="it-IT" dirty="0"/>
              <a:t> by features with </a:t>
            </a:r>
            <a:r>
              <a:rPr lang="it-IT" dirty="0" err="1"/>
              <a:t>larger</a:t>
            </a:r>
            <a:r>
              <a:rPr lang="it-IT" dirty="0"/>
              <a:t> </a:t>
            </a:r>
            <a:r>
              <a:rPr lang="it-IT" dirty="0" err="1"/>
              <a:t>magnitudes</a:t>
            </a:r>
            <a:r>
              <a:rPr lang="it-IT" dirty="0"/>
              <a:t> (e.g., </a:t>
            </a:r>
            <a:r>
              <a:rPr lang="it-IT" dirty="0" err="1"/>
              <a:t>cholesterol</a:t>
            </a:r>
            <a:r>
              <a:rPr lang="it-IT" dirty="0"/>
              <a:t> vs. </a:t>
            </a:r>
            <a:r>
              <a:rPr lang="it-IT" dirty="0" err="1"/>
              <a:t>oldpeak</a:t>
            </a:r>
            <a:r>
              <a:rPr lang="it-IT" dirty="0"/>
              <a:t>).</a:t>
            </a:r>
          </a:p>
          <a:p>
            <a:pPr lvl="0"/>
            <a:r>
              <a:rPr lang="it-IT" b="1" dirty="0"/>
              <a:t>Decision-Making </a:t>
            </a:r>
            <a:r>
              <a:rPr lang="it-IT" b="1" dirty="0" err="1"/>
              <a:t>Objectives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Variance</a:t>
            </a:r>
            <a:r>
              <a:rPr lang="it-IT" b="1" dirty="0"/>
              <a:t> </a:t>
            </a:r>
            <a:r>
              <a:rPr lang="it-IT" b="1" dirty="0" err="1"/>
              <a:t>Compression</a:t>
            </a:r>
            <a:r>
              <a:rPr lang="it-IT" b="1" dirty="0"/>
              <a:t>:</a:t>
            </a:r>
            <a:r>
              <a:rPr lang="it-IT" dirty="0"/>
              <a:t> Reduce the </a:t>
            </a:r>
            <a:r>
              <a:rPr lang="it-IT" dirty="0" err="1"/>
              <a:t>dimensionality</a:t>
            </a:r>
            <a:r>
              <a:rPr lang="it-IT" dirty="0"/>
              <a:t> of the system by </a:t>
            </a:r>
            <a:r>
              <a:rPr lang="it-IT" dirty="0" err="1"/>
              <a:t>maximizing</a:t>
            </a:r>
            <a:r>
              <a:rPr lang="it-IT" dirty="0"/>
              <a:t>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explained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Geometric</a:t>
            </a:r>
            <a:r>
              <a:rPr lang="it-IT" b="1" dirty="0"/>
              <a:t> </a:t>
            </a:r>
            <a:r>
              <a:rPr lang="it-IT" b="1" dirty="0" err="1"/>
              <a:t>Alignment</a:t>
            </a:r>
            <a:r>
              <a:rPr lang="it-IT" b="1" dirty="0"/>
              <a:t>:</a:t>
            </a:r>
            <a:r>
              <a:rPr lang="it-IT" dirty="0"/>
              <a:t> Project the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behavior</a:t>
            </a:r>
            <a:r>
              <a:rPr lang="it-IT" dirty="0"/>
              <a:t> of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onto</a:t>
            </a:r>
            <a:r>
              <a:rPr lang="it-IT" dirty="0"/>
              <a:t> the first </a:t>
            </a:r>
            <a:r>
              <a:rPr lang="it-IT" dirty="0" err="1"/>
              <a:t>two</a:t>
            </a:r>
            <a:r>
              <a:rPr lang="it-IT" dirty="0"/>
              <a:t> Principal Components (PC1 and PC2) to isolate the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structure</a:t>
            </a:r>
            <a:r>
              <a:rPr lang="it-IT" dirty="0"/>
              <a:t> of the dataset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E419129-E7B6-05D5-07B7-D05CBD143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/>
              <a:t>PCA Global Scree Plot &amp; Cumulative Variance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EE0EEF-E340-8263-20C6-E2275041B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815" y="2807208"/>
            <a:ext cx="2686137" cy="3760498"/>
          </a:xfrm>
        </p:spPr>
        <p:txBody>
          <a:bodyPr anchor="t">
            <a:normAutofit fontScale="47500" lnSpcReduction="20000"/>
          </a:bodyPr>
          <a:lstStyle/>
          <a:p>
            <a:pPr lvl="0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Global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Decomposition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Application of Principal Component Analysis (PCA) on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standardized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the 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5 core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clinical features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(age,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to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quantify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information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compression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rate of the system.</a:t>
            </a:r>
          </a:p>
          <a:p>
            <a:pPr lvl="0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Cumulative Curve: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The progressive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trajectory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line with markers) shows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5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principal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components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 The first component alone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explains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over 35% of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reflecting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primary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underlying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axes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Critical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Threshold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Intercept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dashed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reference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line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80%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conserved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crossed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 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3rd and 4th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principal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components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mathematically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demonstrates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compressing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feature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preserves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most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system's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variability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while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effectively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eliminating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redundancy</a:t>
            </a: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67814DB-632B-0B8B-5B64-2A7D795E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11581"/>
            <a:ext cx="5177790" cy="283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1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300"/>
              <a:t>PCA Biplot Representation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4101084" cy="3835502"/>
          </a:xfrm>
        </p:spPr>
        <p:txBody>
          <a:bodyPr anchor="t">
            <a:normAutofit fontScale="47500" lnSpcReduction="20000"/>
          </a:bodyPr>
          <a:lstStyle/>
          <a:p>
            <a:pPr lvl="0"/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Multidimensional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Space: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Simultaneous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projection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profiles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and feature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vectors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onto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Cartesian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composed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the first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principal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components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explained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 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57.6%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(PC1: 36.0%, PC2: 21.6%).</a:t>
            </a:r>
          </a:p>
          <a:p>
            <a:pPr lvl="0"/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Interpretation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Vectors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(Loadings):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orientation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arrows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indicate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strength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direction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which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the 5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(age,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shapes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and Risk Drivers:</a:t>
            </a: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maximum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heart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rate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orient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sharply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negative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half-plane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PC1</a:t>
            </a:r>
          </a:p>
          <a:p>
            <a:pPr lvl="1"/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Aging (age),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resting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blood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pressure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), and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cholesterol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project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positive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values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PC1 and PC2.</a:t>
            </a:r>
          </a:p>
          <a:p>
            <a:pPr lvl="1"/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ST-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segment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depression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extends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towards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lower-right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quadrant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Clinical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The points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reveal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 clear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polarization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on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actual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target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categories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: Class 0 (blue dots) and Class 1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dots) show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distinct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distributional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tendencies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Dynamics: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biplot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confirms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clinical and stress-test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biomarkers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naturally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drive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without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requiring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supervised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CB3E494-11B6-7D1A-8DD2-E22570D96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1847605"/>
            <a:ext cx="4094226" cy="31627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Geometric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it-IT" b="1" dirty="0"/>
              <a:t>Feature Loadings:</a:t>
            </a:r>
            <a:endParaRPr lang="it-IT" dirty="0"/>
          </a:p>
          <a:p>
            <a:pPr lvl="1"/>
            <a:r>
              <a:rPr lang="it-IT" b="1" dirty="0"/>
              <a:t>Clinical Bias:</a:t>
            </a:r>
            <a:r>
              <a:rPr lang="it-IT" dirty="0"/>
              <a:t> The </a:t>
            </a:r>
            <a:r>
              <a:rPr lang="it-IT" dirty="0" err="1"/>
              <a:t>direction</a:t>
            </a:r>
            <a:r>
              <a:rPr lang="it-IT" dirty="0"/>
              <a:t> of the </a:t>
            </a:r>
            <a:r>
              <a:rPr lang="it-IT" dirty="0" err="1"/>
              <a:t>arrows</a:t>
            </a:r>
            <a:r>
              <a:rPr lang="it-IT" dirty="0"/>
              <a:t> </a:t>
            </a:r>
            <a:r>
              <a:rPr lang="it-IT" dirty="0" err="1"/>
              <a:t>indicates</a:t>
            </a:r>
            <a:r>
              <a:rPr lang="it-IT" dirty="0"/>
              <a:t>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. </a:t>
            </a:r>
            <a:r>
              <a:rPr lang="it-IT" dirty="0" err="1"/>
              <a:t>Vectors</a:t>
            </a:r>
            <a:r>
              <a:rPr lang="it-IT" dirty="0"/>
              <a:t>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 </a:t>
            </a:r>
            <a:r>
              <a:rPr lang="it-IT" dirty="0" err="1"/>
              <a:t>oldpeak</a:t>
            </a:r>
            <a:r>
              <a:rPr lang="it-IT" dirty="0"/>
              <a:t> and age </a:t>
            </a:r>
            <a:r>
              <a:rPr lang="it-IT" dirty="0" err="1"/>
              <a:t>skew</a:t>
            </a:r>
            <a:r>
              <a:rPr lang="it-IT" dirty="0"/>
              <a:t> </a:t>
            </a:r>
            <a:r>
              <a:rPr lang="it-IT" dirty="0" err="1"/>
              <a:t>toward</a:t>
            </a:r>
            <a:r>
              <a:rPr lang="it-IT" dirty="0"/>
              <a:t> the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cohort</a:t>
            </a:r>
            <a:r>
              <a:rPr lang="it-IT" dirty="0"/>
              <a:t>, </a:t>
            </a:r>
            <a:r>
              <a:rPr lang="it-IT" dirty="0" err="1"/>
              <a:t>acting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direct</a:t>
            </a:r>
            <a:r>
              <a:rPr lang="it-IT" dirty="0"/>
              <a:t> drivers of </a:t>
            </a:r>
            <a:r>
              <a:rPr lang="it-IT" dirty="0" err="1"/>
              <a:t>cardiovascular</a:t>
            </a:r>
            <a:r>
              <a:rPr lang="it-IT" dirty="0"/>
              <a:t> risk.</a:t>
            </a:r>
          </a:p>
          <a:p>
            <a:pPr lvl="0"/>
            <a:r>
              <a:rPr lang="it-IT" b="1" dirty="0" err="1"/>
              <a:t>Vector</a:t>
            </a:r>
            <a:r>
              <a:rPr lang="it-IT" b="1" dirty="0"/>
              <a:t> </a:t>
            </a:r>
            <a:r>
              <a:rPr lang="it-IT" b="1" dirty="0" err="1"/>
              <a:t>Magnitude</a:t>
            </a:r>
            <a:r>
              <a:rPr lang="it-IT" b="1" dirty="0"/>
              <a:t> (Weight):</a:t>
            </a:r>
            <a:endParaRPr lang="it-IT" dirty="0"/>
          </a:p>
          <a:p>
            <a:pPr lvl="1"/>
            <a:r>
              <a:rPr lang="it-IT" b="1" dirty="0" err="1"/>
              <a:t>Contribution</a:t>
            </a:r>
            <a:r>
              <a:rPr lang="it-IT" b="1" dirty="0"/>
              <a:t> to </a:t>
            </a:r>
            <a:r>
              <a:rPr lang="it-IT" b="1" dirty="0" err="1"/>
              <a:t>Variance</a:t>
            </a:r>
            <a:r>
              <a:rPr lang="it-IT" b="1" dirty="0"/>
              <a:t>:</a:t>
            </a:r>
            <a:r>
              <a:rPr lang="it-IT" dirty="0"/>
              <a:t> The </a:t>
            </a:r>
            <a:r>
              <a:rPr lang="it-IT" dirty="0" err="1"/>
              <a:t>length</a:t>
            </a:r>
            <a:r>
              <a:rPr lang="it-IT" dirty="0"/>
              <a:t> of the </a:t>
            </a:r>
            <a:r>
              <a:rPr lang="it-IT" dirty="0" err="1"/>
              <a:t>arrows</a:t>
            </a:r>
            <a:r>
              <a:rPr lang="it-IT" dirty="0"/>
              <a:t> </a:t>
            </a:r>
            <a:r>
              <a:rPr lang="it-IT" dirty="0" err="1"/>
              <a:t>expresses</a:t>
            </a:r>
            <a:r>
              <a:rPr lang="it-IT" dirty="0"/>
              <a:t> the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significance</a:t>
            </a:r>
            <a:r>
              <a:rPr lang="it-IT" dirty="0"/>
              <a:t> of the feature. Longer </a:t>
            </a:r>
            <a:r>
              <a:rPr lang="it-IT" dirty="0" err="1"/>
              <a:t>vectors</a:t>
            </a:r>
            <a:r>
              <a:rPr lang="it-IT" dirty="0"/>
              <a:t> indicate </a:t>
            </a:r>
            <a:r>
              <a:rPr lang="it-IT" dirty="0" err="1"/>
              <a:t>biomarkers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contribute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to the </a:t>
            </a:r>
            <a:r>
              <a:rPr lang="it-IT" dirty="0" err="1"/>
              <a:t>construction</a:t>
            </a:r>
            <a:r>
              <a:rPr lang="it-IT" dirty="0"/>
              <a:t> of the first </a:t>
            </a:r>
            <a:r>
              <a:rPr lang="it-IT" dirty="0" err="1"/>
              <a:t>principal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 (PC1 and PC2).</a:t>
            </a:r>
          </a:p>
          <a:p>
            <a:pPr lvl="0"/>
            <a:r>
              <a:rPr lang="it-IT" b="1" dirty="0" err="1"/>
              <a:t>Decision</a:t>
            </a:r>
            <a:r>
              <a:rPr lang="it-IT" b="1" dirty="0"/>
              <a:t> </a:t>
            </a:r>
            <a:r>
              <a:rPr lang="it-IT" b="1" dirty="0" err="1"/>
              <a:t>Boundary</a:t>
            </a:r>
            <a:r>
              <a:rPr lang="it-IT" b="1" dirty="0"/>
              <a:t> (</a:t>
            </a:r>
            <a:r>
              <a:rPr lang="it-IT" b="1" dirty="0" err="1"/>
              <a:t>Separation</a:t>
            </a:r>
            <a:r>
              <a:rPr lang="it-IT" b="1" dirty="0"/>
              <a:t>):</a:t>
            </a:r>
            <a:endParaRPr lang="it-IT" dirty="0"/>
          </a:p>
          <a:p>
            <a:pPr lvl="1"/>
            <a:r>
              <a:rPr lang="it-IT" b="1" dirty="0" err="1"/>
              <a:t>Intrinsic</a:t>
            </a:r>
            <a:r>
              <a:rPr lang="it-IT" b="1" dirty="0"/>
              <a:t> </a:t>
            </a: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 in 2D </a:t>
            </a:r>
            <a:r>
              <a:rPr lang="it-IT" dirty="0" err="1"/>
              <a:t>space</a:t>
            </a:r>
            <a:r>
              <a:rPr lang="it-IT" dirty="0"/>
              <a:t> </a:t>
            </a:r>
            <a:r>
              <a:rPr lang="it-IT" dirty="0" err="1"/>
              <a:t>demonstrates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the </a:t>
            </a:r>
            <a:r>
              <a:rPr lang="it-IT" dirty="0" err="1"/>
              <a:t>segregation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Class 0 and Class 1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entirely</a:t>
            </a:r>
            <a:r>
              <a:rPr lang="it-IT" dirty="0"/>
              <a:t> </a:t>
            </a:r>
            <a:r>
              <a:rPr lang="it-IT" dirty="0" err="1"/>
              <a:t>determined</a:t>
            </a:r>
            <a:r>
              <a:rPr lang="it-IT" dirty="0"/>
              <a:t> by the </a:t>
            </a:r>
            <a:r>
              <a:rPr lang="it-IT" dirty="0" err="1"/>
              <a:t>natural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of the data, </a:t>
            </a:r>
            <a:r>
              <a:rPr lang="it-IT" dirty="0" err="1"/>
              <a:t>without</a:t>
            </a:r>
            <a:r>
              <a:rPr lang="it-IT" dirty="0"/>
              <a:t> the </a:t>
            </a:r>
            <a:r>
              <a:rPr lang="it-IT" dirty="0" err="1"/>
              <a:t>need</a:t>
            </a:r>
            <a:r>
              <a:rPr lang="it-IT" dirty="0"/>
              <a:t> for </a:t>
            </a:r>
            <a:r>
              <a:rPr lang="it-IT" dirty="0" err="1"/>
              <a:t>algorithmic</a:t>
            </a:r>
            <a:r>
              <a:rPr lang="it-IT" dirty="0"/>
              <a:t> </a:t>
            </a:r>
            <a:r>
              <a:rPr lang="it-IT" dirty="0" err="1"/>
              <a:t>supervision</a:t>
            </a:r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700"/>
              <a:t>Variance Explained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fontScale="62500" lnSpcReduction="20000"/>
          </a:bodyPr>
          <a:lstStyle/>
          <a:p>
            <a:pPr lvl="0"/>
            <a:r>
              <a:rPr lang="it-IT" b="1" dirty="0"/>
              <a:t>2D </a:t>
            </a:r>
            <a:r>
              <a:rPr lang="it-IT" b="1" dirty="0" err="1"/>
              <a:t>Latent</a:t>
            </a:r>
            <a:r>
              <a:rPr lang="it-IT" b="1" dirty="0"/>
              <a:t> Space </a:t>
            </a:r>
            <a:r>
              <a:rPr lang="it-IT" b="1" dirty="0" err="1"/>
              <a:t>Projection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Visualization</a:t>
            </a:r>
            <a:r>
              <a:rPr lang="it-IT" dirty="0"/>
              <a:t> of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on the </a:t>
            </a:r>
            <a:r>
              <a:rPr lang="it-IT" dirty="0" err="1"/>
              <a:t>Cartesian</a:t>
            </a:r>
            <a:r>
              <a:rPr lang="it-IT" dirty="0"/>
              <a:t> </a:t>
            </a:r>
            <a:r>
              <a:rPr lang="it-IT" dirty="0" err="1"/>
              <a:t>plane</a:t>
            </a:r>
            <a:r>
              <a:rPr lang="it-IT" dirty="0"/>
              <a:t> </a:t>
            </a:r>
            <a:r>
              <a:rPr lang="it-IT" dirty="0" err="1"/>
              <a:t>defined</a:t>
            </a:r>
            <a:r>
              <a:rPr lang="it-IT" dirty="0"/>
              <a:t> by the first </a:t>
            </a:r>
            <a:r>
              <a:rPr lang="it-IT" dirty="0" err="1"/>
              <a:t>two</a:t>
            </a:r>
            <a:r>
              <a:rPr lang="it-IT" dirty="0"/>
              <a:t> Principal Components (PC1 and PC2) </a:t>
            </a:r>
            <a:r>
              <a:rPr lang="it-IT" dirty="0" err="1"/>
              <a:t>obtained</a:t>
            </a:r>
            <a:r>
              <a:rPr lang="it-IT" dirty="0"/>
              <a:t> from the </a:t>
            </a:r>
            <a:r>
              <a:rPr lang="it-IT" dirty="0" err="1"/>
              <a:t>standardized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features.</a:t>
            </a:r>
          </a:p>
          <a:p>
            <a:pPr lvl="0"/>
            <a:r>
              <a:rPr lang="it-IT" b="1" dirty="0" err="1"/>
              <a:t>Quantification</a:t>
            </a:r>
            <a:r>
              <a:rPr lang="it-IT" b="1" dirty="0"/>
              <a:t> of </a:t>
            </a:r>
            <a:r>
              <a:rPr lang="it-IT" b="1" dirty="0" err="1"/>
              <a:t>Retained</a:t>
            </a:r>
            <a:r>
              <a:rPr lang="it-IT" b="1" dirty="0"/>
              <a:t> Information:</a:t>
            </a:r>
            <a:r>
              <a:rPr lang="it-IT" dirty="0"/>
              <a:t> The x-</a:t>
            </a:r>
            <a:r>
              <a:rPr lang="it-IT" dirty="0" err="1"/>
              <a:t>axis</a:t>
            </a:r>
            <a:r>
              <a:rPr lang="it-IT" dirty="0"/>
              <a:t> (PC1) </a:t>
            </a:r>
            <a:r>
              <a:rPr lang="it-IT" dirty="0" err="1"/>
              <a:t>expresses</a:t>
            </a:r>
            <a:r>
              <a:rPr lang="it-IT" dirty="0"/>
              <a:t> and </a:t>
            </a:r>
            <a:r>
              <a:rPr lang="it-IT" dirty="0" err="1"/>
              <a:t>captures</a:t>
            </a:r>
            <a:r>
              <a:rPr lang="it-IT" dirty="0"/>
              <a:t> 36.0% of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, </a:t>
            </a:r>
            <a:r>
              <a:rPr lang="it-IT" dirty="0" err="1"/>
              <a:t>while</a:t>
            </a:r>
            <a:r>
              <a:rPr lang="it-IT" dirty="0"/>
              <a:t> the y-</a:t>
            </a:r>
            <a:r>
              <a:rPr lang="it-IT" dirty="0" err="1"/>
              <a:t>axis</a:t>
            </a:r>
            <a:r>
              <a:rPr lang="it-IT" dirty="0"/>
              <a:t> (PC2) </a:t>
            </a:r>
            <a:r>
              <a:rPr lang="it-IT" dirty="0" err="1"/>
              <a:t>captures</a:t>
            </a:r>
            <a:r>
              <a:rPr lang="it-IT" dirty="0"/>
              <a:t> 21.6%, </a:t>
            </a:r>
            <a:r>
              <a:rPr lang="it-IT" dirty="0" err="1"/>
              <a:t>resulting</a:t>
            </a:r>
            <a:r>
              <a:rPr lang="it-IT" dirty="0"/>
              <a:t> in a </a:t>
            </a:r>
            <a:r>
              <a:rPr lang="it-IT" dirty="0" err="1"/>
              <a:t>robust</a:t>
            </a:r>
            <a:r>
              <a:rPr lang="it-IT" dirty="0"/>
              <a:t> overall </a:t>
            </a:r>
            <a:r>
              <a:rPr lang="it-IT" dirty="0" err="1"/>
              <a:t>summary</a:t>
            </a:r>
            <a:r>
              <a:rPr lang="it-IT" dirty="0"/>
              <a:t> of 57.6% of the </a:t>
            </a:r>
            <a:r>
              <a:rPr lang="it-IT" dirty="0" err="1"/>
              <a:t>original</a:t>
            </a:r>
            <a:r>
              <a:rPr lang="it-IT" dirty="0"/>
              <a:t> information </a:t>
            </a:r>
            <a:r>
              <a:rPr lang="it-IT" dirty="0" err="1"/>
              <a:t>signal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Visual </a:t>
            </a:r>
            <a:r>
              <a:rPr lang="it-IT" b="1" dirty="0" err="1"/>
              <a:t>Cohort</a:t>
            </a:r>
            <a:r>
              <a:rPr lang="it-IT" b="1" dirty="0"/>
              <a:t> </a:t>
            </a:r>
            <a:r>
              <a:rPr lang="it-IT" b="1" dirty="0" err="1"/>
              <a:t>Segregation</a:t>
            </a:r>
            <a:r>
              <a:rPr lang="it-IT" b="1" dirty="0"/>
              <a:t> &amp; </a:t>
            </a:r>
            <a:r>
              <a:rPr lang="it-IT" b="1" dirty="0" err="1"/>
              <a:t>Ellipse</a:t>
            </a:r>
            <a:r>
              <a:rPr lang="it-IT" b="1" dirty="0"/>
              <a:t> </a:t>
            </a:r>
            <a:r>
              <a:rPr lang="it-IT" b="1" dirty="0" err="1"/>
              <a:t>Enclosure</a:t>
            </a:r>
            <a:r>
              <a:rPr lang="it-IT" b="1" dirty="0"/>
              <a:t>:</a:t>
            </a:r>
            <a:r>
              <a:rPr lang="it-IT" dirty="0"/>
              <a:t> The mapping highlights a clear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polarization</a:t>
            </a:r>
            <a:r>
              <a:rPr lang="it-IT" dirty="0"/>
              <a:t> </a:t>
            </a:r>
            <a:r>
              <a:rPr lang="it-IT" dirty="0" err="1"/>
              <a:t>driven</a:t>
            </a:r>
            <a:r>
              <a:rPr lang="it-IT" dirty="0"/>
              <a:t> by the target </a:t>
            </a:r>
            <a:r>
              <a:rPr lang="it-IT" dirty="0" err="1"/>
              <a:t>categories</a:t>
            </a:r>
            <a:r>
              <a:rPr lang="it-IT" dirty="0"/>
              <a:t>, </a:t>
            </a:r>
            <a:r>
              <a:rPr lang="it-IT" dirty="0" err="1"/>
              <a:t>reinforced</a:t>
            </a:r>
            <a:r>
              <a:rPr lang="it-IT" dirty="0"/>
              <a:t> by the 95% </a:t>
            </a:r>
            <a:r>
              <a:rPr lang="it-IT" dirty="0" err="1"/>
              <a:t>covariance</a:t>
            </a:r>
            <a:r>
              <a:rPr lang="it-IT" dirty="0"/>
              <a:t> </a:t>
            </a:r>
            <a:r>
              <a:rPr lang="it-IT" dirty="0" err="1"/>
              <a:t>ellipses</a:t>
            </a:r>
            <a:r>
              <a:rPr lang="it-IT" dirty="0"/>
              <a:t> (Gestalt </a:t>
            </a:r>
            <a:r>
              <a:rPr lang="it-IT" dirty="0" err="1"/>
              <a:t>principle</a:t>
            </a:r>
            <a:r>
              <a:rPr lang="it-IT" dirty="0"/>
              <a:t> of </a:t>
            </a:r>
            <a:r>
              <a:rPr lang="it-IT" dirty="0" err="1"/>
              <a:t>enclosure</a:t>
            </a:r>
            <a:r>
              <a:rPr lang="it-IT" dirty="0"/>
              <a:t>): Class 0 </a:t>
            </a:r>
            <a:r>
              <a:rPr lang="it-IT" dirty="0" err="1"/>
              <a:t>subjects</a:t>
            </a:r>
            <a:r>
              <a:rPr lang="it-IT" dirty="0"/>
              <a:t> (blue dots) </a:t>
            </a:r>
            <a:r>
              <a:rPr lang="it-IT" dirty="0" err="1"/>
              <a:t>tend</a:t>
            </a:r>
            <a:r>
              <a:rPr lang="it-IT" dirty="0"/>
              <a:t> to cluster </a:t>
            </a:r>
            <a:r>
              <a:rPr lang="it-IT" dirty="0" err="1"/>
              <a:t>predominantly</a:t>
            </a:r>
            <a:r>
              <a:rPr lang="it-IT" dirty="0"/>
              <a:t> in the positive </a:t>
            </a:r>
            <a:r>
              <a:rPr lang="it-IT" dirty="0" err="1"/>
              <a:t>half-plane</a:t>
            </a:r>
            <a:r>
              <a:rPr lang="it-IT" dirty="0"/>
              <a:t> of PC1,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in Class 1 (</a:t>
            </a:r>
            <a:r>
              <a:rPr lang="it-IT" dirty="0" err="1"/>
              <a:t>orange</a:t>
            </a:r>
            <a:r>
              <a:rPr lang="it-IT" dirty="0"/>
              <a:t> dots) are </a:t>
            </a:r>
            <a:r>
              <a:rPr lang="it-IT" dirty="0" err="1"/>
              <a:t>markedly</a:t>
            </a:r>
            <a:r>
              <a:rPr lang="it-IT" dirty="0"/>
              <a:t> </a:t>
            </a:r>
            <a:r>
              <a:rPr lang="it-IT" dirty="0" err="1"/>
              <a:t>concentrated</a:t>
            </a:r>
            <a:r>
              <a:rPr lang="it-IT" dirty="0"/>
              <a:t> </a:t>
            </a:r>
            <a:r>
              <a:rPr lang="it-IT" dirty="0" err="1"/>
              <a:t>towards</a:t>
            </a:r>
            <a:r>
              <a:rPr lang="it-IT" dirty="0"/>
              <a:t> negative </a:t>
            </a:r>
            <a:r>
              <a:rPr lang="it-IT" dirty="0" err="1"/>
              <a:t>coordinates</a:t>
            </a:r>
            <a:endParaRPr lang="it-IT" dirty="0"/>
          </a:p>
          <a:p>
            <a:pPr lvl="0"/>
            <a:endParaRPr lang="it-IT" sz="1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D4BA94E-D1CA-29B9-DE09-D1262291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077906"/>
            <a:ext cx="4094226" cy="2702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A42005A-0730-4D8D-E6D1-103C06898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Data-Driven Selection of the Number of Patient Clusters 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rmAutofit fontScale="62500" lnSpcReduction="20000"/>
              </a:bodyPr>
              <a:lstStyle/>
              <a:p>
                <a:pPr lvl="0"/>
                <a:r>
                  <a:rPr lang="it-IT" b="1" dirty="0"/>
                  <a:t>Cluster Number </a:t>
                </a:r>
                <a:r>
                  <a:rPr lang="it-IT" b="1" dirty="0" err="1"/>
                  <a:t>Optimization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Implementation</a:t>
                </a:r>
                <a:r>
                  <a:rPr lang="it-IT" dirty="0"/>
                  <a:t> of a </a:t>
                </a:r>
                <a:r>
                  <a:rPr lang="it-IT" dirty="0" err="1"/>
                  <a:t>rigorous</a:t>
                </a:r>
                <a:r>
                  <a:rPr lang="it-IT" dirty="0"/>
                  <a:t>, data-</a:t>
                </a:r>
                <a:r>
                  <a:rPr lang="it-IT" dirty="0" err="1"/>
                  <a:t>driven</a:t>
                </a:r>
                <a:r>
                  <a:rPr lang="it-IT" dirty="0"/>
                  <a:t> strategy to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optimal</a:t>
                </a:r>
                <a:r>
                  <a:rPr lang="it-IT" dirty="0"/>
                  <a:t> </a:t>
                </a:r>
                <a:r>
                  <a:rPr lang="it-IT" dirty="0" err="1"/>
                  <a:t>number</a:t>
                </a:r>
                <a:r>
                  <a:rPr lang="it-IT" dirty="0"/>
                  <a:t> of </a:t>
                </a:r>
                <a:r>
                  <a:rPr lang="it-IT" dirty="0" err="1"/>
                  <a:t>patient</a:t>
                </a:r>
                <a:r>
                  <a:rPr lang="it-IT" dirty="0"/>
                  <a:t> clusters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), </a:t>
                </a:r>
                <a:r>
                  <a:rPr lang="it-IT" dirty="0" err="1"/>
                  <a:t>avoiding</a:t>
                </a:r>
                <a:r>
                  <a:rPr lang="it-IT" dirty="0"/>
                  <a:t> </a:t>
                </a:r>
                <a:r>
                  <a:rPr lang="it-IT" dirty="0" err="1"/>
                  <a:t>arbitrary</a:t>
                </a:r>
                <a:r>
                  <a:rPr lang="it-IT" dirty="0"/>
                  <a:t> or </a:t>
                </a:r>
                <a:r>
                  <a:rPr lang="it-IT" dirty="0" err="1"/>
                  <a:t>empirical</a:t>
                </a:r>
                <a:r>
                  <a:rPr lang="it-IT" dirty="0"/>
                  <a:t> </a:t>
                </a:r>
                <a:r>
                  <a:rPr lang="it-IT" dirty="0" err="1"/>
                  <a:t>assignments</a:t>
                </a:r>
                <a:r>
                  <a:rPr lang="it-IT" dirty="0"/>
                  <a:t>.</a:t>
                </a:r>
              </a:p>
              <a:p>
                <a:pPr lvl="0"/>
                <a:r>
                  <a:rPr lang="it-IT" b="1" dirty="0" err="1"/>
                  <a:t>Geometric</a:t>
                </a:r>
                <a:r>
                  <a:rPr lang="it-IT" b="1" dirty="0"/>
                  <a:t> </a:t>
                </a:r>
                <a:r>
                  <a:rPr lang="it-IT" b="1" dirty="0" err="1"/>
                  <a:t>Inspection</a:t>
                </a:r>
                <a:r>
                  <a:rPr lang="it-IT" b="1" dirty="0"/>
                  <a:t> (Elbow Method):</a:t>
                </a:r>
                <a:r>
                  <a:rPr lang="it-IT" dirty="0"/>
                  <a:t> The </a:t>
                </a:r>
                <a:r>
                  <a:rPr lang="it-IT" dirty="0" err="1"/>
                  <a:t>Within</a:t>
                </a:r>
                <a:r>
                  <a:rPr lang="it-IT" dirty="0"/>
                  <a:t>-Cluster </a:t>
                </a:r>
                <a:r>
                  <a:rPr lang="it-IT" dirty="0" err="1"/>
                  <a:t>Inertia</a:t>
                </a:r>
                <a:r>
                  <a:rPr lang="it-IT" dirty="0"/>
                  <a:t> plot on the </a:t>
                </a:r>
                <a:r>
                  <a:rPr lang="it-IT" dirty="0" err="1"/>
                  <a:t>left</a:t>
                </a:r>
                <a:r>
                  <a:rPr lang="it-IT" dirty="0"/>
                  <a:t> shows the </a:t>
                </a:r>
                <a:r>
                  <a:rPr lang="it-IT" dirty="0" err="1"/>
                  <a:t>reduction</a:t>
                </a:r>
                <a:r>
                  <a:rPr lang="it-IT" dirty="0"/>
                  <a:t> in the </a:t>
                </a:r>
                <a:r>
                  <a:rPr lang="it-IT" dirty="0" err="1"/>
                  <a:t>gradient</a:t>
                </a:r>
                <a:r>
                  <a:rPr lang="it-IT" dirty="0"/>
                  <a:t> of </a:t>
                </a:r>
                <a:r>
                  <a:rPr lang="it-IT" dirty="0" err="1"/>
                  <a:t>internal</a:t>
                </a:r>
                <a:r>
                  <a:rPr lang="it-IT" dirty="0"/>
                  <a:t> </a:t>
                </a:r>
                <a:r>
                  <a:rPr lang="it-IT" dirty="0" err="1"/>
                  <a:t>variance</a:t>
                </a:r>
                <a:r>
                  <a:rPr lang="it-IT" dirty="0"/>
                  <a:t> </a:t>
                </a:r>
                <a:r>
                  <a:rPr lang="it-IT" dirty="0" err="1"/>
                  <a:t>as</a:t>
                </a:r>
                <a:r>
                  <a:rPr lang="it-IT" dirty="0"/>
                  <a:t> the </a:t>
                </a:r>
                <a:r>
                  <a:rPr lang="it-IT" dirty="0" err="1"/>
                  <a:t>number</a:t>
                </a:r>
                <a:r>
                  <a:rPr lang="it-IT" dirty="0"/>
                  <a:t> of clusters </a:t>
                </a:r>
                <a:r>
                  <a:rPr lang="it-IT" dirty="0" err="1"/>
                  <a:t>increases</a:t>
                </a:r>
                <a:r>
                  <a:rPr lang="it-IT" dirty="0"/>
                  <a:t> from 2 to 8, </a:t>
                </a:r>
                <a:r>
                  <a:rPr lang="it-IT" dirty="0" err="1"/>
                  <a:t>guiding</a:t>
                </a:r>
                <a:r>
                  <a:rPr lang="it-IT" dirty="0"/>
                  <a:t> the </a:t>
                </a:r>
                <a:r>
                  <a:rPr lang="it-IT" dirty="0" err="1"/>
                  <a:t>identification</a:t>
                </a:r>
                <a:r>
                  <a:rPr lang="it-IT" dirty="0"/>
                  <a:t> of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stability</a:t>
                </a:r>
                <a:r>
                  <a:rPr lang="it-IT" dirty="0"/>
                  <a:t> points.</a:t>
                </a:r>
              </a:p>
              <a:p>
                <a:pPr lvl="0"/>
                <a:r>
                  <a:rPr lang="it-IT" b="1" dirty="0"/>
                  <a:t>Statistical </a:t>
                </a:r>
                <a:r>
                  <a:rPr lang="it-IT" b="1" dirty="0" err="1"/>
                  <a:t>Validation</a:t>
                </a:r>
                <a:r>
                  <a:rPr lang="it-IT" b="1" dirty="0"/>
                  <a:t> (Silhouette Analysis):</a:t>
                </a:r>
                <a:r>
                  <a:rPr lang="it-IT" dirty="0"/>
                  <a:t> Analysis of the </a:t>
                </a:r>
                <a:r>
                  <a:rPr lang="it-IT" dirty="0" err="1"/>
                  <a:t>average</a:t>
                </a:r>
                <a:r>
                  <a:rPr lang="it-IT" dirty="0"/>
                  <a:t> silhouette score on the </a:t>
                </a:r>
                <a:r>
                  <a:rPr lang="it-IT" dirty="0" err="1"/>
                  <a:t>right</a:t>
                </a:r>
                <a:r>
                  <a:rPr lang="it-IT" dirty="0"/>
                  <a:t> </a:t>
                </a:r>
                <a:r>
                  <a:rPr lang="it-IT" dirty="0" err="1"/>
                  <a:t>visually</a:t>
                </a:r>
                <a:r>
                  <a:rPr lang="it-IT" dirty="0"/>
                  <a:t> </a:t>
                </a:r>
                <a:r>
                  <a:rPr lang="it-IT" dirty="0" err="1"/>
                  <a:t>confirms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r>
                  <a:rPr lang="it-IT" dirty="0"/>
                  <a:t> the 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dirty="0"/>
                  <a:t> </a:t>
                </a:r>
                <a:r>
                  <a:rPr lang="it-IT" dirty="0" err="1"/>
                  <a:t>configuration</a:t>
                </a:r>
                <a:r>
                  <a:rPr lang="it-IT" dirty="0"/>
                  <a:t> </a:t>
                </a:r>
                <a:r>
                  <a:rPr lang="it-IT" dirty="0" err="1"/>
                  <a:t>maximizes</a:t>
                </a:r>
                <a:r>
                  <a:rPr lang="it-IT" dirty="0"/>
                  <a:t> </a:t>
                </a:r>
                <a:r>
                  <a:rPr lang="it-IT" dirty="0" err="1"/>
                  <a:t>internal</a:t>
                </a:r>
                <a:r>
                  <a:rPr lang="it-IT" dirty="0"/>
                  <a:t> </a:t>
                </a:r>
                <a:r>
                  <a:rPr lang="it-IT" dirty="0" err="1"/>
                  <a:t>cohesion</a:t>
                </a:r>
                <a:r>
                  <a:rPr lang="it-IT" dirty="0"/>
                  <a:t> and </a:t>
                </a:r>
                <a:r>
                  <a:rPr lang="it-IT" dirty="0" err="1"/>
                  <a:t>separation</a:t>
                </a:r>
                <a:r>
                  <a:rPr lang="it-IT" dirty="0"/>
                  <a:t> </a:t>
                </a:r>
                <a:r>
                  <a:rPr lang="it-IT" dirty="0" err="1"/>
                  <a:t>between</a:t>
                </a:r>
                <a:r>
                  <a:rPr lang="it-IT" dirty="0"/>
                  <a:t> the clusters, recording the </a:t>
                </a:r>
                <a:r>
                  <a:rPr lang="it-IT" dirty="0" err="1"/>
                  <a:t>highest</a:t>
                </a:r>
                <a:r>
                  <a:rPr lang="it-IT" dirty="0"/>
                  <a:t> </a:t>
                </a:r>
                <a:r>
                  <a:rPr lang="it-IT" dirty="0" err="1"/>
                  <a:t>peak</a:t>
                </a:r>
                <a:r>
                  <a:rPr lang="it-IT" dirty="0"/>
                  <a:t> score of 0.24 (</a:t>
                </a:r>
                <a:r>
                  <a:rPr lang="it-IT" dirty="0" err="1"/>
                  <a:t>highlighted</a:t>
                </a:r>
                <a:r>
                  <a:rPr lang="it-IT" dirty="0"/>
                  <a:t> by the </a:t>
                </a:r>
                <a:r>
                  <a:rPr lang="it-IT" dirty="0" err="1"/>
                  <a:t>orange</a:t>
                </a:r>
                <a:r>
                  <a:rPr lang="it-IT" dirty="0"/>
                  <a:t> marker).</a:t>
                </a:r>
              </a:p>
              <a:p>
                <a:pPr lvl="0"/>
                <a:endParaRPr lang="it-IT" sz="13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 l="-350" t="-177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EDD6D802-561C-0445-17C7-535DC4352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10155"/>
            <a:ext cx="4094226" cy="163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376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/>
              <a:t>Unsupervised Clustering Strategy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rmAutofit fontScale="62500" lnSpcReduction="20000"/>
              </a:bodyPr>
              <a:lstStyle/>
              <a:p>
                <a:pPr lvl="0"/>
                <a:r>
                  <a:rPr lang="it-IT" b="1" dirty="0"/>
                  <a:t>Blind </a:t>
                </a:r>
                <a:r>
                  <a:rPr lang="it-IT" b="1" dirty="0" err="1"/>
                  <a:t>Methodology</a:t>
                </a:r>
                <a:r>
                  <a:rPr lang="it-IT" b="1" dirty="0"/>
                  <a:t> (K-Means):</a:t>
                </a:r>
                <a:r>
                  <a:rPr lang="it-IT" dirty="0"/>
                  <a:t> The </a:t>
                </a:r>
                <a:r>
                  <a:rPr lang="it-IT" dirty="0" err="1"/>
                  <a:t>central</a:t>
                </a:r>
                <a:r>
                  <a:rPr lang="it-IT" dirty="0"/>
                  <a:t> panel (</a:t>
                </a:r>
                <a:r>
                  <a:rPr lang="it-IT" i="1" dirty="0"/>
                  <a:t>K-Means Labels </a:t>
                </a:r>
                <a:r>
                  <a:rPr lang="it-IT" i="1" dirty="0" err="1"/>
                  <a:t>Projected</a:t>
                </a:r>
                <a:r>
                  <a:rPr lang="it-IT" i="1" dirty="0"/>
                  <a:t> on PCA</a:t>
                </a:r>
                <a:r>
                  <a:rPr lang="it-IT" dirty="0"/>
                  <a:t>) </a:t>
                </a:r>
                <a:r>
                  <a:rPr lang="it-IT" dirty="0" err="1"/>
                  <a:t>demonstrates</a:t>
                </a:r>
                <a:r>
                  <a:rPr lang="it-IT" dirty="0"/>
                  <a:t> </a:t>
                </a:r>
                <a:r>
                  <a:rPr lang="it-IT" dirty="0" err="1"/>
                  <a:t>how</a:t>
                </a:r>
                <a:r>
                  <a:rPr lang="it-IT" dirty="0"/>
                  <a:t> the </a:t>
                </a:r>
                <a:r>
                  <a:rPr lang="it-IT" dirty="0" err="1"/>
                  <a:t>algorithm</a:t>
                </a:r>
                <a:r>
                  <a:rPr lang="it-IT" dirty="0"/>
                  <a:t> </a:t>
                </a:r>
                <a:r>
                  <a:rPr lang="it-IT" dirty="0" err="1"/>
                  <a:t>partitions</a:t>
                </a:r>
                <a:r>
                  <a:rPr lang="it-IT" dirty="0"/>
                  <a:t> the </a:t>
                </a:r>
                <a:r>
                  <a:rPr lang="it-IT" dirty="0" err="1"/>
                  <a:t>latent</a:t>
                </a:r>
                <a:r>
                  <a:rPr lang="it-IT" dirty="0"/>
                  <a:t> </a:t>
                </a:r>
                <a:r>
                  <a:rPr lang="it-IT" dirty="0" err="1"/>
                  <a:t>space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into</a:t>
                </a:r>
                <a:r>
                  <a:rPr lang="it-IT" dirty="0"/>
                  <a:t> </a:t>
                </a:r>
                <a:r>
                  <a:rPr lang="it-IT" dirty="0" err="1"/>
                  <a:t>two</a:t>
                </a:r>
                <a:r>
                  <a:rPr lang="it-IT" dirty="0"/>
                  <a:t> </a:t>
                </a:r>
                <a:r>
                  <a:rPr lang="it-IT" dirty="0" err="1"/>
                  <a:t>distinct</a:t>
                </a:r>
                <a:r>
                  <a:rPr lang="it-IT" dirty="0"/>
                  <a:t> </a:t>
                </a:r>
                <a:r>
                  <a:rPr lang="it-IT" dirty="0" err="1"/>
                  <a:t>cohorts</a:t>
                </a:r>
                <a:r>
                  <a:rPr lang="it-IT" dirty="0"/>
                  <a:t> (</a:t>
                </a:r>
                <a:r>
                  <a:rPr lang="it-IT" i="1" dirty="0"/>
                  <a:t>Cluster A</a:t>
                </a:r>
                <a:r>
                  <a:rPr lang="it-IT" dirty="0"/>
                  <a:t> in </a:t>
                </a:r>
                <a:r>
                  <a:rPr lang="it-IT" dirty="0" err="1"/>
                  <a:t>orange</a:t>
                </a:r>
                <a:r>
                  <a:rPr lang="it-IT" dirty="0"/>
                  <a:t>/red and </a:t>
                </a:r>
                <a:r>
                  <a:rPr lang="it-IT" i="1" dirty="0"/>
                  <a:t>Cluster B</a:t>
                </a:r>
                <a:r>
                  <a:rPr lang="it-IT" dirty="0"/>
                  <a:t> in blue) </a:t>
                </a:r>
                <a:r>
                  <a:rPr lang="it-IT" dirty="0" err="1"/>
                  <a:t>based</a:t>
                </a:r>
                <a:r>
                  <a:rPr lang="it-IT" dirty="0"/>
                  <a:t> </a:t>
                </a:r>
                <a:r>
                  <a:rPr lang="it-IT" dirty="0" err="1"/>
                  <a:t>solely</a:t>
                </a:r>
                <a:r>
                  <a:rPr lang="it-IT" dirty="0"/>
                  <a:t> on </a:t>
                </a:r>
                <a:r>
                  <a:rPr lang="it-IT" dirty="0" err="1"/>
                  <a:t>geometric</a:t>
                </a:r>
                <a:r>
                  <a:rPr lang="it-IT" dirty="0"/>
                  <a:t> </a:t>
                </a:r>
                <a:r>
                  <a:rPr lang="it-IT" dirty="0" err="1"/>
                  <a:t>distances</a:t>
                </a:r>
                <a:r>
                  <a:rPr lang="it-IT" dirty="0"/>
                  <a:t>, </a:t>
                </a:r>
                <a:r>
                  <a:rPr lang="it-IT" dirty="0" err="1"/>
                  <a:t>without</a:t>
                </a:r>
                <a:r>
                  <a:rPr lang="it-IT" dirty="0"/>
                  <a:t> </a:t>
                </a:r>
                <a:r>
                  <a:rPr lang="it-IT" dirty="0" err="1"/>
                  <a:t>leveraging</a:t>
                </a:r>
                <a:r>
                  <a:rPr lang="it-IT" dirty="0"/>
                  <a:t> clinical </a:t>
                </a:r>
                <a:r>
                  <a:rPr lang="it-IT" dirty="0" err="1"/>
                  <a:t>diagnosis</a:t>
                </a:r>
                <a:r>
                  <a:rPr lang="it-IT" dirty="0"/>
                  <a:t> labels.</a:t>
                </a:r>
              </a:p>
              <a:p>
                <a:pPr lvl="0"/>
                <a:r>
                  <a:rPr lang="it-IT" b="1" dirty="0" err="1"/>
                  <a:t>Structural</a:t>
                </a:r>
                <a:r>
                  <a:rPr lang="it-IT" b="1" dirty="0"/>
                  <a:t> </a:t>
                </a:r>
                <a:r>
                  <a:rPr lang="it-IT" b="1" dirty="0" err="1"/>
                  <a:t>Comparison</a:t>
                </a:r>
                <a:r>
                  <a:rPr lang="it-IT" b="1" dirty="0"/>
                  <a:t> &amp; Ground Truth:</a:t>
                </a:r>
                <a:r>
                  <a:rPr lang="it-IT" dirty="0"/>
                  <a:t> The </a:t>
                </a:r>
                <a:r>
                  <a:rPr lang="it-IT" dirty="0" err="1"/>
                  <a:t>left</a:t>
                </a:r>
                <a:r>
                  <a:rPr lang="it-IT" dirty="0"/>
                  <a:t> panel </a:t>
                </a:r>
                <a:r>
                  <a:rPr lang="it-IT" dirty="0" err="1"/>
                  <a:t>maps</a:t>
                </a:r>
                <a:r>
                  <a:rPr lang="it-IT" dirty="0"/>
                  <a:t> the </a:t>
                </a:r>
                <a:r>
                  <a:rPr lang="it-IT" i="1" dirty="0"/>
                  <a:t>Target Classes (for </a:t>
                </a:r>
                <a:r>
                  <a:rPr lang="it-IT" i="1" dirty="0" err="1"/>
                  <a:t>comparison</a:t>
                </a:r>
                <a:r>
                  <a:rPr lang="it-IT" i="1" dirty="0"/>
                  <a:t>)</a:t>
                </a:r>
                <a:r>
                  <a:rPr lang="it-IT" dirty="0"/>
                  <a:t>, </a:t>
                </a:r>
                <a:r>
                  <a:rPr lang="it-IT" dirty="0" err="1"/>
                  <a:t>displaying</a:t>
                </a:r>
                <a:r>
                  <a:rPr lang="it-IT" dirty="0"/>
                  <a:t> the </a:t>
                </a:r>
                <a:r>
                  <a:rPr lang="it-IT" dirty="0" err="1"/>
                  <a:t>overlapping</a:t>
                </a:r>
                <a:r>
                  <a:rPr lang="it-IT" dirty="0"/>
                  <a:t> </a:t>
                </a:r>
                <a:r>
                  <a:rPr lang="it-IT" dirty="0" err="1"/>
                  <a:t>distributions</a:t>
                </a:r>
                <a:r>
                  <a:rPr lang="it-IT" dirty="0"/>
                  <a:t> of </a:t>
                </a:r>
                <a:r>
                  <a:rPr lang="it-IT" dirty="0" err="1"/>
                  <a:t>healthy</a:t>
                </a:r>
                <a:r>
                  <a:rPr lang="it-IT" dirty="0"/>
                  <a:t> and </a:t>
                </a:r>
                <a:r>
                  <a:rPr lang="it-IT" dirty="0" err="1"/>
                  <a:t>pathological</a:t>
                </a:r>
                <a:r>
                  <a:rPr lang="it-IT" dirty="0"/>
                  <a:t> </a:t>
                </a:r>
                <a:r>
                  <a:rPr lang="it-IT" dirty="0" err="1"/>
                  <a:t>patients</a:t>
                </a:r>
                <a:r>
                  <a:rPr lang="it-IT" dirty="0"/>
                  <a:t> </a:t>
                </a:r>
                <a:r>
                  <a:rPr lang="it-IT" dirty="0" err="1"/>
                  <a:t>within</a:t>
                </a:r>
                <a:r>
                  <a:rPr lang="it-IT" dirty="0"/>
                  <a:t> the </a:t>
                </a:r>
                <a:r>
                  <a:rPr lang="it-IT" dirty="0" err="1"/>
                  <a:t>same</a:t>
                </a:r>
                <a:r>
                  <a:rPr lang="it-IT" dirty="0"/>
                  <a:t> PC1-PC2 coordinate </a:t>
                </a:r>
                <a:r>
                  <a:rPr lang="it-IT" dirty="0" err="1"/>
                  <a:t>space</a:t>
                </a:r>
                <a:r>
                  <a:rPr lang="it-IT" dirty="0"/>
                  <a:t>.</a:t>
                </a:r>
              </a:p>
              <a:p>
                <a:pPr lvl="0"/>
                <a:r>
                  <a:rPr lang="it-IT" b="1" dirty="0"/>
                  <a:t>Contingency Matrix </a:t>
                </a:r>
                <a:r>
                  <a:rPr lang="it-IT" b="1" dirty="0" err="1"/>
                  <a:t>Alignment</a:t>
                </a:r>
                <a:r>
                  <a:rPr lang="it-IT" b="1" dirty="0"/>
                  <a:t>:</a:t>
                </a:r>
                <a:r>
                  <a:rPr lang="it-IT" dirty="0"/>
                  <a:t> The </a:t>
                </a:r>
                <a:r>
                  <a:rPr lang="it-IT" dirty="0" err="1"/>
                  <a:t>right</a:t>
                </a:r>
                <a:r>
                  <a:rPr lang="it-IT" dirty="0"/>
                  <a:t> panel cross-</a:t>
                </a:r>
                <a:r>
                  <a:rPr lang="it-IT" dirty="0" err="1"/>
                  <a:t>references</a:t>
                </a:r>
                <a:r>
                  <a:rPr lang="it-IT" dirty="0"/>
                  <a:t> the </a:t>
                </a:r>
                <a:r>
                  <a:rPr lang="it-IT" dirty="0" err="1"/>
                  <a:t>true</a:t>
                </a:r>
                <a:r>
                  <a:rPr lang="it-IT" dirty="0"/>
                  <a:t> target classes with the </a:t>
                </a:r>
                <a:r>
                  <a:rPr lang="it-IT" dirty="0" err="1"/>
                  <a:t>unsupervised</a:t>
                </a:r>
                <a:r>
                  <a:rPr lang="it-IT" dirty="0"/>
                  <a:t> clusters (</a:t>
                </a:r>
                <a:r>
                  <a:rPr lang="it-IT" dirty="0" err="1"/>
                  <a:t>yielding</a:t>
                </a:r>
                <a:r>
                  <a:rPr lang="it-IT" dirty="0"/>
                  <a:t> </a:t>
                </a:r>
                <a:r>
                  <a:rPr lang="it-IT" dirty="0" err="1"/>
                  <a:t>counts</a:t>
                </a:r>
                <a:r>
                  <a:rPr lang="it-IT" dirty="0"/>
                  <a:t> </a:t>
                </a:r>
                <a:r>
                  <a:rPr lang="it-IT" dirty="0" err="1"/>
                  <a:t>such</a:t>
                </a:r>
                <a:r>
                  <a:rPr lang="it-IT" dirty="0"/>
                  <a:t> </a:t>
                </a:r>
                <a:r>
                  <a:rPr lang="it-IT" dirty="0" err="1"/>
                  <a:t>as</a:t>
                </a:r>
                <a:r>
                  <a:rPr lang="it-IT" dirty="0"/>
                  <a:t> 124 </a:t>
                </a:r>
                <a:r>
                  <a:rPr lang="it-IT" dirty="0" err="1"/>
                  <a:t>patients</a:t>
                </a:r>
                <a:r>
                  <a:rPr lang="it-IT" dirty="0"/>
                  <a:t> in Cluster B </a:t>
                </a:r>
                <a:r>
                  <a:rPr lang="it-IT" dirty="0" err="1"/>
                  <a:t>aligned</a:t>
                </a:r>
                <a:r>
                  <a:rPr lang="it-IT" dirty="0"/>
                  <a:t> with Class 1 and 89 </a:t>
                </a:r>
                <a:r>
                  <a:rPr lang="it-IT" dirty="0" err="1"/>
                  <a:t>patients</a:t>
                </a:r>
                <a:r>
                  <a:rPr lang="it-IT" dirty="0"/>
                  <a:t> in Cluster A </a:t>
                </a:r>
                <a:r>
                  <a:rPr lang="it-IT" dirty="0" err="1"/>
                  <a:t>aligned</a:t>
                </a:r>
                <a:r>
                  <a:rPr lang="it-IT" dirty="0"/>
                  <a:t> with Class 0), </a:t>
                </a:r>
                <a:r>
                  <a:rPr lang="it-IT" dirty="0" err="1"/>
                  <a:t>quantitatively</a:t>
                </a:r>
                <a:r>
                  <a:rPr lang="it-IT" dirty="0"/>
                  <a:t> </a:t>
                </a:r>
                <a:r>
                  <a:rPr lang="it-IT" dirty="0" err="1"/>
                  <a:t>illustrating</a:t>
                </a:r>
                <a:r>
                  <a:rPr lang="it-IT" dirty="0"/>
                  <a:t> the degree of </a:t>
                </a:r>
                <a:r>
                  <a:rPr lang="it-IT" dirty="0" err="1"/>
                  <a:t>structural</a:t>
                </a:r>
                <a:r>
                  <a:rPr lang="it-IT" dirty="0"/>
                  <a:t> agreement and </a:t>
                </a:r>
                <a:r>
                  <a:rPr lang="it-IT" dirty="0" err="1"/>
                  <a:t>separation</a:t>
                </a:r>
                <a:r>
                  <a:rPr lang="it-IT" dirty="0"/>
                  <a:t> </a:t>
                </a:r>
                <a:r>
                  <a:rPr lang="it-IT" dirty="0" err="1"/>
                  <a:t>achieved</a:t>
                </a:r>
                <a:r>
                  <a:rPr lang="it-IT" dirty="0"/>
                  <a:t> by the blind </a:t>
                </a:r>
                <a:r>
                  <a:rPr lang="it-IT" dirty="0" err="1"/>
                  <a:t>algorithm</a:t>
                </a:r>
                <a:endParaRPr lang="it-IT" dirty="0"/>
              </a:p>
              <a:p>
                <a:pPr lvl="0"/>
                <a:endParaRPr lang="it-IT" sz="1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 l="-350" t="-1779" r="-10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785FA54A-9CFD-02B8-513F-76F356755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71569"/>
            <a:ext cx="4094226" cy="15148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Hierarchical Dendrogram of Heart-Disease Patient Profiles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fontScale="62500" lnSpcReduction="20000"/>
          </a:bodyPr>
          <a:lstStyle/>
          <a:p>
            <a:pPr lvl="0"/>
            <a:r>
              <a:rPr lang="it-IT" b="1" dirty="0" err="1"/>
              <a:t>Ward's</a:t>
            </a:r>
            <a:r>
              <a:rPr lang="it-IT" b="1" dirty="0"/>
              <a:t> Linkage </a:t>
            </a:r>
            <a:r>
              <a:rPr lang="it-IT" b="1" dirty="0" err="1"/>
              <a:t>Methodology</a:t>
            </a:r>
            <a:r>
              <a:rPr lang="it-IT" b="1" dirty="0"/>
              <a:t>:</a:t>
            </a:r>
            <a:r>
              <a:rPr lang="it-IT" dirty="0"/>
              <a:t> Use of the Ward </a:t>
            </a:r>
            <a:r>
              <a:rPr lang="it-IT" dirty="0" err="1"/>
              <a:t>criterion</a:t>
            </a:r>
            <a:r>
              <a:rPr lang="it-IT" dirty="0"/>
              <a:t> to </a:t>
            </a:r>
            <a:r>
              <a:rPr lang="it-IT" dirty="0" err="1"/>
              <a:t>progressively</a:t>
            </a:r>
            <a:r>
              <a:rPr lang="it-IT" dirty="0"/>
              <a:t> aggregate clusters, </a:t>
            </a:r>
            <a:r>
              <a:rPr lang="it-IT" dirty="0" err="1"/>
              <a:t>aiming</a:t>
            </a:r>
            <a:r>
              <a:rPr lang="it-IT" dirty="0"/>
              <a:t> to </a:t>
            </a:r>
            <a:r>
              <a:rPr lang="it-IT" dirty="0" err="1"/>
              <a:t>minimize</a:t>
            </a:r>
            <a:r>
              <a:rPr lang="it-IT" dirty="0"/>
              <a:t> the </a:t>
            </a:r>
            <a:r>
              <a:rPr lang="it-IT" dirty="0" err="1"/>
              <a:t>increase</a:t>
            </a:r>
            <a:r>
              <a:rPr lang="it-IT" dirty="0"/>
              <a:t> in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internal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branch</a:t>
            </a:r>
            <a:r>
              <a:rPr lang="it-IT" dirty="0"/>
              <a:t> </a:t>
            </a:r>
            <a:r>
              <a:rPr lang="it-IT" dirty="0" err="1"/>
              <a:t>merging</a:t>
            </a:r>
            <a:r>
              <a:rPr lang="it-IT" dirty="0"/>
              <a:t> step.</a:t>
            </a:r>
          </a:p>
          <a:p>
            <a:pPr lvl="0"/>
            <a:r>
              <a:rPr lang="it-IT" b="1" dirty="0"/>
              <a:t>Definition of the </a:t>
            </a:r>
            <a:r>
              <a:rPr lang="it-IT" b="1" dirty="0" err="1"/>
              <a:t>Cut</a:t>
            </a:r>
            <a:r>
              <a:rPr lang="it-IT" b="1" dirty="0"/>
              <a:t>-off </a:t>
            </a:r>
            <a:r>
              <a:rPr lang="it-IT" b="1" dirty="0" err="1"/>
              <a:t>Threshold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Insertion</a:t>
            </a:r>
            <a:r>
              <a:rPr lang="it-IT" dirty="0"/>
              <a:t> of the </a:t>
            </a:r>
            <a:r>
              <a:rPr lang="it-IT" b="1" dirty="0" err="1"/>
              <a:t>orange</a:t>
            </a:r>
            <a:r>
              <a:rPr lang="it-IT" b="1" dirty="0"/>
              <a:t> </a:t>
            </a:r>
            <a:r>
              <a:rPr lang="it-IT" b="1" dirty="0" err="1"/>
              <a:t>horizontal</a:t>
            </a:r>
            <a:r>
              <a:rPr lang="it-IT" b="1" dirty="0"/>
              <a:t> </a:t>
            </a:r>
            <a:r>
              <a:rPr lang="it-IT" b="1" dirty="0" err="1"/>
              <a:t>dashed</a:t>
            </a:r>
            <a:r>
              <a:rPr lang="it-IT" b="1" dirty="0"/>
              <a:t> line</a:t>
            </a:r>
            <a:r>
              <a:rPr lang="it-IT" dirty="0"/>
              <a:t> (</a:t>
            </a:r>
            <a:r>
              <a:rPr lang="it-IT" i="1" dirty="0" err="1"/>
              <a:t>Visualization</a:t>
            </a:r>
            <a:r>
              <a:rPr lang="it-IT" i="1" dirty="0"/>
              <a:t> </a:t>
            </a:r>
            <a:r>
              <a:rPr lang="it-IT" i="1" dirty="0" err="1"/>
              <a:t>cut</a:t>
            </a:r>
            <a:r>
              <a:rPr lang="it-IT" i="1" dirty="0"/>
              <a:t> for K=2</a:t>
            </a:r>
            <a:r>
              <a:rPr lang="it-IT" dirty="0"/>
              <a:t>, </a:t>
            </a:r>
            <a:r>
              <a:rPr lang="it-IT" dirty="0" err="1"/>
              <a:t>distance</a:t>
            </a:r>
            <a:r>
              <a:rPr lang="it-IT" dirty="0"/>
              <a:t>=21.3) </a:t>
            </a:r>
            <a:r>
              <a:rPr lang="it-IT" dirty="0" err="1"/>
              <a:t>at</a:t>
            </a:r>
            <a:r>
              <a:rPr lang="it-IT" dirty="0"/>
              <a:t> a </a:t>
            </a:r>
            <a:r>
              <a:rPr lang="it-IT" dirty="0" err="1"/>
              <a:t>critical</a:t>
            </a:r>
            <a:r>
              <a:rPr lang="it-IT" dirty="0"/>
              <a:t> linkage </a:t>
            </a:r>
            <a:r>
              <a:rPr lang="it-IT" dirty="0" err="1"/>
              <a:t>distance</a:t>
            </a:r>
            <a:r>
              <a:rPr lang="it-IT" dirty="0"/>
              <a:t> </a:t>
            </a:r>
            <a:r>
              <a:rPr lang="it-IT" dirty="0" err="1"/>
              <a:t>height</a:t>
            </a:r>
            <a:r>
              <a:rPr lang="it-IT" dirty="0"/>
              <a:t> of 21.3. </a:t>
            </a:r>
            <a:r>
              <a:rPr lang="it-IT" dirty="0" err="1"/>
              <a:t>This</a:t>
            </a:r>
            <a:r>
              <a:rPr lang="it-IT" dirty="0"/>
              <a:t> placement </a:t>
            </a:r>
            <a:r>
              <a:rPr lang="it-IT" dirty="0" err="1"/>
              <a:t>intercepts</a:t>
            </a:r>
            <a:r>
              <a:rPr lang="it-IT" dirty="0"/>
              <a:t> the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branches</a:t>
            </a:r>
            <a:r>
              <a:rPr lang="it-IT" dirty="0"/>
              <a:t> of the </a:t>
            </a:r>
            <a:r>
              <a:rPr lang="it-IT" dirty="0" err="1"/>
              <a:t>tree</a:t>
            </a:r>
            <a:r>
              <a:rPr lang="it-IT" dirty="0"/>
              <a:t>, </a:t>
            </a:r>
            <a:r>
              <a:rPr lang="it-IT" dirty="0" err="1"/>
              <a:t>providing</a:t>
            </a:r>
            <a:r>
              <a:rPr lang="it-IT" dirty="0"/>
              <a:t> an </a:t>
            </a:r>
            <a:r>
              <a:rPr lang="it-IT" dirty="0" err="1"/>
              <a:t>independent</a:t>
            </a:r>
            <a:r>
              <a:rPr lang="it-IT" dirty="0"/>
              <a:t> </a:t>
            </a:r>
            <a:r>
              <a:rPr lang="it-IT" dirty="0" err="1"/>
              <a:t>validation</a:t>
            </a:r>
            <a:r>
              <a:rPr lang="it-IT" dirty="0"/>
              <a:t> of the </a:t>
            </a:r>
            <a:r>
              <a:rPr lang="it-IT" dirty="0" err="1"/>
              <a:t>population</a:t>
            </a:r>
            <a:r>
              <a:rPr lang="it-IT" dirty="0"/>
              <a:t> </a:t>
            </a:r>
            <a:r>
              <a:rPr lang="it-IT" dirty="0" err="1"/>
              <a:t>bipartition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Structure</a:t>
            </a:r>
            <a:r>
              <a:rPr lang="it-IT" b="1" dirty="0"/>
              <a:t> of Sub-</a:t>
            </a:r>
            <a:r>
              <a:rPr lang="it-IT" b="1" dirty="0" err="1"/>
              <a:t>Subpopulations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Orange Macro-Branch (Left):</a:t>
            </a:r>
            <a:r>
              <a:rPr lang="it-IT" dirty="0"/>
              <a:t> </a:t>
            </a:r>
            <a:r>
              <a:rPr lang="it-IT" dirty="0" err="1"/>
              <a:t>Identifies</a:t>
            </a:r>
            <a:r>
              <a:rPr lang="it-IT" dirty="0"/>
              <a:t> the first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branch</a:t>
            </a:r>
            <a:r>
              <a:rPr lang="it-IT" dirty="0"/>
              <a:t> of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subgroups</a:t>
            </a:r>
            <a:r>
              <a:rPr lang="it-IT" dirty="0"/>
              <a:t> </a:t>
            </a:r>
            <a:r>
              <a:rPr lang="it-IT" dirty="0" err="1"/>
              <a:t>grouped</a:t>
            </a:r>
            <a:r>
              <a:rPr lang="it-IT" dirty="0"/>
              <a:t> by </a:t>
            </a:r>
            <a:r>
              <a:rPr lang="it-IT" dirty="0" err="1"/>
              <a:t>their</a:t>
            </a:r>
            <a:r>
              <a:rPr lang="it-IT" dirty="0"/>
              <a:t> multivariate </a:t>
            </a:r>
            <a:r>
              <a:rPr lang="it-IT" dirty="0" err="1"/>
              <a:t>similarity</a:t>
            </a:r>
            <a:r>
              <a:rPr lang="it-IT" dirty="0"/>
              <a:t>.</a:t>
            </a:r>
          </a:p>
          <a:p>
            <a:pPr lvl="1"/>
            <a:r>
              <a:rPr lang="it-IT" b="1" dirty="0"/>
              <a:t>Green Macro-Branch (Right):</a:t>
            </a:r>
            <a:r>
              <a:rPr lang="it-IT" dirty="0"/>
              <a:t> </a:t>
            </a:r>
            <a:r>
              <a:rPr lang="it-IT" dirty="0" err="1"/>
              <a:t>Identifies</a:t>
            </a:r>
            <a:r>
              <a:rPr lang="it-IT" dirty="0"/>
              <a:t> the second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branch</a:t>
            </a:r>
            <a:r>
              <a:rPr lang="it-IT" dirty="0"/>
              <a:t>, </a:t>
            </a:r>
            <a:r>
              <a:rPr lang="it-IT" dirty="0" err="1"/>
              <a:t>showing</a:t>
            </a:r>
            <a:r>
              <a:rPr lang="it-IT" dirty="0"/>
              <a:t> </a:t>
            </a:r>
            <a:r>
              <a:rPr lang="it-IT" dirty="0" err="1"/>
              <a:t>further</a:t>
            </a:r>
            <a:r>
              <a:rPr lang="it-IT" dirty="0"/>
              <a:t> </a:t>
            </a:r>
            <a:r>
              <a:rPr lang="it-IT" dirty="0" err="1"/>
              <a:t>hierarchical</a:t>
            </a:r>
            <a:r>
              <a:rPr lang="it-IT" dirty="0"/>
              <a:t> </a:t>
            </a:r>
            <a:r>
              <a:rPr lang="it-IT" dirty="0" err="1"/>
              <a:t>stratification</a:t>
            </a:r>
            <a:r>
              <a:rPr lang="it-IT" dirty="0"/>
              <a:t> (with the </a:t>
            </a:r>
            <a:r>
              <a:rPr lang="it-IT" dirty="0" err="1"/>
              <a:t>numbers</a:t>
            </a:r>
            <a:r>
              <a:rPr lang="it-IT" dirty="0"/>
              <a:t> in </a:t>
            </a:r>
            <a:r>
              <a:rPr lang="it-IT" dirty="0" err="1"/>
              <a:t>parentheses</a:t>
            </a:r>
            <a:r>
              <a:rPr lang="it-IT" dirty="0"/>
              <a:t> on the x-</a:t>
            </a:r>
            <a:r>
              <a:rPr lang="it-IT" dirty="0" err="1"/>
              <a:t>axis</a:t>
            </a:r>
            <a:r>
              <a:rPr lang="it-IT" dirty="0"/>
              <a:t> </a:t>
            </a:r>
            <a:r>
              <a:rPr lang="it-IT" dirty="0" err="1"/>
              <a:t>representing</a:t>
            </a:r>
            <a:r>
              <a:rPr lang="it-IT" dirty="0"/>
              <a:t> the sample size per </a:t>
            </a:r>
            <a:r>
              <a:rPr lang="it-IT" dirty="0" err="1"/>
              <a:t>condensed</a:t>
            </a:r>
            <a:r>
              <a:rPr lang="it-IT" dirty="0"/>
              <a:t> </a:t>
            </a:r>
            <a:r>
              <a:rPr lang="it-IT" dirty="0" err="1"/>
              <a:t>leaf</a:t>
            </a:r>
            <a:r>
              <a:rPr lang="it-IT" dirty="0"/>
              <a:t>).</a:t>
            </a:r>
          </a:p>
          <a:p>
            <a:pPr lvl="0"/>
            <a:endParaRPr lang="it-IT" sz="12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911E96F-6EF1-A14E-A9A4-A1B0B6F18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415679"/>
            <a:ext cx="4094226" cy="20266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Comparative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452850"/>
            <a:ext cx="6711654" cy="4913226"/>
          </a:xfrm>
        </p:spPr>
        <p:txBody>
          <a:bodyPr>
            <a:noAutofit/>
          </a:bodyPr>
          <a:lstStyle/>
          <a:p>
            <a:pPr lvl="0"/>
            <a:r>
              <a:rPr lang="it-IT" b="1" dirty="0"/>
              <a:t>Clinical-Mathematical </a:t>
            </a:r>
            <a:r>
              <a:rPr lang="it-IT" b="1" dirty="0" err="1"/>
              <a:t>Alignment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"Blind" Clustering:</a:t>
            </a:r>
            <a:r>
              <a:rPr lang="it-IT" dirty="0"/>
              <a:t> </a:t>
            </a:r>
            <a:r>
              <a:rPr lang="it-IT" dirty="0" err="1"/>
              <a:t>Without</a:t>
            </a:r>
            <a:r>
              <a:rPr lang="it-IT" dirty="0"/>
              <a:t> the use of </a:t>
            </a:r>
            <a:r>
              <a:rPr lang="it-IT" dirty="0" err="1"/>
              <a:t>conditioning</a:t>
            </a:r>
            <a:r>
              <a:rPr lang="it-IT" dirty="0"/>
              <a:t> labels (</a:t>
            </a:r>
            <a:r>
              <a:rPr lang="it-IT" dirty="0" err="1"/>
              <a:t>Unsupervised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), the K-Means </a:t>
            </a:r>
            <a:r>
              <a:rPr lang="it-IT" dirty="0" err="1"/>
              <a:t>algorithm</a:t>
            </a:r>
            <a:r>
              <a:rPr lang="it-IT" dirty="0"/>
              <a:t> </a:t>
            </a:r>
            <a:r>
              <a:rPr lang="it-IT" dirty="0" err="1"/>
              <a:t>segmented</a:t>
            </a:r>
            <a:r>
              <a:rPr lang="it-IT" dirty="0"/>
              <a:t> the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exclusively</a:t>
            </a:r>
            <a:r>
              <a:rPr lang="it-IT" dirty="0"/>
              <a:t> on the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of the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Phenotype</a:t>
            </a:r>
            <a:r>
              <a:rPr lang="it-IT" b="1" dirty="0"/>
              <a:t> </a:t>
            </a:r>
            <a:r>
              <a:rPr lang="it-IT" b="1" dirty="0" err="1"/>
              <a:t>Reconstruction</a:t>
            </a:r>
            <a:r>
              <a:rPr lang="it-IT" b="1" dirty="0"/>
              <a:t>:</a:t>
            </a:r>
            <a:r>
              <a:rPr lang="it-IT" dirty="0"/>
              <a:t> The clusters </a:t>
            </a:r>
            <a:r>
              <a:rPr lang="it-IT" dirty="0" err="1"/>
              <a:t>spontaneously</a:t>
            </a:r>
            <a:r>
              <a:rPr lang="it-IT" dirty="0"/>
              <a:t> </a:t>
            </a:r>
            <a:r>
              <a:rPr lang="it-IT" dirty="0" err="1"/>
              <a:t>capture</a:t>
            </a:r>
            <a:r>
              <a:rPr lang="it-IT" dirty="0"/>
              <a:t> the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 of the dataset.</a:t>
            </a:r>
          </a:p>
          <a:p>
            <a:pPr lvl="0"/>
            <a:r>
              <a:rPr lang="it-IT" b="1" dirty="0" err="1"/>
              <a:t>Interpretation</a:t>
            </a:r>
            <a:r>
              <a:rPr lang="it-IT" b="1" dirty="0"/>
              <a:t> of </a:t>
            </a:r>
            <a:r>
              <a:rPr lang="it-IT" b="1" dirty="0" err="1"/>
              <a:t>Extracted</a:t>
            </a:r>
            <a:r>
              <a:rPr lang="it-IT" b="1" dirty="0"/>
              <a:t> </a:t>
            </a:r>
            <a:r>
              <a:rPr lang="it-IT" b="1" dirty="0" err="1"/>
              <a:t>Cohorts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Cluster A (Cluster A </a:t>
            </a:r>
            <a:r>
              <a:rPr lang="it-IT" b="1" dirty="0" err="1"/>
              <a:t>Profile</a:t>
            </a:r>
            <a:r>
              <a:rPr lang="it-IT" b="1" dirty="0"/>
              <a:t>):</a:t>
            </a:r>
            <a:r>
              <a:rPr lang="it-IT" dirty="0"/>
              <a:t> </a:t>
            </a:r>
            <a:r>
              <a:rPr lang="it-IT" dirty="0" err="1"/>
              <a:t>Predominantly</a:t>
            </a:r>
            <a:r>
              <a:rPr lang="it-IT" dirty="0"/>
              <a:t> </a:t>
            </a:r>
            <a:r>
              <a:rPr lang="it-IT" dirty="0" err="1"/>
              <a:t>captures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, </a:t>
            </a:r>
            <a:r>
              <a:rPr lang="it-IT" dirty="0" err="1"/>
              <a:t>characterized</a:t>
            </a:r>
            <a:r>
              <a:rPr lang="it-IT" dirty="0"/>
              <a:t> by </a:t>
            </a:r>
            <a:r>
              <a:rPr lang="it-IT" dirty="0" err="1"/>
              <a:t>favorable</a:t>
            </a:r>
            <a:r>
              <a:rPr lang="it-IT" dirty="0"/>
              <a:t> </a:t>
            </a:r>
            <a:r>
              <a:rPr lang="it-IT" dirty="0" err="1"/>
              <a:t>hemodynamic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under stress.</a:t>
            </a:r>
          </a:p>
          <a:p>
            <a:pPr lvl="1"/>
            <a:r>
              <a:rPr lang="it-IT" b="1" dirty="0"/>
              <a:t>Cluster B (Cluster B </a:t>
            </a:r>
            <a:r>
              <a:rPr lang="it-IT" b="1" dirty="0" err="1"/>
              <a:t>Profile</a:t>
            </a:r>
            <a:r>
              <a:rPr lang="it-IT" b="1" dirty="0"/>
              <a:t>):</a:t>
            </a:r>
            <a:r>
              <a:rPr lang="it-IT" dirty="0"/>
              <a:t> </a:t>
            </a:r>
            <a:r>
              <a:rPr lang="it-IT" dirty="0" err="1"/>
              <a:t>Precisely</a:t>
            </a:r>
            <a:r>
              <a:rPr lang="it-IT" dirty="0"/>
              <a:t> </a:t>
            </a:r>
            <a:r>
              <a:rPr lang="it-IT" dirty="0" err="1"/>
              <a:t>isolates</a:t>
            </a:r>
            <a:r>
              <a:rPr lang="it-IT" dirty="0"/>
              <a:t> high-risk clinical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, sensitive to markers of </a:t>
            </a:r>
            <a:r>
              <a:rPr lang="it-IT" dirty="0" err="1"/>
              <a:t>myocardial</a:t>
            </a:r>
            <a:r>
              <a:rPr lang="it-IT" dirty="0"/>
              <a:t> distress (</a:t>
            </a:r>
            <a:r>
              <a:rPr lang="it-IT" dirty="0" err="1"/>
              <a:t>oldpeak</a:t>
            </a:r>
            <a:r>
              <a:rPr lang="it-IT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170BEC-7769-5C6F-7252-714A4FA25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Distribution of Top Feature Drivers across K-Means Clusters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</p:spPr>
            <p:txBody>
              <a:bodyPr anchor="ctr">
                <a:normAutofit fontScale="62500" lnSpcReduction="20000"/>
              </a:bodyPr>
              <a:lstStyle/>
              <a:p>
                <a:pPr lvl="0"/>
                <a:r>
                  <a:rPr lang="it-IT" b="1" dirty="0" err="1"/>
                  <a:t>Supervised</a:t>
                </a:r>
                <a:r>
                  <a:rPr lang="it-IT" b="1" dirty="0"/>
                  <a:t> Feature </a:t>
                </a:r>
                <a:r>
                  <a:rPr lang="it-IT" b="1" dirty="0" err="1"/>
                  <a:t>Attribution</a:t>
                </a:r>
                <a:r>
                  <a:rPr lang="it-IT" b="1" dirty="0"/>
                  <a:t> (Random Forest):</a:t>
                </a:r>
                <a:r>
                  <a:rPr lang="it-IT" dirty="0"/>
                  <a:t> </a:t>
                </a:r>
                <a:r>
                  <a:rPr lang="it-IT" dirty="0" err="1"/>
                  <a:t>Implementation</a:t>
                </a:r>
                <a:r>
                  <a:rPr lang="it-IT" dirty="0"/>
                  <a:t> of an </a:t>
                </a:r>
                <a:r>
                  <a:rPr lang="it-IT" dirty="0" err="1"/>
                  <a:t>auxiliary</a:t>
                </a:r>
                <a:r>
                  <a:rPr lang="it-IT" dirty="0"/>
                  <a:t> Random Forest model to </a:t>
                </a:r>
                <a:r>
                  <a:rPr lang="it-IT" dirty="0" err="1"/>
                  <a:t>explain</a:t>
                </a:r>
                <a:r>
                  <a:rPr lang="it-IT" dirty="0"/>
                  <a:t> the K-Means </a:t>
                </a:r>
                <a:r>
                  <a:rPr lang="it-IT" dirty="0" err="1"/>
                  <a:t>partition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dirty="0"/>
                  <a:t>), </a:t>
                </a:r>
                <a:r>
                  <a:rPr lang="it-IT" dirty="0" err="1"/>
                  <a:t>quantifying</a:t>
                </a:r>
                <a:r>
                  <a:rPr lang="it-IT" dirty="0"/>
                  <a:t> </a:t>
                </a:r>
                <a:r>
                  <a:rPr lang="it-IT" dirty="0" err="1"/>
                  <a:t>how</a:t>
                </a:r>
                <a:r>
                  <a:rPr lang="it-IT" dirty="0"/>
                  <a:t> </a:t>
                </a:r>
                <a:r>
                  <a:rPr lang="it-IT" dirty="0" err="1"/>
                  <a:t>effectively</a:t>
                </a:r>
                <a:r>
                  <a:rPr lang="it-IT" dirty="0"/>
                  <a:t> </a:t>
                </a:r>
                <a:r>
                  <a:rPr lang="it-IT" dirty="0" err="1"/>
                  <a:t>each</a:t>
                </a:r>
                <a:r>
                  <a:rPr lang="it-IT" dirty="0"/>
                  <a:t> </a:t>
                </a:r>
                <a:r>
                  <a:rPr lang="it-IT" dirty="0" err="1"/>
                  <a:t>continuous</a:t>
                </a:r>
                <a:r>
                  <a:rPr lang="it-IT" dirty="0"/>
                  <a:t> feature (age, </a:t>
                </a:r>
                <a:r>
                  <a:rPr lang="it-IT" dirty="0" err="1"/>
                  <a:t>thalach</a:t>
                </a:r>
                <a:r>
                  <a:rPr lang="it-IT" dirty="0"/>
                  <a:t>, </a:t>
                </a:r>
                <a:r>
                  <a:rPr lang="it-IT" dirty="0" err="1"/>
                  <a:t>oldpeak</a:t>
                </a:r>
                <a:r>
                  <a:rPr lang="it-IT" dirty="0"/>
                  <a:t>, </a:t>
                </a:r>
                <a:r>
                  <a:rPr lang="it-IT" dirty="0" err="1"/>
                  <a:t>trestbps</a:t>
                </a:r>
                <a:r>
                  <a:rPr lang="it-IT" dirty="0"/>
                  <a:t>, </a:t>
                </a:r>
                <a:r>
                  <a:rPr lang="it-IT" dirty="0" err="1"/>
                  <a:t>chol</a:t>
                </a:r>
                <a:r>
                  <a:rPr lang="it-IT" dirty="0"/>
                  <a:t>) </a:t>
                </a:r>
                <a:r>
                  <a:rPr lang="it-IT" dirty="0" err="1"/>
                  <a:t>discriminates</a:t>
                </a:r>
                <a:r>
                  <a:rPr lang="it-IT" dirty="0"/>
                  <a:t> </a:t>
                </a:r>
                <a:r>
                  <a:rPr lang="it-IT" dirty="0" err="1"/>
                  <a:t>between</a:t>
                </a:r>
                <a:r>
                  <a:rPr lang="it-IT" dirty="0"/>
                  <a:t> Cluster A and Cluster B </a:t>
                </a:r>
                <a:r>
                  <a:rPr lang="it-IT" dirty="0" err="1"/>
                  <a:t>based</a:t>
                </a:r>
                <a:r>
                  <a:rPr lang="it-IT" dirty="0"/>
                  <a:t> on the Mean </a:t>
                </a:r>
                <a:r>
                  <a:rPr lang="it-IT" dirty="0" err="1"/>
                  <a:t>Decrease</a:t>
                </a:r>
                <a:r>
                  <a:rPr lang="it-IT" dirty="0"/>
                  <a:t> in Gini </a:t>
                </a:r>
                <a:r>
                  <a:rPr lang="it-IT" dirty="0" err="1"/>
                  <a:t>Impurity</a:t>
                </a:r>
                <a:r>
                  <a:rPr lang="it-IT" dirty="0"/>
                  <a:t>.</a:t>
                </a:r>
              </a:p>
              <a:p>
                <a:pPr lvl="0"/>
                <a:r>
                  <a:rPr lang="it-IT" b="1" dirty="0"/>
                  <a:t>Dominant Cluster Drivers:</a:t>
                </a:r>
                <a:r>
                  <a:rPr lang="it-IT" dirty="0"/>
                  <a:t> The </a:t>
                </a:r>
                <a:r>
                  <a:rPr lang="it-IT" dirty="0" err="1"/>
                  <a:t>horizontal</a:t>
                </a:r>
                <a:r>
                  <a:rPr lang="it-IT" dirty="0"/>
                  <a:t> bar chart on the </a:t>
                </a:r>
                <a:r>
                  <a:rPr lang="it-IT" dirty="0" err="1"/>
                  <a:t>left</a:t>
                </a:r>
                <a:r>
                  <a:rPr lang="it-IT" dirty="0"/>
                  <a:t> </a:t>
                </a:r>
                <a:r>
                  <a:rPr lang="it-IT" dirty="0" err="1"/>
                  <a:t>indicates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r>
                  <a:rPr lang="it-IT" dirty="0"/>
                  <a:t> </a:t>
                </a:r>
                <a:r>
                  <a:rPr lang="it-IT" b="1" dirty="0"/>
                  <a:t>age (age)</a:t>
                </a:r>
                <a:r>
                  <a:rPr lang="it-IT" dirty="0"/>
                  <a:t> and </a:t>
                </a:r>
                <a:r>
                  <a:rPr lang="it-IT" b="1" dirty="0"/>
                  <a:t>maximum </a:t>
                </a:r>
                <a:r>
                  <a:rPr lang="it-IT" b="1" dirty="0" err="1"/>
                  <a:t>heart</a:t>
                </a:r>
                <a:r>
                  <a:rPr lang="it-IT" b="1" dirty="0"/>
                  <a:t> rate (</a:t>
                </a:r>
                <a:r>
                  <a:rPr lang="it-IT" b="1" dirty="0" err="1"/>
                  <a:t>thalach</a:t>
                </a:r>
                <a:r>
                  <a:rPr lang="it-IT" b="1" dirty="0"/>
                  <a:t>)</a:t>
                </a:r>
                <a:r>
                  <a:rPr lang="it-IT" dirty="0"/>
                  <a:t> act </a:t>
                </a:r>
                <a:r>
                  <a:rPr lang="it-IT" dirty="0" err="1"/>
                  <a:t>as</a:t>
                </a:r>
                <a:r>
                  <a:rPr lang="it-IT" dirty="0"/>
                  <a:t> the </a:t>
                </a:r>
                <a:r>
                  <a:rPr lang="it-IT" dirty="0" err="1"/>
                  <a:t>primary</a:t>
                </a:r>
                <a:r>
                  <a:rPr lang="it-IT" dirty="0"/>
                  <a:t> </a:t>
                </a:r>
                <a:r>
                  <a:rPr lang="it-IT" dirty="0" err="1"/>
                  <a:t>structural</a:t>
                </a:r>
                <a:r>
                  <a:rPr lang="it-IT" dirty="0"/>
                  <a:t> drivers </a:t>
                </a:r>
                <a:r>
                  <a:rPr lang="it-IT" dirty="0" err="1"/>
                  <a:t>separating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</a:t>
                </a:r>
                <a:r>
                  <a:rPr lang="it-IT" dirty="0" err="1"/>
                  <a:t>unsupervised</a:t>
                </a:r>
                <a:r>
                  <a:rPr lang="it-IT" dirty="0"/>
                  <a:t> </a:t>
                </a:r>
                <a:r>
                  <a:rPr lang="it-IT" dirty="0" err="1"/>
                  <a:t>cohorts</a:t>
                </a:r>
                <a:r>
                  <a:rPr lang="it-IT" dirty="0"/>
                  <a:t>, recording the </a:t>
                </a:r>
                <a:r>
                  <a:rPr lang="it-IT" dirty="0" err="1"/>
                  <a:t>highest</a:t>
                </a:r>
                <a:r>
                  <a:rPr lang="it-IT" dirty="0"/>
                  <a:t> Gini </a:t>
                </a:r>
                <a:r>
                  <a:rPr lang="it-IT" dirty="0" err="1"/>
                  <a:t>importance</a:t>
                </a:r>
                <a:r>
                  <a:rPr lang="it-IT" dirty="0"/>
                  <a:t> </a:t>
                </a:r>
                <a:r>
                  <a:rPr lang="it-IT" dirty="0" err="1"/>
                  <a:t>values</a:t>
                </a:r>
                <a:r>
                  <a:rPr lang="it-IT" dirty="0"/>
                  <a:t>.</a:t>
                </a:r>
              </a:p>
              <a:p>
                <a:pPr lvl="0"/>
                <a:r>
                  <a:rPr lang="it-IT" b="1" dirty="0" err="1"/>
                  <a:t>Standardized</a:t>
                </a:r>
                <a:r>
                  <a:rPr lang="it-IT" b="1" dirty="0"/>
                  <a:t> Feature </a:t>
                </a:r>
                <a:r>
                  <a:rPr lang="it-IT" b="1" dirty="0" err="1"/>
                  <a:t>Profiles</a:t>
                </a:r>
                <a:r>
                  <a:rPr lang="it-IT" b="1" dirty="0"/>
                  <a:t>:</a:t>
                </a:r>
                <a:r>
                  <a:rPr lang="it-IT" dirty="0"/>
                  <a:t> The </a:t>
                </a:r>
                <a:r>
                  <a:rPr lang="it-IT" dirty="0" err="1"/>
                  <a:t>boxplot</a:t>
                </a:r>
                <a:r>
                  <a:rPr lang="it-IT" dirty="0"/>
                  <a:t> panel on the </a:t>
                </a:r>
                <a:r>
                  <a:rPr lang="it-IT" dirty="0" err="1"/>
                  <a:t>right</a:t>
                </a:r>
                <a:r>
                  <a:rPr lang="it-IT" dirty="0"/>
                  <a:t> </a:t>
                </a:r>
                <a:r>
                  <a:rPr lang="it-IT" dirty="0" err="1"/>
                  <a:t>maps</a:t>
                </a:r>
                <a:r>
                  <a:rPr lang="it-IT" dirty="0"/>
                  <a:t> the </a:t>
                </a:r>
                <a:r>
                  <a:rPr lang="it-IT" dirty="0" err="1"/>
                  <a:t>Z</a:t>
                </a:r>
                <a:r>
                  <a:rPr lang="it-IT" dirty="0"/>
                  <a:t>-score </a:t>
                </a:r>
                <a:r>
                  <a:rPr lang="it-IT" dirty="0" err="1"/>
                  <a:t>distributions</a:t>
                </a:r>
                <a:r>
                  <a:rPr lang="it-IT" dirty="0"/>
                  <a:t> of </a:t>
                </a:r>
                <a:r>
                  <a:rPr lang="it-IT" dirty="0" err="1"/>
                  <a:t>each</a:t>
                </a:r>
                <a:r>
                  <a:rPr lang="it-IT" dirty="0"/>
                  <a:t> feature </a:t>
                </a:r>
                <a:r>
                  <a:rPr lang="it-IT" dirty="0" err="1"/>
                  <a:t>across</a:t>
                </a:r>
                <a:r>
                  <a:rPr lang="it-IT" dirty="0"/>
                  <a:t> </a:t>
                </a:r>
                <a:r>
                  <a:rPr lang="it-IT" b="1" dirty="0"/>
                  <a:t>Cluster A</a:t>
                </a:r>
                <a:r>
                  <a:rPr lang="it-IT" dirty="0"/>
                  <a:t> (blue) and </a:t>
                </a:r>
                <a:r>
                  <a:rPr lang="it-IT" b="1" dirty="0"/>
                  <a:t>Cluster B</a:t>
                </a:r>
                <a:r>
                  <a:rPr lang="it-IT" dirty="0"/>
                  <a:t> (</a:t>
                </a:r>
                <a:r>
                  <a:rPr lang="it-IT" dirty="0" err="1"/>
                  <a:t>orange</a:t>
                </a:r>
                <a:r>
                  <a:rPr lang="it-IT" dirty="0"/>
                  <a:t>), </a:t>
                </a:r>
                <a:r>
                  <a:rPr lang="it-IT" dirty="0" err="1"/>
                  <a:t>revealing</a:t>
                </a:r>
                <a:r>
                  <a:rPr lang="it-IT" dirty="0"/>
                  <a:t> </a:t>
                </a:r>
                <a:r>
                  <a:rPr lang="it-IT" dirty="0" err="1"/>
                  <a:t>distinct</a:t>
                </a:r>
                <a:r>
                  <a:rPr lang="it-IT" dirty="0"/>
                  <a:t> clinical </a:t>
                </a:r>
                <a:r>
                  <a:rPr lang="it-IT" dirty="0" err="1"/>
                  <a:t>profiles</a:t>
                </a:r>
                <a:r>
                  <a:rPr lang="it-IT" dirty="0"/>
                  <a:t> (e.g., </a:t>
                </a:r>
                <a:r>
                  <a:rPr lang="it-IT" dirty="0" err="1"/>
                  <a:t>higher</a:t>
                </a:r>
                <a:r>
                  <a:rPr lang="it-IT" dirty="0"/>
                  <a:t> </a:t>
                </a:r>
                <a:r>
                  <a:rPr lang="it-IT" dirty="0" err="1"/>
                  <a:t>values</a:t>
                </a:r>
                <a:r>
                  <a:rPr lang="it-IT" dirty="0"/>
                  <a:t> of maximum </a:t>
                </a:r>
                <a:r>
                  <a:rPr lang="it-IT" dirty="0" err="1"/>
                  <a:t>heart</a:t>
                </a:r>
                <a:r>
                  <a:rPr lang="it-IT" dirty="0"/>
                  <a:t> rate </a:t>
                </a:r>
                <a:r>
                  <a:rPr lang="it-IT" dirty="0" err="1"/>
                  <a:t>concentrated</a:t>
                </a:r>
                <a:r>
                  <a:rPr lang="it-IT" dirty="0"/>
                  <a:t> </a:t>
                </a:r>
                <a:r>
                  <a:rPr lang="it-IT" dirty="0" err="1"/>
                  <a:t>predominantly</a:t>
                </a:r>
                <a:r>
                  <a:rPr lang="it-IT" dirty="0"/>
                  <a:t> in Cluster B).</a:t>
                </a:r>
              </a:p>
              <a:p>
                <a:pPr lvl="0" algn="ctr"/>
                <a:endParaRPr lang="it-IT" sz="4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  <a:blipFill>
                <a:blip r:embed="rId2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15F2BD-07AE-5B31-44D3-3049682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5" y="2738072"/>
            <a:ext cx="7886696" cy="323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77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5BDD54E-5914-3332-E907-6BFE93B2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366" y="552906"/>
            <a:ext cx="3874452" cy="1674904"/>
          </a:xfrm>
        </p:spPr>
        <p:txBody>
          <a:bodyPr anchor="ctr">
            <a:normAutofit/>
          </a:bodyPr>
          <a:lstStyle/>
          <a:p>
            <a:r>
              <a:rPr lang="it-IT" sz="3500">
                <a:latin typeface="Arial" panose="020B0604020202020204" pitchFamily="34" charset="0"/>
                <a:cs typeface="Arial" panose="020B0604020202020204" pitchFamily="34" charset="0"/>
              </a:rPr>
              <a:t>Statistical Biomarker Discrimination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DBE72-AEFA-F09A-DFC5-FF0F86DB3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8623" y="576056"/>
            <a:ext cx="4774427" cy="2190294"/>
          </a:xfrm>
        </p:spPr>
        <p:txBody>
          <a:bodyPr anchor="ctr">
            <a:normAutofit fontScale="47500" lnSpcReduction="20000"/>
          </a:bodyPr>
          <a:lstStyle/>
          <a:p>
            <a:pPr lvl="0"/>
            <a:r>
              <a:rPr lang="it-IT" b="1" dirty="0"/>
              <a:t>Advanced Biomarker </a:t>
            </a:r>
            <a:r>
              <a:rPr lang="it-IT" b="1" dirty="0" err="1"/>
              <a:t>Stratification</a:t>
            </a:r>
            <a:r>
              <a:rPr lang="it-IT" b="1" dirty="0"/>
              <a:t> (Violin Plots):</a:t>
            </a:r>
            <a:r>
              <a:rPr lang="it-IT" dirty="0"/>
              <a:t> By mapping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density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</a:t>
            </a:r>
            <a:r>
              <a:rPr lang="it-IT" dirty="0" err="1"/>
              <a:t>variations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target classes (Class 0 in blue and Class 1 in </a:t>
            </a:r>
            <a:r>
              <a:rPr lang="it-IT" dirty="0" err="1"/>
              <a:t>orange</a:t>
            </a:r>
            <a:r>
              <a:rPr lang="it-IT" dirty="0"/>
              <a:t>),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capture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core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metrics</a:t>
            </a:r>
            <a:r>
              <a:rPr lang="it-IT" dirty="0"/>
              <a:t> </a:t>
            </a:r>
            <a:r>
              <a:rPr lang="it-IT" dirty="0" err="1"/>
              <a:t>differentiate</a:t>
            </a:r>
            <a:r>
              <a:rPr lang="it-IT" dirty="0"/>
              <a:t> </a:t>
            </a:r>
            <a:r>
              <a:rPr lang="it-IT" dirty="0" err="1"/>
              <a:t>patient</a:t>
            </a:r>
            <a:r>
              <a:rPr lang="it-IT" dirty="0"/>
              <a:t> groups.</a:t>
            </a:r>
          </a:p>
          <a:p>
            <a:pPr lvl="0"/>
            <a:r>
              <a:rPr lang="it-IT" b="1" dirty="0" err="1"/>
              <a:t>Hemodynamic</a:t>
            </a:r>
            <a:r>
              <a:rPr lang="it-IT" b="1" dirty="0"/>
              <a:t> and Stress-Test </a:t>
            </a:r>
            <a:r>
              <a:rPr lang="it-IT" b="1" dirty="0" err="1"/>
              <a:t>Separation</a:t>
            </a:r>
            <a:r>
              <a:rPr lang="it-IT" b="1" dirty="0"/>
              <a:t> (</a:t>
            </a:r>
            <a:r>
              <a:rPr lang="it-IT" b="1" dirty="0" err="1"/>
              <a:t>thalach</a:t>
            </a:r>
            <a:r>
              <a:rPr lang="it-IT" b="1" dirty="0"/>
              <a:t> &amp; </a:t>
            </a:r>
            <a:r>
              <a:rPr lang="it-IT" b="1" dirty="0" err="1"/>
              <a:t>oldpeak</a:t>
            </a:r>
            <a:r>
              <a:rPr lang="it-IT" b="1" dirty="0"/>
              <a:t>):</a:t>
            </a:r>
            <a:endParaRPr lang="it-IT" dirty="0"/>
          </a:p>
          <a:p>
            <a:pPr lvl="1"/>
            <a:r>
              <a:rPr lang="it-IT" b="1" dirty="0" err="1"/>
              <a:t>thalach</a:t>
            </a:r>
            <a:r>
              <a:rPr lang="it-IT" b="1" dirty="0"/>
              <a:t> (Maximum Heart Rate):</a:t>
            </a:r>
            <a:r>
              <a:rPr lang="it-IT" dirty="0"/>
              <a:t> 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exhibit</a:t>
            </a:r>
            <a:r>
              <a:rPr lang="it-IT" dirty="0"/>
              <a:t> a </a:t>
            </a:r>
            <a:r>
              <a:rPr lang="it-IT" dirty="0" err="1"/>
              <a:t>marked</a:t>
            </a:r>
            <a:r>
              <a:rPr lang="it-IT" dirty="0"/>
              <a:t> </a:t>
            </a:r>
            <a:r>
              <a:rPr lang="it-IT" dirty="0" err="1"/>
              <a:t>upward</a:t>
            </a:r>
            <a:r>
              <a:rPr lang="it-IT" dirty="0"/>
              <a:t> shift and </a:t>
            </a:r>
            <a:r>
              <a:rPr lang="it-IT" dirty="0" err="1"/>
              <a:t>wider</a:t>
            </a:r>
            <a:r>
              <a:rPr lang="it-IT" dirty="0"/>
              <a:t> </a:t>
            </a:r>
            <a:r>
              <a:rPr lang="it-IT" dirty="0" err="1"/>
              <a:t>density</a:t>
            </a:r>
            <a:r>
              <a:rPr lang="it-IT" dirty="0"/>
              <a:t> spread </a:t>
            </a:r>
            <a:r>
              <a:rPr lang="it-IT" dirty="0" err="1"/>
              <a:t>toward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</a:t>
            </a:r>
            <a:r>
              <a:rPr lang="it-IT" dirty="0" err="1"/>
              <a:t>heart</a:t>
            </a:r>
            <a:r>
              <a:rPr lang="it-IT" dirty="0"/>
              <a:t> rates </a:t>
            </a:r>
            <a:r>
              <a:rPr lang="it-IT" dirty="0" err="1"/>
              <a:t>compared</a:t>
            </a:r>
            <a:r>
              <a:rPr lang="it-IT" dirty="0"/>
              <a:t> to Class 0 </a:t>
            </a:r>
            <a:r>
              <a:rPr lang="it-IT" dirty="0" err="1"/>
              <a:t>individuals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oldpeak</a:t>
            </a:r>
            <a:r>
              <a:rPr lang="it-IT" b="1" dirty="0"/>
              <a:t> (ST </a:t>
            </a:r>
            <a:r>
              <a:rPr lang="it-IT" b="1" dirty="0" err="1"/>
              <a:t>Depression</a:t>
            </a:r>
            <a:r>
              <a:rPr lang="it-IT" b="1" dirty="0"/>
              <a:t>):</a:t>
            </a:r>
            <a:r>
              <a:rPr lang="it-IT" dirty="0"/>
              <a:t> Class 0 </a:t>
            </a:r>
            <a:r>
              <a:rPr lang="it-IT" dirty="0" err="1"/>
              <a:t>individuals</a:t>
            </a:r>
            <a:r>
              <a:rPr lang="it-IT" dirty="0"/>
              <a:t> show </a:t>
            </a:r>
            <a:r>
              <a:rPr lang="it-IT" dirty="0" err="1"/>
              <a:t>density</a:t>
            </a:r>
            <a:r>
              <a:rPr lang="it-IT" dirty="0"/>
              <a:t> </a:t>
            </a:r>
            <a:r>
              <a:rPr lang="it-IT" dirty="0" err="1"/>
              <a:t>distributions</a:t>
            </a:r>
            <a:r>
              <a:rPr lang="it-IT" dirty="0"/>
              <a:t> </a:t>
            </a:r>
            <a:r>
              <a:rPr lang="it-IT" dirty="0" err="1"/>
              <a:t>heavily</a:t>
            </a:r>
            <a:r>
              <a:rPr lang="it-IT" dirty="0"/>
              <a:t> </a:t>
            </a:r>
            <a:r>
              <a:rPr lang="it-IT" dirty="0" err="1"/>
              <a:t>skewed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zero, </a:t>
            </a:r>
            <a:r>
              <a:rPr lang="it-IT" dirty="0" err="1"/>
              <a:t>whereas</a:t>
            </a:r>
            <a:r>
              <a:rPr lang="it-IT" dirty="0"/>
              <a:t>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cohorts</a:t>
            </a:r>
            <a:r>
              <a:rPr lang="it-IT" dirty="0"/>
              <a:t> display a </a:t>
            </a:r>
            <a:r>
              <a:rPr lang="it-IT" dirty="0" err="1"/>
              <a:t>pronounced</a:t>
            </a:r>
            <a:r>
              <a:rPr lang="it-IT" dirty="0"/>
              <a:t> </a:t>
            </a:r>
            <a:r>
              <a:rPr lang="it-IT" dirty="0" err="1"/>
              <a:t>upward</a:t>
            </a:r>
            <a:r>
              <a:rPr lang="it-IT" dirty="0"/>
              <a:t> spread, </a:t>
            </a:r>
            <a:r>
              <a:rPr lang="it-IT" dirty="0" err="1"/>
              <a:t>highlighting</a:t>
            </a:r>
            <a:r>
              <a:rPr lang="it-IT" dirty="0"/>
              <a:t> </a:t>
            </a:r>
            <a:r>
              <a:rPr lang="it-IT" dirty="0" err="1"/>
              <a:t>elevated</a:t>
            </a:r>
            <a:r>
              <a:rPr lang="it-IT" dirty="0"/>
              <a:t> ST-</a:t>
            </a:r>
            <a:r>
              <a:rPr lang="it-IT" dirty="0" err="1"/>
              <a:t>depression</a:t>
            </a:r>
            <a:r>
              <a:rPr lang="it-IT" dirty="0"/>
              <a:t> </a:t>
            </a:r>
            <a:r>
              <a:rPr lang="it-IT" dirty="0" err="1"/>
              <a:t>during</a:t>
            </a:r>
            <a:r>
              <a:rPr lang="it-IT" dirty="0"/>
              <a:t> stress testing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primary</a:t>
            </a:r>
            <a:r>
              <a:rPr lang="it-IT" dirty="0"/>
              <a:t> risk </a:t>
            </a:r>
            <a:r>
              <a:rPr lang="it-IT" dirty="0" err="1"/>
              <a:t>indicator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Demographic</a:t>
            </a:r>
            <a:r>
              <a:rPr lang="it-IT" b="1" dirty="0"/>
              <a:t> </a:t>
            </a:r>
            <a:r>
              <a:rPr lang="it-IT" b="1" dirty="0" err="1"/>
              <a:t>Profile</a:t>
            </a:r>
            <a:r>
              <a:rPr lang="it-IT" b="1" dirty="0"/>
              <a:t> (age):</a:t>
            </a:r>
            <a:endParaRPr lang="it-IT" dirty="0"/>
          </a:p>
          <a:p>
            <a:pPr lvl="1"/>
            <a:r>
              <a:rPr lang="it-IT" b="1" dirty="0"/>
              <a:t>age Distribution:</a:t>
            </a:r>
            <a:r>
              <a:rPr lang="it-IT" dirty="0"/>
              <a:t> While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cohorts</a:t>
            </a:r>
            <a:r>
              <a:rPr lang="it-IT" dirty="0"/>
              <a:t> share </a:t>
            </a:r>
            <a:r>
              <a:rPr lang="it-IT" dirty="0" err="1"/>
              <a:t>overlapping</a:t>
            </a:r>
            <a:r>
              <a:rPr lang="it-IT" dirty="0"/>
              <a:t> age ranges, the </a:t>
            </a:r>
            <a:r>
              <a:rPr lang="it-IT" dirty="0" err="1"/>
              <a:t>pathological</a:t>
            </a:r>
            <a:r>
              <a:rPr lang="it-IT" dirty="0"/>
              <a:t> group shows a </a:t>
            </a:r>
            <a:r>
              <a:rPr lang="it-IT" dirty="0" err="1"/>
              <a:t>higher</a:t>
            </a:r>
            <a:r>
              <a:rPr lang="it-IT" dirty="0"/>
              <a:t> </a:t>
            </a:r>
            <a:r>
              <a:rPr lang="it-IT" dirty="0" err="1"/>
              <a:t>density</a:t>
            </a:r>
            <a:r>
              <a:rPr lang="it-IT" dirty="0"/>
              <a:t> </a:t>
            </a:r>
            <a:r>
              <a:rPr lang="it-IT" dirty="0" err="1"/>
              <a:t>concentration</a:t>
            </a:r>
            <a:r>
              <a:rPr lang="it-IT" dirty="0"/>
              <a:t> in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older</a:t>
            </a:r>
            <a:r>
              <a:rPr lang="it-IT" dirty="0"/>
              <a:t> </a:t>
            </a:r>
            <a:r>
              <a:rPr lang="it-IT" dirty="0" err="1"/>
              <a:t>brackets</a:t>
            </a:r>
            <a:r>
              <a:rPr lang="it-IT" dirty="0"/>
              <a:t>, </a:t>
            </a:r>
            <a:r>
              <a:rPr lang="it-IT" dirty="0" err="1"/>
              <a:t>complementing</a:t>
            </a:r>
            <a:r>
              <a:rPr lang="it-IT" dirty="0"/>
              <a:t> the </a:t>
            </a:r>
            <a:r>
              <a:rPr lang="it-IT" dirty="0" err="1"/>
              <a:t>functional</a:t>
            </a:r>
            <a:r>
              <a:rPr lang="it-IT" dirty="0"/>
              <a:t> stress-test markers.</a:t>
            </a:r>
          </a:p>
          <a:p>
            <a:pPr lvl="0"/>
            <a:endParaRPr lang="it-IT" sz="6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5BE5D05-BFCD-DEE2-B8EA-12DEBAB6A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74" y="2994395"/>
            <a:ext cx="7886677" cy="272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68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3500"/>
              <a:t>Multi-View Medical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138" y="997527"/>
            <a:ext cx="7631722" cy="1613016"/>
          </a:xfrm>
        </p:spPr>
        <p:txBody>
          <a:bodyPr anchor="ctr">
            <a:normAutofit fontScale="47500" lnSpcReduction="20000"/>
          </a:bodyPr>
          <a:lstStyle/>
          <a:p>
            <a:pPr lvl="0"/>
            <a:r>
              <a:rPr lang="it-IT" b="1" dirty="0"/>
              <a:t>Independent View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Moving</a:t>
            </a:r>
            <a:r>
              <a:rPr lang="it-IT" b="1" dirty="0"/>
              <a:t> Beyond the </a:t>
            </a:r>
            <a:r>
              <a:rPr lang="it-IT" b="1" dirty="0" err="1"/>
              <a:t>Flat</a:t>
            </a:r>
            <a:r>
              <a:rPr lang="it-IT" b="1" dirty="0"/>
              <a:t> Model:</a:t>
            </a:r>
            <a:r>
              <a:rPr lang="it-IT" dirty="0"/>
              <a:t> </a:t>
            </a:r>
            <a:r>
              <a:rPr lang="it-IT" dirty="0" err="1"/>
              <a:t>Uncritically</a:t>
            </a:r>
            <a:r>
              <a:rPr lang="it-IT" dirty="0"/>
              <a:t> </a:t>
            </a:r>
            <a:r>
              <a:rPr lang="it-IT" dirty="0" err="1"/>
              <a:t>fusing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features can generate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overlap</a:t>
            </a:r>
            <a:r>
              <a:rPr lang="it-IT" dirty="0"/>
              <a:t> and cross-source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1"/>
            <a:r>
              <a:rPr lang="it-IT" b="1" dirty="0"/>
              <a:t>Clinical &amp; </a:t>
            </a:r>
            <a:r>
              <a:rPr lang="it-IT" b="1" dirty="0" err="1"/>
              <a:t>Demographic</a:t>
            </a:r>
            <a:r>
              <a:rPr lang="it-IT" b="1" dirty="0"/>
              <a:t> View (View 1):</a:t>
            </a:r>
            <a:r>
              <a:rPr lang="it-IT" dirty="0"/>
              <a:t> Combines core </a:t>
            </a:r>
            <a:r>
              <a:rPr lang="it-IT" dirty="0" err="1"/>
              <a:t>resting</a:t>
            </a:r>
            <a:r>
              <a:rPr lang="it-IT" dirty="0"/>
              <a:t> baseline </a:t>
            </a:r>
            <a:r>
              <a:rPr lang="it-IT" dirty="0" err="1"/>
              <a:t>parameters</a:t>
            </a:r>
            <a:r>
              <a:rPr lang="it-IT" dirty="0"/>
              <a:t>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).</a:t>
            </a:r>
          </a:p>
          <a:p>
            <a:pPr lvl="1"/>
            <a:r>
              <a:rPr lang="it-IT" b="1" dirty="0" err="1"/>
              <a:t>Diagnostic</a:t>
            </a:r>
            <a:r>
              <a:rPr lang="it-IT" b="1" dirty="0"/>
              <a:t> &amp; Stress Test View (View 2):</a:t>
            </a:r>
            <a:r>
              <a:rPr lang="it-IT" dirty="0"/>
              <a:t> </a:t>
            </a:r>
            <a:r>
              <a:rPr lang="it-IT" dirty="0" err="1"/>
              <a:t>Isolates</a:t>
            </a:r>
            <a:r>
              <a:rPr lang="it-IT" dirty="0"/>
              <a:t> </a:t>
            </a:r>
            <a:r>
              <a:rPr lang="it-IT" dirty="0" err="1"/>
              <a:t>dynamic</a:t>
            </a:r>
            <a:r>
              <a:rPr lang="it-IT" dirty="0"/>
              <a:t> </a:t>
            </a:r>
            <a:r>
              <a:rPr lang="it-IT" dirty="0" err="1"/>
              <a:t>functional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extracted</a:t>
            </a:r>
            <a:r>
              <a:rPr lang="it-IT" dirty="0"/>
              <a:t> under stress (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).</a:t>
            </a:r>
          </a:p>
          <a:p>
            <a:pPr lvl="0"/>
            <a:r>
              <a:rPr lang="it-IT" b="1" dirty="0"/>
              <a:t>Late Data Fusion Pipeline:</a:t>
            </a:r>
            <a:endParaRPr lang="it-IT" dirty="0"/>
          </a:p>
          <a:p>
            <a:pPr lvl="1"/>
            <a:r>
              <a:rPr lang="it-IT" b="1" dirty="0" err="1"/>
              <a:t>Dedicated</a:t>
            </a:r>
            <a:r>
              <a:rPr lang="it-IT" b="1" dirty="0"/>
              <a:t> PCA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r>
              <a:rPr lang="it-IT" dirty="0"/>
              <a:t> Each 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projected</a:t>
            </a:r>
            <a:r>
              <a:rPr lang="it-IT" dirty="0"/>
              <a:t> </a:t>
            </a:r>
            <a:r>
              <a:rPr lang="it-IT" dirty="0" err="1"/>
              <a:t>independently</a:t>
            </a:r>
            <a:r>
              <a:rPr lang="it-IT" dirty="0"/>
              <a:t> to </a:t>
            </a:r>
            <a:r>
              <a:rPr lang="it-IT" dirty="0" err="1"/>
              <a:t>extract</a:t>
            </a:r>
            <a:r>
              <a:rPr lang="it-IT" dirty="0"/>
              <a:t>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primary</a:t>
            </a:r>
            <a:r>
              <a:rPr lang="it-IT" dirty="0"/>
              <a:t> </a:t>
            </a:r>
            <a:r>
              <a:rPr lang="it-IT" dirty="0" err="1"/>
              <a:t>latent</a:t>
            </a:r>
            <a:r>
              <a:rPr lang="it-IT" dirty="0"/>
              <a:t> component and </a:t>
            </a:r>
            <a:r>
              <a:rPr lang="it-IT" dirty="0" err="1"/>
              <a:t>maximize</a:t>
            </a:r>
            <a:r>
              <a:rPr lang="it-IT" dirty="0"/>
              <a:t> </a:t>
            </a:r>
            <a:r>
              <a:rPr lang="it-IT" dirty="0" err="1"/>
              <a:t>local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Integrated</a:t>
            </a:r>
            <a:r>
              <a:rPr lang="it-IT" b="1" dirty="0"/>
              <a:t> </a:t>
            </a:r>
            <a:r>
              <a:rPr lang="it-IT" b="1" dirty="0" err="1"/>
              <a:t>Representation</a:t>
            </a:r>
            <a:r>
              <a:rPr lang="it-IT" b="1" dirty="0"/>
              <a:t> (2D Fusion Plane):</a:t>
            </a:r>
            <a:r>
              <a:rPr lang="it-IT" dirty="0"/>
              <a:t> The </a:t>
            </a:r>
            <a:r>
              <a:rPr lang="it-IT" dirty="0" err="1"/>
              <a:t>coordinates</a:t>
            </a:r>
            <a:r>
              <a:rPr lang="it-IT" dirty="0"/>
              <a:t> of the separate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spaces</a:t>
            </a:r>
            <a:r>
              <a:rPr lang="it-IT" dirty="0"/>
              <a:t> are </a:t>
            </a:r>
            <a:r>
              <a:rPr lang="it-IT" dirty="0" err="1"/>
              <a:t>mapped</a:t>
            </a:r>
            <a:r>
              <a:rPr lang="it-IT" dirty="0"/>
              <a:t> on 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Cartesian</a:t>
            </a:r>
            <a:r>
              <a:rPr lang="it-IT" dirty="0"/>
              <a:t> </a:t>
            </a:r>
            <a:r>
              <a:rPr lang="it-IT" dirty="0" err="1"/>
              <a:t>plane</a:t>
            </a:r>
            <a:r>
              <a:rPr lang="it-IT" dirty="0"/>
              <a:t>, with 95% </a:t>
            </a:r>
            <a:r>
              <a:rPr lang="it-IT" dirty="0" err="1"/>
              <a:t>covariance</a:t>
            </a:r>
            <a:r>
              <a:rPr lang="it-IT" dirty="0"/>
              <a:t> </a:t>
            </a:r>
            <a:r>
              <a:rPr lang="it-IT" dirty="0" err="1"/>
              <a:t>ellipses</a:t>
            </a:r>
            <a:r>
              <a:rPr lang="it-IT" dirty="0"/>
              <a:t> </a:t>
            </a:r>
            <a:r>
              <a:rPr lang="it-IT" dirty="0" err="1"/>
              <a:t>highlighting</a:t>
            </a:r>
            <a:r>
              <a:rPr lang="it-IT" dirty="0"/>
              <a:t> clear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Supervised</a:t>
            </a:r>
            <a:r>
              <a:rPr lang="it-IT" b="1" dirty="0"/>
              <a:t> </a:t>
            </a:r>
            <a:r>
              <a:rPr lang="it-IT" b="1" dirty="0" err="1"/>
              <a:t>Classification</a:t>
            </a:r>
            <a:r>
              <a:rPr lang="it-IT" b="1" dirty="0"/>
              <a:t>:</a:t>
            </a:r>
            <a:r>
              <a:rPr lang="it-IT" dirty="0"/>
              <a:t> The </a:t>
            </a:r>
            <a:r>
              <a:rPr lang="it-IT" dirty="0" err="1"/>
              <a:t>purified</a:t>
            </a:r>
            <a:r>
              <a:rPr lang="it-IT" dirty="0"/>
              <a:t> multi-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representation</a:t>
            </a:r>
            <a:r>
              <a:rPr lang="it-IT" dirty="0"/>
              <a:t> feeds downstream </a:t>
            </a:r>
            <a:r>
              <a:rPr lang="it-IT" dirty="0" err="1"/>
              <a:t>predictive</a:t>
            </a:r>
            <a:r>
              <a:rPr lang="it-IT" dirty="0"/>
              <a:t> models, </a:t>
            </a:r>
            <a:r>
              <a:rPr lang="it-IT" dirty="0" err="1"/>
              <a:t>ensuring</a:t>
            </a:r>
            <a:r>
              <a:rPr lang="it-IT" dirty="0"/>
              <a:t> a </a:t>
            </a:r>
            <a:r>
              <a:rPr lang="it-IT" dirty="0" err="1"/>
              <a:t>significantly</a:t>
            </a:r>
            <a:r>
              <a:rPr lang="it-IT" dirty="0"/>
              <a:t> more </a:t>
            </a:r>
            <a:r>
              <a:rPr lang="it-IT" dirty="0" err="1"/>
              <a:t>robust</a:t>
            </a:r>
            <a:r>
              <a:rPr lang="it-IT" dirty="0"/>
              <a:t> </a:t>
            </a:r>
            <a:r>
              <a:rPr lang="it-IT" dirty="0" err="1"/>
              <a:t>decision</a:t>
            </a:r>
            <a:r>
              <a:rPr lang="it-IT" dirty="0"/>
              <a:t> </a:t>
            </a:r>
            <a:r>
              <a:rPr lang="it-IT" dirty="0" err="1"/>
              <a:t>boundary</a:t>
            </a:r>
            <a:endParaRPr lang="it-IT" dirty="0"/>
          </a:p>
          <a:p>
            <a:pPr lvl="0" algn="ctr"/>
            <a:endParaRPr lang="it-IT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1794B6D-D141-7132-F5D3-C63C402F2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14" y="2784575"/>
            <a:ext cx="5234086" cy="38993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>
                <a:latin typeface="Arial" panose="020B0604020202020204" pitchFamily="34" charset="0"/>
                <a:cs typeface="Arial" panose="020B0604020202020204" pitchFamily="34" charset="0"/>
              </a:rPr>
              <a:t>Patient Distance Heatmap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47500" lnSpcReduction="20000"/>
          </a:bodyPr>
          <a:lstStyle/>
          <a:p>
            <a:pPr lvl="0"/>
            <a:r>
              <a:rPr lang="it-IT" b="1" dirty="0" err="1"/>
              <a:t>Spatial</a:t>
            </a:r>
            <a:r>
              <a:rPr lang="it-IT" b="1" dirty="0"/>
              <a:t> </a:t>
            </a:r>
            <a:r>
              <a:rPr lang="it-IT" b="1" dirty="0" err="1"/>
              <a:t>Similarity</a:t>
            </a:r>
            <a:r>
              <a:rPr lang="it-IT" b="1" dirty="0"/>
              <a:t> Mapping:</a:t>
            </a:r>
            <a:endParaRPr lang="it-IT" dirty="0"/>
          </a:p>
          <a:p>
            <a:pPr lvl="1"/>
            <a:r>
              <a:rPr lang="it-IT" b="1" dirty="0"/>
              <a:t>Inter-Patient </a:t>
            </a:r>
            <a:r>
              <a:rPr lang="it-IT" b="1" dirty="0" err="1"/>
              <a:t>Distances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Visualization</a:t>
            </a:r>
            <a:r>
              <a:rPr lang="it-IT" dirty="0"/>
              <a:t> of the </a:t>
            </a:r>
            <a:r>
              <a:rPr lang="it-IT" dirty="0" err="1"/>
              <a:t>symmetric</a:t>
            </a:r>
            <a:r>
              <a:rPr lang="it-IT" dirty="0"/>
              <a:t> </a:t>
            </a:r>
            <a:r>
              <a:rPr lang="it-IT" dirty="0" err="1"/>
              <a:t>matrix</a:t>
            </a:r>
            <a:r>
              <a:rPr lang="it-IT" dirty="0"/>
              <a:t> of 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</a:t>
            </a:r>
            <a:r>
              <a:rPr lang="it-IT" dirty="0" err="1"/>
              <a:t>calculated</a:t>
            </a:r>
            <a:r>
              <a:rPr lang="it-IT" dirty="0"/>
              <a:t> after </a:t>
            </a:r>
            <a:r>
              <a:rPr lang="it-IT" dirty="0" err="1"/>
              <a:t>standardization</a:t>
            </a:r>
            <a:r>
              <a:rPr lang="it-IT" dirty="0"/>
              <a:t> to </a:t>
            </a:r>
            <a:r>
              <a:rPr lang="it-IT" dirty="0" err="1"/>
              <a:t>quantify</a:t>
            </a:r>
            <a:r>
              <a:rPr lang="it-IT" dirty="0"/>
              <a:t> the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subjects</a:t>
            </a:r>
            <a:r>
              <a:rPr lang="it-IT" dirty="0"/>
              <a:t> </a:t>
            </a:r>
            <a:r>
              <a:rPr lang="it-IT" dirty="0" err="1"/>
              <a:t>within</a:t>
            </a:r>
            <a:r>
              <a:rPr lang="it-IT" dirty="0"/>
              <a:t> the </a:t>
            </a:r>
            <a:r>
              <a:rPr lang="it-IT" i="1" dirty="0"/>
              <a:t>Clinical-</a:t>
            </a:r>
            <a:r>
              <a:rPr lang="it-IT" i="1" dirty="0" err="1"/>
              <a:t>Demographic</a:t>
            </a:r>
            <a:r>
              <a:rPr lang="it-IT" i="1" dirty="0"/>
              <a:t> View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Heatmap</a:t>
            </a:r>
            <a:r>
              <a:rPr lang="it-IT" b="1" dirty="0"/>
              <a:t> Colors:</a:t>
            </a:r>
            <a:r>
              <a:rPr lang="it-IT" dirty="0"/>
              <a:t> Light blue </a:t>
            </a:r>
            <a:r>
              <a:rPr lang="it-IT" dirty="0" err="1"/>
              <a:t>tones</a:t>
            </a:r>
            <a:r>
              <a:rPr lang="it-IT" dirty="0"/>
              <a:t> indicate minimal </a:t>
            </a:r>
            <a:r>
              <a:rPr lang="it-IT" dirty="0" err="1"/>
              <a:t>distances</a:t>
            </a:r>
            <a:r>
              <a:rPr lang="it-IT" dirty="0"/>
              <a:t> (maximum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), </a:t>
            </a:r>
            <a:r>
              <a:rPr lang="it-IT" dirty="0" err="1"/>
              <a:t>while</a:t>
            </a:r>
            <a:r>
              <a:rPr lang="it-IT" dirty="0"/>
              <a:t> dark blue </a:t>
            </a:r>
            <a:r>
              <a:rPr lang="it-IT" dirty="0" err="1"/>
              <a:t>tones</a:t>
            </a:r>
            <a:r>
              <a:rPr lang="it-IT" dirty="0"/>
              <a:t> highlight maximum clinical </a:t>
            </a:r>
            <a:r>
              <a:rPr lang="it-IT" dirty="0" err="1"/>
              <a:t>dissimilarity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Block </a:t>
            </a:r>
            <a:r>
              <a:rPr lang="it-IT" b="1" dirty="0" err="1"/>
              <a:t>Structures</a:t>
            </a:r>
            <a:r>
              <a:rPr lang="it-IT" b="1" dirty="0"/>
              <a:t> and </a:t>
            </a:r>
            <a:r>
              <a:rPr lang="it-IT" b="1" dirty="0" err="1"/>
              <a:t>Anomalies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Cohort</a:t>
            </a:r>
            <a:r>
              <a:rPr lang="it-IT" b="1" dirty="0"/>
              <a:t> </a:t>
            </a:r>
            <a:r>
              <a:rPr lang="it-IT" b="1" dirty="0" err="1"/>
              <a:t>Cohesion</a:t>
            </a:r>
            <a:r>
              <a:rPr lang="it-IT" b="1" dirty="0"/>
              <a:t>:</a:t>
            </a:r>
            <a:r>
              <a:rPr lang="it-IT" dirty="0"/>
              <a:t> The </a:t>
            </a:r>
            <a:r>
              <a:rPr lang="it-IT" dirty="0" err="1"/>
              <a:t>hierarchical</a:t>
            </a:r>
            <a:r>
              <a:rPr lang="it-IT" dirty="0"/>
              <a:t> clustering (Ward linkage) </a:t>
            </a:r>
            <a:r>
              <a:rPr lang="it-IT" dirty="0" err="1"/>
              <a:t>applied</a:t>
            </a:r>
            <a:r>
              <a:rPr lang="it-IT" dirty="0"/>
              <a:t> to the </a:t>
            </a:r>
            <a:r>
              <a:rPr lang="it-IT" dirty="0" err="1"/>
              <a:t>distance</a:t>
            </a:r>
            <a:r>
              <a:rPr lang="it-IT" dirty="0"/>
              <a:t> </a:t>
            </a:r>
            <a:r>
              <a:rPr lang="it-IT" dirty="0" err="1"/>
              <a:t>matrix</a:t>
            </a:r>
            <a:r>
              <a:rPr lang="it-IT" dirty="0"/>
              <a:t> </a:t>
            </a:r>
            <a:r>
              <a:rPr lang="it-IT" dirty="0" err="1"/>
              <a:t>reorders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and </a:t>
            </a:r>
            <a:r>
              <a:rPr lang="it-IT" dirty="0" err="1"/>
              <a:t>columns</a:t>
            </a:r>
            <a:r>
              <a:rPr lang="it-IT" dirty="0"/>
              <a:t>, </a:t>
            </a:r>
            <a:r>
              <a:rPr lang="it-IT" dirty="0" err="1"/>
              <a:t>revealing</a:t>
            </a:r>
            <a:r>
              <a:rPr lang="it-IT" dirty="0"/>
              <a:t> </a:t>
            </a:r>
            <a:r>
              <a:rPr lang="it-IT" dirty="0" err="1"/>
              <a:t>structured</a:t>
            </a:r>
            <a:r>
              <a:rPr lang="it-IT" dirty="0"/>
              <a:t> </a:t>
            </a:r>
            <a:r>
              <a:rPr lang="it-IT" dirty="0" err="1"/>
              <a:t>blocks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diagonal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correspond</a:t>
            </a:r>
            <a:r>
              <a:rPr lang="it-IT" dirty="0"/>
              <a:t> to groups of </a:t>
            </a:r>
            <a:r>
              <a:rPr lang="it-IT" dirty="0" err="1"/>
              <a:t>patients</a:t>
            </a:r>
            <a:r>
              <a:rPr lang="it-IT" dirty="0"/>
              <a:t> with comparable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  <a:p>
            <a:pPr lvl="1"/>
            <a:r>
              <a:rPr lang="it-IT" b="1" dirty="0"/>
              <a:t>Ground Truth </a:t>
            </a:r>
            <a:r>
              <a:rPr lang="it-IT" b="1" dirty="0" err="1"/>
              <a:t>Annotations</a:t>
            </a:r>
            <a:r>
              <a:rPr lang="it-IT" b="1" dirty="0"/>
              <a:t>:</a:t>
            </a:r>
            <a:r>
              <a:rPr lang="it-IT" dirty="0"/>
              <a:t> The side color </a:t>
            </a:r>
            <a:r>
              <a:rPr lang="it-IT" dirty="0" err="1"/>
              <a:t>bars</a:t>
            </a:r>
            <a:r>
              <a:rPr lang="it-IT" dirty="0"/>
              <a:t> (blue for Class 0, </a:t>
            </a:r>
            <a:r>
              <a:rPr lang="it-IT" dirty="0" err="1"/>
              <a:t>orange</a:t>
            </a:r>
            <a:r>
              <a:rPr lang="it-IT" dirty="0"/>
              <a:t>/red for Class 1) </a:t>
            </a:r>
            <a:r>
              <a:rPr lang="it-IT" dirty="0" err="1"/>
              <a:t>allow</a:t>
            </a:r>
            <a:r>
              <a:rPr lang="it-IT" dirty="0"/>
              <a:t> immediate visual </a:t>
            </a:r>
            <a:r>
              <a:rPr lang="it-IT" dirty="0" err="1"/>
              <a:t>verification</a:t>
            </a:r>
            <a:r>
              <a:rPr lang="it-IT" dirty="0"/>
              <a:t> of </a:t>
            </a:r>
            <a:r>
              <a:rPr lang="it-IT" dirty="0" err="1"/>
              <a:t>whether</a:t>
            </a:r>
            <a:r>
              <a:rPr lang="it-IT" dirty="0"/>
              <a:t> clinical-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similarities</a:t>
            </a:r>
            <a:r>
              <a:rPr lang="it-IT" dirty="0"/>
              <a:t> </a:t>
            </a:r>
            <a:r>
              <a:rPr lang="it-IT" dirty="0" err="1"/>
              <a:t>align</a:t>
            </a:r>
            <a:r>
              <a:rPr lang="it-IT" dirty="0"/>
              <a:t> with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disease</a:t>
            </a:r>
            <a:r>
              <a:rPr lang="it-IT" dirty="0"/>
              <a:t> status.</a:t>
            </a:r>
          </a:p>
          <a:p>
            <a:pPr lvl="0"/>
            <a:endParaRPr lang="it-IT" sz="8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73118E7-267E-3FBA-5108-793BB1E91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25193"/>
            <a:ext cx="5177790" cy="54076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2049275-A76F-6434-C17D-C43992279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Patient Distance Heatmap (Diagnostic View)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1DC04EC-FEEE-1EF3-1114-463910E23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Autofit/>
          </a:bodyPr>
          <a:lstStyle/>
          <a:p>
            <a:pPr lvl="0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Space:</a:t>
            </a: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Mapping: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Symmetrical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display of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Euclidean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distances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calculated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solely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on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factors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of the </a:t>
            </a:r>
            <a:r>
              <a:rPr lang="it-IT" sz="800" i="1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800" i="1" dirty="0">
                <a:latin typeface="Arial" panose="020B0604020202020204" pitchFamily="34" charset="0"/>
                <a:cs typeface="Arial" panose="020B0604020202020204" pitchFamily="34" charset="0"/>
              </a:rPr>
              <a:t>/Stress-Test View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excluding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baseline clinical and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parameters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Checkerboard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Macro-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Blocks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highly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diagonal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highlights large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cohorts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patients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nearly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identical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electrocardiographic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responses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chronotropic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reserves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under stress.</a:t>
            </a:r>
          </a:p>
          <a:p>
            <a:pPr lvl="0"/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Sensitivity to Acute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 Signal:</a:t>
            </a: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Sharp Color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Contrast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Compared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to the clinical-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map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instrumental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shows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distinct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transitions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shades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of blue (from light blue to deep dark blue)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clearly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polarize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phenotypes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with a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higher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gradient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Multi-View Framework </a:t>
            </a:r>
            <a:r>
              <a:rPr lang="it-IT" sz="800" b="1" dirty="0" err="1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it-IT" sz="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modularity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demonstrates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the stress test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contains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a self-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contained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signal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 compact and free of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800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sz="800" dirty="0">
                <a:latin typeface="Arial" panose="020B0604020202020204" pitchFamily="34" charset="0"/>
                <a:cs typeface="Arial" panose="020B0604020202020204" pitchFamily="34" charset="0"/>
              </a:rPr>
              <a:t>, ready for Late Fusion</a:t>
            </a:r>
          </a:p>
          <a:p>
            <a:pPr lvl="0"/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D1ABDC4-8688-0911-180C-CF497AE42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32234"/>
            <a:ext cx="5177790" cy="539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255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Late Fusion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it-IT" b="1" dirty="0" err="1"/>
              <a:t>Staged</a:t>
            </a:r>
            <a:r>
              <a:rPr lang="it-IT" b="1" dirty="0"/>
              <a:t> Architecture (Late Fusion):</a:t>
            </a:r>
            <a:endParaRPr lang="it-IT" dirty="0"/>
          </a:p>
          <a:p>
            <a:pPr lvl="1"/>
            <a:r>
              <a:rPr lang="it-IT" dirty="0" err="1"/>
              <a:t>Instead</a:t>
            </a:r>
            <a:r>
              <a:rPr lang="it-IT" dirty="0"/>
              <a:t> of </a:t>
            </a:r>
            <a:r>
              <a:rPr lang="it-IT" dirty="0" err="1"/>
              <a:t>fusing</a:t>
            </a:r>
            <a:r>
              <a:rPr lang="it-IT" dirty="0"/>
              <a:t> the </a:t>
            </a:r>
            <a:r>
              <a:rPr lang="it-IT" dirty="0" err="1"/>
              <a:t>raw</a:t>
            </a:r>
            <a:r>
              <a:rPr lang="it-IT" dirty="0"/>
              <a:t> data (Early Fusion), the system </a:t>
            </a:r>
            <a:r>
              <a:rPr lang="it-IT" dirty="0" err="1"/>
              <a:t>extracts</a:t>
            </a:r>
            <a:r>
              <a:rPr lang="it-IT" dirty="0"/>
              <a:t> </a:t>
            </a:r>
            <a:r>
              <a:rPr lang="it-IT" dirty="0" err="1"/>
              <a:t>independent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representations</a:t>
            </a:r>
            <a:r>
              <a:rPr lang="it-IT" dirty="0"/>
              <a:t> from the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views</a:t>
            </a:r>
            <a:r>
              <a:rPr lang="it-IT" dirty="0"/>
              <a:t>.</a:t>
            </a:r>
          </a:p>
          <a:p>
            <a:pPr lvl="1"/>
            <a:r>
              <a:rPr lang="it-IT" dirty="0"/>
              <a:t>The </a:t>
            </a:r>
            <a:r>
              <a:rPr lang="it-IT" dirty="0" err="1"/>
              <a:t>integration</a:t>
            </a:r>
            <a:r>
              <a:rPr lang="it-IT" dirty="0"/>
              <a:t> </a:t>
            </a:r>
            <a:r>
              <a:rPr lang="it-IT" dirty="0" err="1"/>
              <a:t>occurs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in the common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, </a:t>
            </a:r>
            <a:r>
              <a:rPr lang="it-IT" dirty="0" err="1"/>
              <a:t>preventing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</a:t>
            </a:r>
            <a:r>
              <a:rPr lang="it-IT" dirty="0" err="1"/>
              <a:t>propagation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Added</a:t>
            </a:r>
            <a:r>
              <a:rPr lang="it-IT" b="1" dirty="0"/>
              <a:t> Clinical Value:</a:t>
            </a:r>
            <a:endParaRPr lang="it-IT" dirty="0"/>
          </a:p>
          <a:p>
            <a:pPr lvl="1"/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Pathology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r>
              <a:rPr lang="it-IT" dirty="0"/>
              <a:t> The </a:t>
            </a:r>
            <a:r>
              <a:rPr lang="it-IT" dirty="0" err="1"/>
              <a:t>approach</a:t>
            </a:r>
            <a:r>
              <a:rPr lang="it-IT" dirty="0"/>
              <a:t> </a:t>
            </a:r>
            <a:r>
              <a:rPr lang="it-IT" dirty="0" err="1"/>
              <a:t>allows</a:t>
            </a:r>
            <a:r>
              <a:rPr lang="it-IT" dirty="0"/>
              <a:t> the </a:t>
            </a:r>
            <a:r>
              <a:rPr lang="it-IT" dirty="0" err="1"/>
              <a:t>identification</a:t>
            </a:r>
            <a:r>
              <a:rPr lang="it-IT" dirty="0"/>
              <a:t> of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who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 "</a:t>
            </a:r>
            <a:r>
              <a:rPr lang="it-IT" dirty="0" err="1"/>
              <a:t>normal</a:t>
            </a:r>
            <a:r>
              <a:rPr lang="it-IT" dirty="0"/>
              <a:t>" in the </a:t>
            </a:r>
            <a:r>
              <a:rPr lang="it-IT" dirty="0" err="1"/>
              <a:t>basic</a:t>
            </a:r>
            <a:r>
              <a:rPr lang="it-IT" dirty="0"/>
              <a:t> clinical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reveal</a:t>
            </a:r>
            <a:r>
              <a:rPr lang="it-IT" dirty="0"/>
              <a:t> clear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evidence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in the </a:t>
            </a:r>
            <a:r>
              <a:rPr lang="it-IT" dirty="0" err="1"/>
              <a:t>diagnostic</a:t>
            </a:r>
            <a:r>
              <a:rPr lang="it-IT" dirty="0"/>
              <a:t>/stress test </a:t>
            </a:r>
            <a:r>
              <a:rPr lang="it-IT" dirty="0" err="1"/>
              <a:t>view</a:t>
            </a:r>
            <a:r>
              <a:rPr lang="it-IT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Supervised Performance: Random Forest Confusion Matrix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55000" lnSpcReduction="20000"/>
          </a:bodyPr>
          <a:lstStyle/>
          <a:p>
            <a:pPr lvl="0"/>
            <a:r>
              <a:rPr lang="it-IT" b="1" dirty="0" err="1"/>
              <a:t>Classification</a:t>
            </a:r>
            <a:r>
              <a:rPr lang="it-IT" b="1" dirty="0"/>
              <a:t> </a:t>
            </a:r>
            <a:r>
              <a:rPr lang="it-IT" b="1" dirty="0" err="1"/>
              <a:t>Results</a:t>
            </a:r>
            <a:r>
              <a:rPr lang="it-IT" b="1" dirty="0"/>
              <a:t> on Independent Test Set:</a:t>
            </a:r>
            <a:endParaRPr lang="it-IT" dirty="0"/>
          </a:p>
          <a:p>
            <a:pPr lvl="1"/>
            <a:r>
              <a:rPr lang="it-IT" b="1" dirty="0"/>
              <a:t>Class 0 Performance:</a:t>
            </a:r>
            <a:r>
              <a:rPr lang="it-IT" dirty="0"/>
              <a:t> Out of 28 </a:t>
            </a:r>
            <a:r>
              <a:rPr lang="it-IT" dirty="0" err="1"/>
              <a:t>true</a:t>
            </a:r>
            <a:r>
              <a:rPr lang="it-IT" dirty="0"/>
              <a:t> Class 0 </a:t>
            </a:r>
            <a:r>
              <a:rPr lang="it-IT" dirty="0" err="1"/>
              <a:t>subjects</a:t>
            </a:r>
            <a:r>
              <a:rPr lang="it-IT" dirty="0"/>
              <a:t>, 20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correctly</a:t>
            </a:r>
            <a:r>
              <a:rPr lang="it-IT" dirty="0"/>
              <a:t> </a:t>
            </a:r>
            <a:r>
              <a:rPr lang="it-IT" dirty="0" err="1"/>
              <a:t>classified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Class 0, </a:t>
            </a:r>
            <a:r>
              <a:rPr lang="it-IT" dirty="0" err="1"/>
              <a:t>while</a:t>
            </a:r>
            <a:r>
              <a:rPr lang="it-IT" dirty="0"/>
              <a:t> 8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misclassified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Class 1 (False </a:t>
            </a:r>
            <a:r>
              <a:rPr lang="it-IT" dirty="0" err="1"/>
              <a:t>Positives</a:t>
            </a:r>
            <a:r>
              <a:rPr lang="it-IT" dirty="0"/>
              <a:t>).</a:t>
            </a:r>
          </a:p>
          <a:p>
            <a:pPr lvl="1"/>
            <a:r>
              <a:rPr lang="it-IT" b="1" dirty="0"/>
              <a:t>Class 1 Performance:</a:t>
            </a:r>
            <a:r>
              <a:rPr lang="it-IT" dirty="0"/>
              <a:t> Out of 33 </a:t>
            </a:r>
            <a:r>
              <a:rPr lang="it-IT" dirty="0" err="1"/>
              <a:t>true</a:t>
            </a:r>
            <a:r>
              <a:rPr lang="it-IT" dirty="0"/>
              <a:t> Class 1 </a:t>
            </a:r>
            <a:r>
              <a:rPr lang="it-IT" dirty="0" err="1"/>
              <a:t>subjects</a:t>
            </a:r>
            <a:r>
              <a:rPr lang="it-IT" dirty="0"/>
              <a:t>, 22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correctly</a:t>
            </a:r>
            <a:r>
              <a:rPr lang="it-IT" dirty="0"/>
              <a:t> </a:t>
            </a:r>
            <a:r>
              <a:rPr lang="it-IT" dirty="0" err="1"/>
              <a:t>identified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Class 1 (True </a:t>
            </a:r>
            <a:r>
              <a:rPr lang="it-IT" dirty="0" err="1"/>
              <a:t>Positives</a:t>
            </a:r>
            <a:r>
              <a:rPr lang="it-IT" dirty="0"/>
              <a:t>), with 11 </a:t>
            </a:r>
            <a:r>
              <a:rPr lang="it-IT" dirty="0" err="1"/>
              <a:t>misclassified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Class 0 (False </a:t>
            </a:r>
            <a:r>
              <a:rPr lang="it-IT" dirty="0" err="1"/>
              <a:t>Negatives</a:t>
            </a:r>
            <a:r>
              <a:rPr lang="it-IT" dirty="0"/>
              <a:t>).</a:t>
            </a:r>
          </a:p>
          <a:p>
            <a:pPr lvl="0"/>
            <a:r>
              <a:rPr lang="it-IT" b="1" dirty="0" err="1"/>
              <a:t>Predictive</a:t>
            </a:r>
            <a:r>
              <a:rPr lang="it-IT" b="1" dirty="0"/>
              <a:t> </a:t>
            </a:r>
            <a:r>
              <a:rPr lang="it-IT" b="1" dirty="0" err="1"/>
              <a:t>Efficacy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High Sensitivity (Recall for </a:t>
            </a:r>
            <a:r>
              <a:rPr lang="it-IT" b="1" dirty="0" err="1"/>
              <a:t>Disease</a:t>
            </a:r>
            <a:r>
              <a:rPr lang="it-IT" b="1" dirty="0"/>
              <a:t>):</a:t>
            </a:r>
            <a:r>
              <a:rPr lang="it-IT" dirty="0"/>
              <a:t> The model </a:t>
            </a:r>
            <a:r>
              <a:rPr lang="it-IT" dirty="0" err="1"/>
              <a:t>demonstrates</a:t>
            </a:r>
            <a:r>
              <a:rPr lang="it-IT" dirty="0"/>
              <a:t> a strong </a:t>
            </a:r>
            <a:r>
              <a:rPr lang="it-IT" dirty="0" err="1"/>
              <a:t>ability</a:t>
            </a:r>
            <a:r>
              <a:rPr lang="it-IT" dirty="0"/>
              <a:t> to </a:t>
            </a:r>
            <a:r>
              <a:rPr lang="it-IT" dirty="0" err="1"/>
              <a:t>capture</a:t>
            </a:r>
            <a:r>
              <a:rPr lang="it-IT" dirty="0"/>
              <a:t> positive </a:t>
            </a:r>
            <a:r>
              <a:rPr lang="it-IT" dirty="0" err="1"/>
              <a:t>cases</a:t>
            </a:r>
            <a:r>
              <a:rPr lang="it-IT" dirty="0"/>
              <a:t>,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isolating</a:t>
            </a:r>
            <a:r>
              <a:rPr lang="it-IT" dirty="0"/>
              <a:t> the </a:t>
            </a:r>
            <a:r>
              <a:rPr lang="it-IT" dirty="0" err="1"/>
              <a:t>vast</a:t>
            </a:r>
            <a:r>
              <a:rPr lang="it-IT" dirty="0"/>
              <a:t> </a:t>
            </a:r>
            <a:r>
              <a:rPr lang="it-IT" dirty="0" err="1"/>
              <a:t>majority</a:t>
            </a:r>
            <a:r>
              <a:rPr lang="it-IT" dirty="0"/>
              <a:t> of </a:t>
            </a:r>
            <a:r>
              <a:rPr lang="it-IT" dirty="0" err="1"/>
              <a:t>true</a:t>
            </a:r>
            <a:r>
              <a:rPr lang="it-IT" dirty="0"/>
              <a:t>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instances</a:t>
            </a:r>
            <a:r>
              <a:rPr lang="it-IT" dirty="0"/>
              <a:t>.</a:t>
            </a:r>
          </a:p>
          <a:p>
            <a:pPr lvl="1"/>
            <a:r>
              <a:rPr lang="it-IT" b="1" dirty="0" err="1"/>
              <a:t>Supervised</a:t>
            </a:r>
            <a:r>
              <a:rPr lang="it-IT" b="1" dirty="0"/>
              <a:t> </a:t>
            </a:r>
            <a:r>
              <a:rPr lang="it-IT" b="1" dirty="0" err="1"/>
              <a:t>Validation</a:t>
            </a:r>
            <a:r>
              <a:rPr lang="it-IT" b="1" dirty="0"/>
              <a:t>:</a:t>
            </a:r>
            <a:r>
              <a:rPr lang="it-IT" dirty="0"/>
              <a:t> The </a:t>
            </a:r>
            <a:r>
              <a:rPr lang="it-IT" dirty="0" err="1"/>
              <a:t>confusion</a:t>
            </a:r>
            <a:r>
              <a:rPr lang="it-IT" dirty="0"/>
              <a:t> </a:t>
            </a:r>
            <a:r>
              <a:rPr lang="it-IT" dirty="0" err="1"/>
              <a:t>matrix</a:t>
            </a:r>
            <a:r>
              <a:rPr lang="it-IT" dirty="0"/>
              <a:t> </a:t>
            </a:r>
            <a:r>
              <a:rPr lang="it-IT" dirty="0" err="1"/>
              <a:t>confirms</a:t>
            </a:r>
            <a:r>
              <a:rPr lang="it-IT" dirty="0"/>
              <a:t> the </a:t>
            </a:r>
            <a:r>
              <a:rPr lang="it-IT" dirty="0" err="1"/>
              <a:t>predictive</a:t>
            </a:r>
            <a:r>
              <a:rPr lang="it-IT" dirty="0"/>
              <a:t> power </a:t>
            </a:r>
            <a:r>
              <a:rPr lang="it-IT" dirty="0" err="1"/>
              <a:t>derived</a:t>
            </a:r>
            <a:r>
              <a:rPr lang="it-IT" dirty="0"/>
              <a:t> from the multi-</a:t>
            </a:r>
            <a:r>
              <a:rPr lang="it-IT" dirty="0" err="1"/>
              <a:t>view</a:t>
            </a:r>
            <a:r>
              <a:rPr lang="it-IT" dirty="0"/>
              <a:t> feature </a:t>
            </a:r>
            <a:r>
              <a:rPr lang="it-IT" dirty="0" err="1"/>
              <a:t>space</a:t>
            </a:r>
            <a:r>
              <a:rPr lang="it-IT" dirty="0"/>
              <a:t> and the Random Forest ensemble </a:t>
            </a:r>
            <a:r>
              <a:rPr lang="it-IT" dirty="0" err="1"/>
              <a:t>architecture</a:t>
            </a:r>
            <a:endParaRPr lang="it-IT" dirty="0"/>
          </a:p>
          <a:p>
            <a:pPr marL="0" indent="0">
              <a:buNone/>
            </a:pP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C7C30D1-C0D3-60E3-1BA5-B044B7E26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306107"/>
            <a:ext cx="5177790" cy="424578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Statistical Density Cohorts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it-IT" b="1" dirty="0"/>
              <a:t>Clinical </a:t>
            </a:r>
            <a:r>
              <a:rPr lang="it-IT" b="1" dirty="0" err="1"/>
              <a:t>Anomaly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Outlier</a:t>
            </a:r>
            <a:r>
              <a:rPr lang="it-IT" b="1" dirty="0"/>
              <a:t> </a:t>
            </a:r>
            <a:r>
              <a:rPr lang="it-IT" b="1" dirty="0" err="1"/>
              <a:t>Identification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Boxplots</a:t>
            </a:r>
            <a:r>
              <a:rPr lang="it-IT" dirty="0"/>
              <a:t> highlight </a:t>
            </a:r>
            <a:r>
              <a:rPr lang="it-IT" dirty="0" err="1"/>
              <a:t>critical</a:t>
            </a:r>
            <a:r>
              <a:rPr lang="it-IT" dirty="0"/>
              <a:t> clinical </a:t>
            </a:r>
            <a:r>
              <a:rPr lang="it-IT" dirty="0" err="1"/>
              <a:t>cases</a:t>
            </a:r>
            <a:r>
              <a:rPr lang="it-IT" dirty="0"/>
              <a:t>, with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cholesterol</a:t>
            </a:r>
            <a:r>
              <a:rPr lang="it-IT" dirty="0"/>
              <a:t> (</a:t>
            </a:r>
            <a:r>
              <a:rPr lang="it-IT" dirty="0" err="1"/>
              <a:t>chol</a:t>
            </a:r>
            <a:r>
              <a:rPr lang="it-IT" dirty="0"/>
              <a:t>) &gt; 381 mg/</a:t>
            </a:r>
            <a:r>
              <a:rPr lang="it-IT" dirty="0" err="1"/>
              <a:t>dL</a:t>
            </a:r>
            <a:r>
              <a:rPr lang="it-IT" dirty="0"/>
              <a:t> and </a:t>
            </a:r>
            <a:r>
              <a:rPr lang="it-IT" dirty="0" err="1"/>
              <a:t>blood</a:t>
            </a:r>
            <a:r>
              <a:rPr lang="it-IT" dirty="0"/>
              <a:t> pressure (</a:t>
            </a:r>
            <a:r>
              <a:rPr lang="it-IT" dirty="0" err="1"/>
              <a:t>trestbps</a:t>
            </a:r>
            <a:r>
              <a:rPr lang="it-IT" dirty="0"/>
              <a:t>) &gt; 181 mmHg </a:t>
            </a:r>
            <a:r>
              <a:rPr lang="it-IT" dirty="0" err="1"/>
              <a:t>values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Methodological</a:t>
            </a:r>
            <a:r>
              <a:rPr lang="it-IT" b="1" dirty="0"/>
              <a:t> Rigor: Data </a:t>
            </a:r>
            <a:r>
              <a:rPr lang="it-IT" b="1" dirty="0" err="1"/>
              <a:t>Preservation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/>
              <a:t>Dataset Integrity:</a:t>
            </a:r>
            <a:r>
              <a:rPr lang="it-IT" dirty="0"/>
              <a:t> 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opted</a:t>
            </a:r>
            <a:r>
              <a:rPr lang="it-IT" dirty="0"/>
              <a:t> to 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preserve</a:t>
            </a:r>
            <a:r>
              <a:rPr lang="it-IT" dirty="0"/>
              <a:t> the 303 </a:t>
            </a:r>
            <a:r>
              <a:rPr lang="it-IT" dirty="0" err="1"/>
              <a:t>original</a:t>
            </a:r>
            <a:r>
              <a:rPr lang="it-IT" dirty="0"/>
              <a:t> </a:t>
            </a:r>
            <a:r>
              <a:rPr lang="it-IT" dirty="0" err="1"/>
              <a:t>records</a:t>
            </a:r>
            <a:r>
              <a:rPr lang="it-IT" dirty="0"/>
              <a:t>.</a:t>
            </a:r>
          </a:p>
          <a:p>
            <a:pPr lvl="1"/>
            <a:r>
              <a:rPr lang="it-IT" b="1" dirty="0"/>
              <a:t>Extreme Data Value:</a:t>
            </a:r>
            <a:r>
              <a:rPr lang="it-IT" dirty="0"/>
              <a:t> In the </a:t>
            </a:r>
            <a:r>
              <a:rPr lang="it-IT" dirty="0" err="1"/>
              <a:t>medical</a:t>
            </a:r>
            <a:r>
              <a:rPr lang="it-IT" dirty="0"/>
              <a:t> field,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anomalies</a:t>
            </a:r>
            <a:r>
              <a:rPr lang="it-IT" dirty="0"/>
              <a:t> do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constitute</a:t>
            </a:r>
            <a:r>
              <a:rPr lang="it-IT" dirty="0"/>
              <a:t>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represent</a:t>
            </a:r>
            <a:r>
              <a:rPr lang="it-IT" dirty="0"/>
              <a:t> severe and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Implications</a:t>
            </a:r>
            <a:r>
              <a:rPr lang="it-IT" b="1" dirty="0"/>
              <a:t> for </a:t>
            </a:r>
            <a:r>
              <a:rPr lang="it-IT" b="1" dirty="0" err="1"/>
              <a:t>Latent</a:t>
            </a:r>
            <a:r>
              <a:rPr lang="it-IT" b="1" dirty="0"/>
              <a:t> Space:</a:t>
            </a:r>
            <a:endParaRPr lang="it-IT" dirty="0"/>
          </a:p>
          <a:p>
            <a:pPr lvl="1"/>
            <a:r>
              <a:rPr lang="it-IT" b="1" dirty="0" err="1"/>
              <a:t>Variability</a:t>
            </a:r>
            <a:r>
              <a:rPr lang="it-IT" b="1" dirty="0"/>
              <a:t> </a:t>
            </a:r>
            <a:r>
              <a:rPr lang="it-IT" b="1" dirty="0" err="1"/>
              <a:t>Preservation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Maintaining</a:t>
            </a:r>
            <a:r>
              <a:rPr lang="it-IT" dirty="0"/>
              <a:t> the </a:t>
            </a:r>
            <a:r>
              <a:rPr lang="it-IT" dirty="0" err="1"/>
              <a:t>entire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</a:t>
            </a:r>
            <a:r>
              <a:rPr lang="it-IT" dirty="0"/>
              <a:t> for PCA and clustering </a:t>
            </a:r>
            <a:r>
              <a:rPr lang="it-IT" dirty="0" err="1"/>
              <a:t>algorithms</a:t>
            </a:r>
            <a:r>
              <a:rPr lang="it-IT" dirty="0"/>
              <a:t> to </a:t>
            </a:r>
            <a:r>
              <a:rPr lang="it-IT" dirty="0" err="1"/>
              <a:t>accurately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the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transition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healthy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and acute </a:t>
            </a:r>
            <a:r>
              <a:rPr lang="it-IT" dirty="0" err="1"/>
              <a:t>pathologies</a:t>
            </a:r>
            <a:endParaRPr lang="it-IT" dirty="0"/>
          </a:p>
          <a:p>
            <a:pPr marL="0" indent="0">
              <a:lnSpc>
                <a:spcPct val="170000"/>
              </a:lnSpc>
              <a:buNone/>
            </a:pPr>
            <a:endParaRPr lang="it-IT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Supervised Diagnostics: ROC Curve Performance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</p:spPr>
            <p:txBody>
              <a:bodyPr anchor="t">
                <a:normAutofit fontScale="47500" lnSpcReduction="20000"/>
              </a:bodyPr>
              <a:lstStyle/>
              <a:p>
                <a:pPr lvl="0"/>
                <a:r>
                  <a:rPr lang="it-IT" b="1" dirty="0" err="1"/>
                  <a:t>Discriminant</a:t>
                </a:r>
                <a:r>
                  <a:rPr lang="it-IT" b="1" dirty="0"/>
                  <a:t> Power </a:t>
                </a:r>
                <a:r>
                  <a:rPr lang="it-IT" b="1" dirty="0" err="1"/>
                  <a:t>Validation</a:t>
                </a:r>
                <a:r>
                  <a:rPr lang="it-IT" b="1" dirty="0"/>
                  <a:t>:</a:t>
                </a:r>
                <a:r>
                  <a:rPr lang="it-IT" dirty="0"/>
                  <a:t> ROC curve </a:t>
                </a:r>
                <a:r>
                  <a:rPr lang="it-IT" dirty="0" err="1"/>
                  <a:t>analysis</a:t>
                </a:r>
                <a:r>
                  <a:rPr lang="it-IT" dirty="0"/>
                  <a:t> on an </a:t>
                </a:r>
                <a:r>
                  <a:rPr lang="it-IT" dirty="0" err="1"/>
                  <a:t>independent</a:t>
                </a:r>
                <a:r>
                  <a:rPr lang="it-IT" dirty="0"/>
                  <a:t> test set </a:t>
                </a:r>
                <a:r>
                  <a:rPr lang="it-IT" dirty="0" err="1"/>
                  <a:t>confirms</a:t>
                </a:r>
                <a:r>
                  <a:rPr lang="it-IT" dirty="0"/>
                  <a:t> the </a:t>
                </a:r>
                <a:r>
                  <a:rPr lang="it-IT" dirty="0" err="1"/>
                  <a:t>effectiveness</a:t>
                </a:r>
                <a:r>
                  <a:rPr lang="it-IT" dirty="0"/>
                  <a:t> of Random Forest in </a:t>
                </a:r>
                <a:r>
                  <a:rPr lang="it-IT" dirty="0" err="1"/>
                  <a:t>distinguishing</a:t>
                </a:r>
                <a:r>
                  <a:rPr lang="it-IT" dirty="0"/>
                  <a:t> </a:t>
                </a:r>
                <a:r>
                  <a:rPr lang="it-IT" dirty="0" err="1"/>
                  <a:t>between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target classes.</a:t>
                </a:r>
              </a:p>
              <a:p>
                <a:pPr lvl="0"/>
                <a:r>
                  <a:rPr lang="it-IT" b="1" dirty="0" err="1"/>
                  <a:t>Quantification</a:t>
                </a:r>
                <a:r>
                  <a:rPr lang="it-IT" b="1" dirty="0"/>
                  <a:t> (AUC = 0.77 for Late Fusion):</a:t>
                </a:r>
                <a:r>
                  <a:rPr lang="it-IT" dirty="0"/>
                  <a:t> The AUC scores </a:t>
                </a:r>
                <a:r>
                  <a:rPr lang="it-IT" dirty="0" err="1"/>
                  <a:t>certify</a:t>
                </a:r>
                <a:r>
                  <a:rPr lang="it-IT" dirty="0"/>
                  <a:t> the </a:t>
                </a:r>
                <a:r>
                  <a:rPr lang="it-IT" dirty="0" err="1"/>
                  <a:t>statistical</a:t>
                </a:r>
                <a:r>
                  <a:rPr lang="it-IT" dirty="0"/>
                  <a:t> </a:t>
                </a:r>
                <a:r>
                  <a:rPr lang="it-IT" dirty="0" err="1"/>
                  <a:t>robustness</a:t>
                </a:r>
                <a:r>
                  <a:rPr lang="it-IT" dirty="0"/>
                  <a:t> and </a:t>
                </a:r>
                <a:r>
                  <a:rPr lang="it-IT" dirty="0" err="1"/>
                  <a:t>discriminatory</a:t>
                </a:r>
                <a:r>
                  <a:rPr lang="it-IT" dirty="0"/>
                  <a:t> power of the models, with Late Fusion </a:t>
                </a:r>
                <a:r>
                  <a:rPr lang="it-IT" dirty="0" err="1"/>
                  <a:t>achieving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dirty="0"/>
                  <a:t> performance (0.77), </a:t>
                </a:r>
                <a:r>
                  <a:rPr lang="it-IT" dirty="0" err="1"/>
                  <a:t>followed</a:t>
                </a:r>
                <a:r>
                  <a:rPr lang="it-IT" dirty="0"/>
                  <a:t> by the </a:t>
                </a:r>
                <a:r>
                  <a:rPr lang="it-IT" dirty="0" err="1"/>
                  <a:t>Diagnostic</a:t>
                </a:r>
                <a:r>
                  <a:rPr lang="it-IT" dirty="0"/>
                  <a:t> </a:t>
                </a:r>
                <a:r>
                  <a:rPr lang="it-IT" dirty="0" err="1"/>
                  <a:t>view</a:t>
                </a:r>
                <a:r>
                  <a:rPr lang="it-IT" dirty="0"/>
                  <a:t> (0.76), </a:t>
                </a:r>
                <a:r>
                  <a:rPr lang="it-IT" dirty="0" err="1"/>
                  <a:t>Flat</a:t>
                </a:r>
                <a:r>
                  <a:rPr lang="it-IT" dirty="0"/>
                  <a:t> 5-feature RF (0.74), and Clinical </a:t>
                </a:r>
                <a:r>
                  <a:rPr lang="it-IT" dirty="0" err="1"/>
                  <a:t>view</a:t>
                </a:r>
                <a:r>
                  <a:rPr lang="it-IT" dirty="0"/>
                  <a:t> (0.66).</a:t>
                </a:r>
              </a:p>
              <a:p>
                <a:pPr lvl="0"/>
                <a:r>
                  <a:rPr lang="it-IT" b="1" dirty="0" err="1"/>
                  <a:t>Trajectory</a:t>
                </a:r>
                <a:r>
                  <a:rPr lang="it-IT" b="1" dirty="0"/>
                  <a:t> Analysis:</a:t>
                </a:r>
                <a:r>
                  <a:rPr lang="it-IT" dirty="0"/>
                  <a:t> The progressive rise of the </a:t>
                </a:r>
                <a:r>
                  <a:rPr lang="it-IT" dirty="0" err="1"/>
                  <a:t>curves</a:t>
                </a:r>
                <a:r>
                  <a:rPr lang="it-IT" dirty="0"/>
                  <a:t> </a:t>
                </a:r>
                <a:r>
                  <a:rPr lang="it-IT" dirty="0" err="1"/>
                  <a:t>above</a:t>
                </a:r>
                <a:r>
                  <a:rPr lang="it-IT" dirty="0"/>
                  <a:t> the random </a:t>
                </a:r>
                <a:r>
                  <a:rPr lang="it-IT" dirty="0" err="1"/>
                  <a:t>classifier</a:t>
                </a:r>
                <a:r>
                  <a:rPr lang="it-IT" dirty="0"/>
                  <a:t> line </a:t>
                </a:r>
                <a:r>
                  <a:rPr lang="it-IT" dirty="0" err="1"/>
                  <a:t>demonstrates</a:t>
                </a:r>
                <a:r>
                  <a:rPr lang="it-IT" dirty="0"/>
                  <a:t> a </a:t>
                </a:r>
                <a:r>
                  <a:rPr lang="it-IT" dirty="0" err="1"/>
                  <a:t>favorable</a:t>
                </a:r>
                <a:r>
                  <a:rPr lang="it-IT" dirty="0"/>
                  <a:t> balance </a:t>
                </a:r>
                <a:r>
                  <a:rPr lang="it-IT" dirty="0" err="1"/>
                  <a:t>between</a:t>
                </a:r>
                <a:r>
                  <a:rPr lang="it-IT" dirty="0"/>
                  <a:t> a high True Positive Rate and a </a:t>
                </a:r>
                <a:r>
                  <a:rPr lang="it-IT" dirty="0" err="1"/>
                  <a:t>controlled</a:t>
                </a:r>
                <a:r>
                  <a:rPr lang="it-IT" dirty="0"/>
                  <a:t> false </a:t>
                </a:r>
                <a:r>
                  <a:rPr lang="it-IT" dirty="0" err="1"/>
                  <a:t>alarm</a:t>
                </a:r>
                <a:r>
                  <a:rPr lang="it-IT" dirty="0"/>
                  <a:t> rate.</a:t>
                </a:r>
              </a:p>
              <a:p>
                <a:pPr lvl="0"/>
                <a:r>
                  <a:rPr lang="it-IT" b="1" dirty="0" err="1"/>
                  <a:t>Effectiveness</a:t>
                </a:r>
                <a:r>
                  <a:rPr lang="it-IT" b="1" dirty="0"/>
                  <a:t> of the Multi-View Architecture:</a:t>
                </a:r>
                <a:r>
                  <a:rPr lang="it-IT" dirty="0"/>
                  <a:t> The clear </a:t>
                </a:r>
                <a:r>
                  <a:rPr lang="it-IT" dirty="0" err="1"/>
                  <a:t>separation</a:t>
                </a:r>
                <a:r>
                  <a:rPr lang="it-IT" dirty="0"/>
                  <a:t> from the </a:t>
                </a:r>
                <a:r>
                  <a:rPr lang="it-IT" dirty="0" err="1"/>
                  <a:t>diagonal</a:t>
                </a:r>
                <a:r>
                  <a:rPr lang="it-IT" dirty="0"/>
                  <a:t> random line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i="0"/>
                      <m:t>AUC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mathematically</a:t>
                </a:r>
                <a:r>
                  <a:rPr lang="it-IT" dirty="0"/>
                  <a:t> </a:t>
                </a:r>
                <a:r>
                  <a:rPr lang="it-IT" dirty="0" err="1"/>
                  <a:t>validates</a:t>
                </a:r>
                <a:r>
                  <a:rPr lang="it-IT" dirty="0"/>
                  <a:t> the </a:t>
                </a:r>
                <a:r>
                  <a:rPr lang="it-IT" dirty="0" err="1"/>
                  <a:t>contribution</a:t>
                </a:r>
                <a:r>
                  <a:rPr lang="it-IT" dirty="0"/>
                  <a:t> and </a:t>
                </a:r>
                <a:r>
                  <a:rPr lang="it-IT" dirty="0" err="1"/>
                  <a:t>superiority</a:t>
                </a:r>
                <a:r>
                  <a:rPr lang="it-IT" dirty="0"/>
                  <a:t> of the multi-</a:t>
                </a:r>
                <a:r>
                  <a:rPr lang="it-IT" dirty="0" err="1"/>
                  <a:t>view</a:t>
                </a:r>
                <a:r>
                  <a:rPr lang="it-IT" dirty="0"/>
                  <a:t> </a:t>
                </a:r>
                <a:r>
                  <a:rPr lang="it-IT" dirty="0" err="1"/>
                  <a:t>predictive</a:t>
                </a:r>
                <a:r>
                  <a:rPr lang="it-IT" dirty="0"/>
                  <a:t> framework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  <a:blipFill>
                <a:blip r:embed="rId2"/>
                <a:stretch>
                  <a:fillRect t="-68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87E8787F-EDC9-5458-164D-43CB6F147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325523"/>
            <a:ext cx="5177790" cy="420695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2501CD3-E438-DDFD-58CD-81F5C242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Global Explainability: Computational Weight of Clinical Features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FB0DCD-8D7E-F288-C6C6-75366C1D9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fontScale="62500" lnSpcReduction="20000"/>
          </a:bodyPr>
          <a:lstStyle/>
          <a:p>
            <a:pPr lvl="0"/>
            <a:r>
              <a:rPr lang="it-IT" b="1" dirty="0" err="1"/>
              <a:t>Algorithmic</a:t>
            </a:r>
            <a:r>
              <a:rPr lang="it-IT" b="1" dirty="0"/>
              <a:t> </a:t>
            </a:r>
            <a:r>
              <a:rPr lang="it-IT" b="1" dirty="0" err="1"/>
              <a:t>Transparency</a:t>
            </a:r>
            <a:r>
              <a:rPr lang="it-IT" b="1" dirty="0"/>
              <a:t> (XAI):</a:t>
            </a:r>
            <a:r>
              <a:rPr lang="it-IT" dirty="0"/>
              <a:t> Application of the Mean </a:t>
            </a:r>
            <a:r>
              <a:rPr lang="it-IT" dirty="0" err="1"/>
              <a:t>Decrease</a:t>
            </a:r>
            <a:r>
              <a:rPr lang="it-IT" dirty="0"/>
              <a:t> in Gini </a:t>
            </a:r>
            <a:r>
              <a:rPr lang="it-IT" dirty="0" err="1"/>
              <a:t>Impurity</a:t>
            </a:r>
            <a:r>
              <a:rPr lang="it-IT" dirty="0"/>
              <a:t> to </a:t>
            </a:r>
            <a:r>
              <a:rPr lang="it-IT" dirty="0" err="1"/>
              <a:t>quantify</a:t>
            </a:r>
            <a:r>
              <a:rPr lang="it-IT" dirty="0"/>
              <a:t> the </a:t>
            </a:r>
            <a:r>
              <a:rPr lang="it-IT" dirty="0" err="1"/>
              <a:t>statistical</a:t>
            </a:r>
            <a:r>
              <a:rPr lang="it-IT" dirty="0"/>
              <a:t> impact of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feature on the </a:t>
            </a:r>
            <a:r>
              <a:rPr lang="it-IT" dirty="0" err="1"/>
              <a:t>model's</a:t>
            </a:r>
            <a:r>
              <a:rPr lang="it-IT" dirty="0"/>
              <a:t> </a:t>
            </a:r>
            <a:r>
              <a:rPr lang="it-IT" dirty="0" err="1"/>
              <a:t>decision</a:t>
            </a:r>
            <a:r>
              <a:rPr lang="it-IT" dirty="0"/>
              <a:t> </a:t>
            </a:r>
            <a:r>
              <a:rPr lang="it-IT" dirty="0" err="1"/>
              <a:t>stability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Top </a:t>
            </a:r>
            <a:r>
              <a:rPr lang="it-IT" b="1" dirty="0" err="1"/>
              <a:t>Diagnostic</a:t>
            </a:r>
            <a:r>
              <a:rPr lang="it-IT" b="1" dirty="0"/>
              <a:t> Drivers:</a:t>
            </a:r>
            <a:endParaRPr lang="it-IT" dirty="0"/>
          </a:p>
          <a:p>
            <a:pPr lvl="1"/>
            <a:r>
              <a:rPr lang="it-IT" b="1" dirty="0" err="1"/>
              <a:t>thalach</a:t>
            </a:r>
            <a:r>
              <a:rPr lang="it-IT" b="1" dirty="0"/>
              <a:t> &amp; </a:t>
            </a:r>
            <a:r>
              <a:rPr lang="it-IT" b="1" dirty="0" err="1"/>
              <a:t>oldpeak</a:t>
            </a:r>
            <a:r>
              <a:rPr lang="it-IT" b="1" dirty="0"/>
              <a:t> (Dominant):</a:t>
            </a:r>
            <a:r>
              <a:rPr lang="it-IT" dirty="0"/>
              <a:t> </a:t>
            </a:r>
            <a:r>
              <a:rPr lang="it-IT" dirty="0" err="1"/>
              <a:t>Ranked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</a:t>
            </a:r>
            <a:r>
              <a:rPr lang="it-IT" dirty="0" err="1"/>
              <a:t>primary</a:t>
            </a:r>
            <a:r>
              <a:rPr lang="it-IT" dirty="0"/>
              <a:t> drivers of the ensemble model, </a:t>
            </a:r>
            <a:r>
              <a:rPr lang="it-IT" dirty="0" err="1"/>
              <a:t>confirming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maximum </a:t>
            </a:r>
            <a:r>
              <a:rPr lang="it-IT" dirty="0" err="1"/>
              <a:t>heart</a:t>
            </a:r>
            <a:r>
              <a:rPr lang="it-IT" dirty="0"/>
              <a:t> rate under stress and ST-</a:t>
            </a:r>
            <a:r>
              <a:rPr lang="it-IT" dirty="0" err="1"/>
              <a:t>depression</a:t>
            </a:r>
            <a:r>
              <a:rPr lang="it-IT" dirty="0"/>
              <a:t> </a:t>
            </a:r>
            <a:r>
              <a:rPr lang="it-IT" dirty="0" err="1"/>
              <a:t>hold</a:t>
            </a:r>
            <a:r>
              <a:rPr lang="it-IT" dirty="0"/>
              <a:t> the </a:t>
            </a:r>
            <a:r>
              <a:rPr lang="it-IT" dirty="0" err="1"/>
              <a:t>highest</a:t>
            </a:r>
            <a:r>
              <a:rPr lang="it-IT" dirty="0"/>
              <a:t> relative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importance</a:t>
            </a:r>
            <a:r>
              <a:rPr lang="it-IT" dirty="0"/>
              <a:t> in </a:t>
            </a:r>
            <a:r>
              <a:rPr lang="it-IT" dirty="0" err="1"/>
              <a:t>determining</a:t>
            </a:r>
            <a:r>
              <a:rPr lang="it-IT" dirty="0"/>
              <a:t> </a:t>
            </a:r>
            <a:r>
              <a:rPr lang="it-IT" dirty="0" err="1"/>
              <a:t>cardiac</a:t>
            </a:r>
            <a:r>
              <a:rPr lang="it-IT" dirty="0"/>
              <a:t> risk.</a:t>
            </a:r>
          </a:p>
          <a:p>
            <a:pPr lvl="1"/>
            <a:r>
              <a:rPr lang="it-IT" b="1" dirty="0"/>
              <a:t>age (</a:t>
            </a:r>
            <a:r>
              <a:rPr lang="it-IT" b="1" dirty="0" err="1"/>
              <a:t>Fundamental</a:t>
            </a:r>
            <a:r>
              <a:rPr lang="it-IT" b="1" dirty="0"/>
              <a:t>):</a:t>
            </a:r>
            <a:r>
              <a:rPr lang="it-IT" dirty="0"/>
              <a:t> Follows </a:t>
            </a:r>
            <a:r>
              <a:rPr lang="it-IT" dirty="0" err="1"/>
              <a:t>closely</a:t>
            </a:r>
            <a:r>
              <a:rPr lang="it-IT" dirty="0"/>
              <a:t>, </a:t>
            </a:r>
            <a:r>
              <a:rPr lang="it-IT" dirty="0" err="1"/>
              <a:t>demonstrating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the model </a:t>
            </a:r>
            <a:r>
              <a:rPr lang="it-IT" dirty="0" err="1"/>
              <a:t>effectively</a:t>
            </a:r>
            <a:r>
              <a:rPr lang="it-IT" dirty="0"/>
              <a:t> balances </a:t>
            </a:r>
            <a:r>
              <a:rPr lang="it-IT" dirty="0" err="1"/>
              <a:t>demographic</a:t>
            </a:r>
            <a:r>
              <a:rPr lang="it-IT" dirty="0"/>
              <a:t> background with clinical </a:t>
            </a:r>
            <a:r>
              <a:rPr lang="it-IT" dirty="0" err="1"/>
              <a:t>metrics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Intermediate &amp; </a:t>
            </a:r>
            <a:r>
              <a:rPr lang="it-IT" b="1" dirty="0" err="1"/>
              <a:t>Secondary</a:t>
            </a:r>
            <a:r>
              <a:rPr lang="it-IT" b="1" dirty="0"/>
              <a:t> </a:t>
            </a:r>
            <a:r>
              <a:rPr lang="it-IT" b="1" dirty="0" err="1"/>
              <a:t>Contribution</a:t>
            </a:r>
            <a:r>
              <a:rPr lang="it-IT" b="1" dirty="0"/>
              <a:t>:</a:t>
            </a:r>
            <a:endParaRPr lang="it-IT" dirty="0"/>
          </a:p>
          <a:p>
            <a:pPr lvl="1"/>
            <a:r>
              <a:rPr lang="it-IT" b="1" dirty="0" err="1"/>
              <a:t>chol</a:t>
            </a:r>
            <a:r>
              <a:rPr lang="it-IT" b="1" dirty="0"/>
              <a:t> &amp; </a:t>
            </a:r>
            <a:r>
              <a:rPr lang="it-IT" b="1" dirty="0" err="1"/>
              <a:t>trestbps</a:t>
            </a:r>
            <a:r>
              <a:rPr lang="it-IT" b="1" dirty="0"/>
              <a:t>:</a:t>
            </a:r>
            <a:r>
              <a:rPr lang="it-IT" dirty="0"/>
              <a:t> Serum </a:t>
            </a:r>
            <a:r>
              <a:rPr lang="it-IT" dirty="0" err="1"/>
              <a:t>cholesterol</a:t>
            </a:r>
            <a:r>
              <a:rPr lang="it-IT" dirty="0"/>
              <a:t> and </a:t>
            </a:r>
            <a:r>
              <a:rPr lang="it-IT" dirty="0" err="1"/>
              <a:t>resting</a:t>
            </a:r>
            <a:r>
              <a:rPr lang="it-IT" dirty="0"/>
              <a:t> </a:t>
            </a:r>
            <a:r>
              <a:rPr lang="it-IT" dirty="0" err="1"/>
              <a:t>blood</a:t>
            </a:r>
            <a:r>
              <a:rPr lang="it-IT" dirty="0"/>
              <a:t> pressure provide the </a:t>
            </a:r>
            <a:r>
              <a:rPr lang="it-IT" dirty="0" err="1"/>
              <a:t>secondary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context</a:t>
            </a:r>
            <a:r>
              <a:rPr lang="it-IT" dirty="0"/>
              <a:t> </a:t>
            </a:r>
            <a:r>
              <a:rPr lang="it-IT" dirty="0" err="1"/>
              <a:t>necessary</a:t>
            </a:r>
            <a:r>
              <a:rPr lang="it-IT" dirty="0"/>
              <a:t> to </a:t>
            </a:r>
            <a:r>
              <a:rPr lang="it-IT" dirty="0" err="1"/>
              <a:t>refine</a:t>
            </a:r>
            <a:r>
              <a:rPr lang="it-IT" dirty="0"/>
              <a:t> the </a:t>
            </a:r>
            <a:r>
              <a:rPr lang="it-IT" dirty="0" err="1"/>
              <a:t>decision</a:t>
            </a:r>
            <a:r>
              <a:rPr lang="it-IT" dirty="0"/>
              <a:t> </a:t>
            </a:r>
            <a:r>
              <a:rPr lang="it-IT" dirty="0" err="1"/>
              <a:t>boundaries</a:t>
            </a:r>
            <a:r>
              <a:rPr lang="it-IT" dirty="0"/>
              <a:t>, </a:t>
            </a:r>
            <a:r>
              <a:rPr lang="it-IT" dirty="0" err="1"/>
              <a:t>though</a:t>
            </a:r>
            <a:r>
              <a:rPr lang="it-IT" dirty="0"/>
              <a:t> with a </a:t>
            </a:r>
            <a:r>
              <a:rPr lang="it-IT" dirty="0" err="1"/>
              <a:t>lower</a:t>
            </a:r>
            <a:r>
              <a:rPr lang="it-IT" dirty="0"/>
              <a:t> relative Gini </a:t>
            </a:r>
            <a:r>
              <a:rPr lang="it-IT" dirty="0" err="1"/>
              <a:t>importance</a:t>
            </a:r>
            <a:r>
              <a:rPr lang="it-IT" dirty="0"/>
              <a:t> </a:t>
            </a:r>
            <a:r>
              <a:rPr lang="it-IT" dirty="0" err="1"/>
              <a:t>compared</a:t>
            </a:r>
            <a:r>
              <a:rPr lang="it-IT" dirty="0"/>
              <a:t> to the </a:t>
            </a:r>
            <a:r>
              <a:rPr lang="it-IT" dirty="0" err="1"/>
              <a:t>primary</a:t>
            </a:r>
            <a:r>
              <a:rPr lang="it-IT" dirty="0"/>
              <a:t> </a:t>
            </a:r>
            <a:r>
              <a:rPr lang="it-IT" dirty="0" err="1"/>
              <a:t>functional</a:t>
            </a:r>
            <a:r>
              <a:rPr lang="it-IT" dirty="0"/>
              <a:t> and 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indicators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6B87DEB-4954-62E5-7F9D-F46418611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175143"/>
            <a:ext cx="4094226" cy="2507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4144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Adjusted Odds Ratios (Forest Plot)</a:t>
            </a:r>
            <a:b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rmAutofit fontScale="55000" lnSpcReduction="20000"/>
              </a:bodyPr>
              <a:lstStyle/>
              <a:p>
                <a:pPr lvl="0"/>
                <a:r>
                  <a:rPr lang="it-IT" b="1" dirty="0" err="1"/>
                  <a:t>Methodological</a:t>
                </a:r>
                <a:r>
                  <a:rPr lang="it-IT" b="1" dirty="0"/>
                  <a:t> </a:t>
                </a:r>
                <a:r>
                  <a:rPr lang="it-IT" b="1" dirty="0" err="1"/>
                  <a:t>Approach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Implementation</a:t>
                </a:r>
                <a:r>
                  <a:rPr lang="it-IT" dirty="0"/>
                  <a:t> of a </a:t>
                </a:r>
                <a:r>
                  <a:rPr lang="it-IT" dirty="0" err="1"/>
                  <a:t>multivariable</a:t>
                </a:r>
                <a:r>
                  <a:rPr lang="it-IT" dirty="0"/>
                  <a:t> </a:t>
                </a:r>
                <a:r>
                  <a:rPr lang="it-IT" dirty="0" err="1"/>
                  <a:t>logistic</a:t>
                </a:r>
                <a:r>
                  <a:rPr lang="it-IT" dirty="0"/>
                  <a:t> </a:t>
                </a:r>
                <a:r>
                  <a:rPr lang="it-IT" dirty="0" err="1"/>
                  <a:t>regression</a:t>
                </a:r>
                <a:r>
                  <a:rPr lang="it-IT" dirty="0"/>
                  <a:t> on the </a:t>
                </a:r>
                <a:r>
                  <a:rPr lang="it-IT" dirty="0" err="1"/>
                  <a:t>standardized</a:t>
                </a:r>
                <a:r>
                  <a:rPr lang="it-IT" dirty="0"/>
                  <a:t> </a:t>
                </a:r>
                <a:r>
                  <a:rPr lang="it-IT" dirty="0" err="1"/>
                  <a:t>continuous</a:t>
                </a:r>
                <a:r>
                  <a:rPr lang="it-IT" dirty="0"/>
                  <a:t> features (age, </a:t>
                </a:r>
                <a:r>
                  <a:rPr lang="it-IT" dirty="0" err="1"/>
                  <a:t>trestbps</a:t>
                </a:r>
                <a:r>
                  <a:rPr lang="it-IT" dirty="0"/>
                  <a:t>, </a:t>
                </a:r>
                <a:r>
                  <a:rPr lang="it-IT" dirty="0" err="1"/>
                  <a:t>chol</a:t>
                </a:r>
                <a:r>
                  <a:rPr lang="it-IT" dirty="0"/>
                  <a:t>, </a:t>
                </a:r>
                <a:r>
                  <a:rPr lang="it-IT" dirty="0" err="1"/>
                  <a:t>thalach</a:t>
                </a:r>
                <a:r>
                  <a:rPr lang="it-IT" dirty="0"/>
                  <a:t>, </a:t>
                </a:r>
                <a:r>
                  <a:rPr lang="it-IT" dirty="0" err="1"/>
                  <a:t>oldpeak</a:t>
                </a:r>
                <a:r>
                  <a:rPr lang="it-IT" dirty="0"/>
                  <a:t>) to </a:t>
                </a:r>
                <a:r>
                  <a:rPr lang="it-IT" dirty="0" err="1"/>
                  <a:t>extract</a:t>
                </a:r>
                <a:r>
                  <a:rPr lang="it-IT" dirty="0"/>
                  <a:t> </a:t>
                </a:r>
                <a:r>
                  <a:rPr lang="it-IT" dirty="0" err="1"/>
                  <a:t>adjusted</a:t>
                </a:r>
                <a:r>
                  <a:rPr lang="it-IT" dirty="0"/>
                  <a:t> </a:t>
                </a:r>
                <a:r>
                  <a:rPr lang="it-IT" dirty="0" err="1"/>
                  <a:t>Odds</a:t>
                </a:r>
                <a:r>
                  <a:rPr lang="it-IT" dirty="0"/>
                  <a:t> </a:t>
                </a:r>
                <a:r>
                  <a:rPr lang="it-IT" dirty="0" err="1"/>
                  <a:t>Ratios</a:t>
                </a:r>
                <a:r>
                  <a:rPr lang="it-IT" dirty="0"/>
                  <a:t> (</a:t>
                </a:r>
                <a:r>
                  <a:rPr lang="it-IT" dirty="0" err="1"/>
                  <a:t>ORs</a:t>
                </a:r>
                <a:r>
                  <a:rPr lang="it-IT" dirty="0"/>
                  <a:t>) and 95% confidence </a:t>
                </a:r>
                <a:r>
                  <a:rPr lang="it-IT" dirty="0" err="1"/>
                  <a:t>intervals</a:t>
                </a:r>
                <a:r>
                  <a:rPr lang="it-IT" dirty="0"/>
                  <a:t>, </a:t>
                </a:r>
                <a:r>
                  <a:rPr lang="it-IT" dirty="0" err="1"/>
                  <a:t>quantifying</a:t>
                </a:r>
                <a:r>
                  <a:rPr lang="it-IT" dirty="0"/>
                  <a:t> the net </a:t>
                </a:r>
                <a:r>
                  <a:rPr lang="it-IT" dirty="0" err="1"/>
                  <a:t>association</a:t>
                </a:r>
                <a:r>
                  <a:rPr lang="it-IT" dirty="0"/>
                  <a:t> of </a:t>
                </a:r>
                <a:r>
                  <a:rPr lang="it-IT" dirty="0" err="1"/>
                  <a:t>each</a:t>
                </a:r>
                <a:r>
                  <a:rPr lang="it-IT" dirty="0"/>
                  <a:t> biomarker with </a:t>
                </a:r>
                <a:r>
                  <a:rPr lang="it-IT" dirty="0" err="1"/>
                  <a:t>cardiac</a:t>
                </a:r>
                <a:r>
                  <a:rPr lang="it-IT" dirty="0"/>
                  <a:t> </a:t>
                </a:r>
                <a:r>
                  <a:rPr lang="it-IT" dirty="0" err="1"/>
                  <a:t>disease</a:t>
                </a:r>
                <a:r>
                  <a:rPr lang="it-IT" dirty="0"/>
                  <a:t> risk.</a:t>
                </a:r>
              </a:p>
              <a:p>
                <a:pPr lvl="0"/>
                <a:r>
                  <a:rPr lang="it-IT" b="1" dirty="0"/>
                  <a:t>Feature </a:t>
                </a:r>
                <a:r>
                  <a:rPr lang="it-IT" b="1" dirty="0" err="1"/>
                  <a:t>Associations</a:t>
                </a:r>
                <a:r>
                  <a:rPr lang="it-IT" b="1" dirty="0"/>
                  <a:t> (</a:t>
                </a:r>
                <a:r>
                  <a:rPr lang="it-IT" b="1" dirty="0" err="1"/>
                  <a:t>Odds</a:t>
                </a:r>
                <a:r>
                  <a:rPr lang="it-IT" b="1" dirty="0"/>
                  <a:t> </a:t>
                </a:r>
                <a:r>
                  <a:rPr lang="it-IT" b="1" dirty="0" err="1"/>
                  <a:t>Ratios</a:t>
                </a:r>
                <a:r>
                  <a:rPr lang="it-IT" b="1" dirty="0"/>
                  <a:t> relative to </a:t>
                </a:r>
                <a:r>
                  <a:rPr lang="it-IT" b="1" dirty="0" err="1"/>
                  <a:t>Nullity</a:t>
                </a:r>
                <a:r>
                  <a:rPr lang="it-IT" b="1" dirty="0"/>
                  <a:t> Line </a:t>
                </a:r>
                <a:r>
                  <a:rPr lang="it-IT" b="1" dirty="0" err="1"/>
                  <a:t>at</a:t>
                </a:r>
                <a:r>
                  <a:rPr lang="it-IT" b="1" dirty="0"/>
                  <a:t> 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it-IT" b="1" dirty="0"/>
                  <a:t>):</a:t>
                </a:r>
                <a:endParaRPr lang="it-IT" dirty="0"/>
              </a:p>
              <a:p>
                <a:pPr lvl="1"/>
                <a:r>
                  <a:rPr lang="it-IT" b="1" dirty="0" err="1"/>
                  <a:t>thalach</a:t>
                </a:r>
                <a:r>
                  <a:rPr lang="it-IT" b="1" dirty="0"/>
                  <a:t> (Positive Association):</a:t>
                </a:r>
                <a:r>
                  <a:rPr lang="it-IT" dirty="0"/>
                  <a:t> </a:t>
                </a:r>
                <a:r>
                  <a:rPr lang="it-IT" dirty="0" err="1"/>
                  <a:t>Positioned</a:t>
                </a:r>
                <a:r>
                  <a:rPr lang="it-IT" dirty="0"/>
                  <a:t> to the </a:t>
                </a:r>
                <a:r>
                  <a:rPr lang="it-IT" dirty="0" err="1"/>
                  <a:t>right</a:t>
                </a:r>
                <a:r>
                  <a:rPr lang="it-IT" dirty="0"/>
                  <a:t> of the </a:t>
                </a:r>
                <a:r>
                  <a:rPr lang="it-IT" dirty="0" err="1"/>
                  <a:t>nullity</a:t>
                </a:r>
                <a:r>
                  <a:rPr lang="it-IT" dirty="0"/>
                  <a:t> line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it-IT" dirty="0"/>
                  <a:t>), </a:t>
                </a:r>
                <a:r>
                  <a:rPr lang="it-IT" dirty="0" err="1"/>
                  <a:t>reflecting</a:t>
                </a:r>
                <a:r>
                  <a:rPr lang="it-IT" dirty="0"/>
                  <a:t> </a:t>
                </a:r>
                <a:r>
                  <a:rPr lang="it-IT" dirty="0" err="1"/>
                  <a:t>its</a:t>
                </a:r>
                <a:r>
                  <a:rPr lang="it-IT" dirty="0"/>
                  <a:t> strong </a:t>
                </a:r>
                <a:r>
                  <a:rPr lang="it-IT" dirty="0" err="1"/>
                  <a:t>predictive</a:t>
                </a:r>
                <a:r>
                  <a:rPr lang="it-IT" dirty="0"/>
                  <a:t> </a:t>
                </a:r>
                <a:r>
                  <a:rPr lang="it-IT" dirty="0" err="1"/>
                  <a:t>relationship</a:t>
                </a:r>
                <a:r>
                  <a:rPr lang="it-IT" dirty="0"/>
                  <a:t> </a:t>
                </a:r>
                <a:r>
                  <a:rPr lang="it-IT" dirty="0" err="1"/>
                  <a:t>within</a:t>
                </a:r>
                <a:r>
                  <a:rPr lang="it-IT" dirty="0"/>
                  <a:t> the </a:t>
                </a:r>
                <a:r>
                  <a:rPr lang="it-IT" dirty="0" err="1"/>
                  <a:t>multivariable</a:t>
                </a:r>
                <a:r>
                  <a:rPr lang="it-IT" dirty="0"/>
                  <a:t> </a:t>
                </a:r>
                <a:r>
                  <a:rPr lang="it-IT" dirty="0" err="1"/>
                  <a:t>space</a:t>
                </a:r>
                <a:r>
                  <a:rPr lang="it-IT" dirty="0"/>
                  <a:t>.</a:t>
                </a:r>
              </a:p>
              <a:p>
                <a:pPr lvl="1"/>
                <a:r>
                  <a:rPr lang="it-IT" b="1" dirty="0"/>
                  <a:t>age (</a:t>
                </a:r>
                <a:r>
                  <a:rPr lang="it-IT" b="1" dirty="0" err="1"/>
                  <a:t>Neutral</a:t>
                </a:r>
                <a:r>
                  <a:rPr lang="it-IT" b="1" dirty="0"/>
                  <a:t> Association):</a:t>
                </a:r>
                <a:r>
                  <a:rPr lang="it-IT" dirty="0"/>
                  <a:t> 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near</a:t>
                </a:r>
                <a:r>
                  <a:rPr lang="it-IT" dirty="0"/>
                  <a:t> the </a:t>
                </a:r>
                <a:r>
                  <a:rPr lang="it-IT" dirty="0" err="1"/>
                  <a:t>nullity</a:t>
                </a:r>
                <a:r>
                  <a:rPr lang="it-IT" dirty="0"/>
                  <a:t> line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lang="it-IT" dirty="0"/>
                  <a:t>), </a:t>
                </a:r>
                <a:r>
                  <a:rPr lang="it-IT" dirty="0" err="1"/>
                  <a:t>indicating</a:t>
                </a:r>
                <a:r>
                  <a:rPr lang="it-IT" dirty="0"/>
                  <a:t> </a:t>
                </a:r>
                <a:r>
                  <a:rPr lang="it-IT" dirty="0" err="1"/>
                  <a:t>balanced</a:t>
                </a:r>
                <a:r>
                  <a:rPr lang="it-IT" dirty="0"/>
                  <a:t> net </a:t>
                </a:r>
                <a:r>
                  <a:rPr lang="it-IT" dirty="0" err="1"/>
                  <a:t>effects</a:t>
                </a:r>
                <a:r>
                  <a:rPr lang="it-IT" dirty="0"/>
                  <a:t> </a:t>
                </a:r>
                <a:r>
                  <a:rPr lang="it-IT" dirty="0" err="1"/>
                  <a:t>when</a:t>
                </a:r>
                <a:r>
                  <a:rPr lang="it-IT" dirty="0"/>
                  <a:t> </a:t>
                </a:r>
                <a:r>
                  <a:rPr lang="it-IT" dirty="0" err="1"/>
                  <a:t>adjusted</a:t>
                </a:r>
                <a:r>
                  <a:rPr lang="it-IT" dirty="0"/>
                  <a:t> for </a:t>
                </a:r>
                <a:r>
                  <a:rPr lang="it-IT" dirty="0" err="1"/>
                  <a:t>other</a:t>
                </a:r>
                <a:r>
                  <a:rPr lang="it-IT" dirty="0"/>
                  <a:t> </a:t>
                </a:r>
                <a:r>
                  <a:rPr lang="it-IT" dirty="0" err="1"/>
                  <a:t>hemodynamic</a:t>
                </a:r>
                <a:r>
                  <a:rPr lang="it-IT" dirty="0"/>
                  <a:t> </a:t>
                </a:r>
                <a:r>
                  <a:rPr lang="it-IT" dirty="0" err="1"/>
                  <a:t>parameters</a:t>
                </a:r>
                <a:r>
                  <a:rPr lang="it-IT" dirty="0"/>
                  <a:t>.</a:t>
                </a:r>
              </a:p>
              <a:p>
                <a:pPr lvl="1"/>
                <a:r>
                  <a:rPr lang="it-IT" b="1" dirty="0" err="1"/>
                  <a:t>chol</a:t>
                </a:r>
                <a:r>
                  <a:rPr lang="it-IT" b="1" dirty="0"/>
                  <a:t>, </a:t>
                </a:r>
                <a:r>
                  <a:rPr lang="it-IT" b="1" dirty="0" err="1"/>
                  <a:t>trestbps</a:t>
                </a:r>
                <a:r>
                  <a:rPr lang="it-IT" b="1" dirty="0"/>
                  <a:t>, &amp; </a:t>
                </a:r>
                <a:r>
                  <a:rPr lang="it-IT" b="1" dirty="0" err="1"/>
                  <a:t>oldpeak</a:t>
                </a:r>
                <a:r>
                  <a:rPr lang="it-IT" b="1" dirty="0"/>
                  <a:t> (Inverse </a:t>
                </a:r>
                <a:r>
                  <a:rPr lang="it-IT" b="1" dirty="0" err="1"/>
                  <a:t>Associations</a:t>
                </a:r>
                <a:r>
                  <a:rPr lang="it-IT" b="1" dirty="0"/>
                  <a:t> in Model):</a:t>
                </a:r>
                <a:r>
                  <a:rPr lang="it-IT" dirty="0"/>
                  <a:t> </a:t>
                </a:r>
                <a:r>
                  <a:rPr lang="it-IT" dirty="0" err="1"/>
                  <a:t>Positioned</a:t>
                </a:r>
                <a:r>
                  <a:rPr lang="it-IT" dirty="0"/>
                  <a:t> to the </a:t>
                </a:r>
                <a:r>
                  <a:rPr lang="it-IT" dirty="0" err="1"/>
                  <a:t>left</a:t>
                </a:r>
                <a:r>
                  <a:rPr lang="it-IT" dirty="0"/>
                  <a:t> of the </a:t>
                </a:r>
                <a:r>
                  <a:rPr lang="it-IT" dirty="0" err="1"/>
                  <a:t>unit</a:t>
                </a:r>
                <a:r>
                  <a:rPr lang="it-IT" dirty="0"/>
                  <a:t> line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it-IT" dirty="0"/>
                  <a:t>) under the </a:t>
                </a:r>
                <a:r>
                  <a:rPr lang="it-IT" dirty="0" err="1"/>
                  <a:t>multivariable</a:t>
                </a:r>
                <a:r>
                  <a:rPr lang="it-IT" dirty="0"/>
                  <a:t> </a:t>
                </a:r>
                <a:r>
                  <a:rPr lang="it-IT" dirty="0" err="1"/>
                  <a:t>adjustment</a:t>
                </a:r>
                <a:r>
                  <a:rPr lang="it-IT" dirty="0"/>
                  <a:t> </a:t>
                </a:r>
                <a:r>
                  <a:rPr lang="it-IT" dirty="0" err="1"/>
                  <a:t>scheme</a:t>
                </a:r>
                <a:r>
                  <a:rPr lang="it-IT" dirty="0"/>
                  <a:t>, </a:t>
                </a:r>
                <a:r>
                  <a:rPr lang="it-IT" dirty="0" err="1"/>
                  <a:t>highlighting</a:t>
                </a:r>
                <a:r>
                  <a:rPr lang="it-IT" dirty="0"/>
                  <a:t> </a:t>
                </a:r>
                <a:r>
                  <a:rPr lang="it-IT" dirty="0" err="1"/>
                  <a:t>their</a:t>
                </a:r>
                <a:r>
                  <a:rPr lang="it-IT" dirty="0"/>
                  <a:t> </a:t>
                </a:r>
                <a:r>
                  <a:rPr lang="it-IT" dirty="0" err="1"/>
                  <a:t>conditional</a:t>
                </a:r>
                <a:r>
                  <a:rPr lang="it-IT" dirty="0"/>
                  <a:t> interactions in the </a:t>
                </a:r>
                <a:r>
                  <a:rPr lang="it-IT" dirty="0" err="1"/>
                  <a:t>logistic</a:t>
                </a:r>
                <a:r>
                  <a:rPr lang="it-IT" dirty="0"/>
                  <a:t> </a:t>
                </a:r>
                <a:r>
                  <a:rPr lang="it-IT" dirty="0" err="1"/>
                  <a:t>regression</a:t>
                </a:r>
                <a:r>
                  <a:rPr lang="it-IT" dirty="0"/>
                  <a:t> </a:t>
                </a:r>
                <a:r>
                  <a:rPr lang="it-IT" dirty="0" err="1"/>
                  <a:t>equation</a:t>
                </a:r>
                <a:r>
                  <a:rPr lang="it-IT" dirty="0"/>
                  <a:t>.</a:t>
                </a:r>
              </a:p>
              <a:p>
                <a:pPr lvl="0"/>
                <a:r>
                  <a:rPr lang="it-IT" b="1" dirty="0"/>
                  <a:t>Statistical </a:t>
                </a:r>
                <a:r>
                  <a:rPr lang="it-IT" b="1" dirty="0" err="1"/>
                  <a:t>Significance</a:t>
                </a:r>
                <a:r>
                  <a:rPr lang="it-IT" b="1" dirty="0"/>
                  <a:t>:</a:t>
                </a:r>
                <a:r>
                  <a:rPr lang="it-IT" dirty="0"/>
                  <a:t> The </a:t>
                </a:r>
                <a:r>
                  <a:rPr lang="it-IT" dirty="0" err="1"/>
                  <a:t>error</a:t>
                </a:r>
                <a:r>
                  <a:rPr lang="it-IT" dirty="0"/>
                  <a:t> </a:t>
                </a:r>
                <a:r>
                  <a:rPr lang="it-IT" dirty="0" err="1"/>
                  <a:t>bars</a:t>
                </a:r>
                <a:r>
                  <a:rPr lang="it-IT" dirty="0"/>
                  <a:t> </a:t>
                </a:r>
                <a:r>
                  <a:rPr lang="it-IT" dirty="0" err="1"/>
                  <a:t>represent</a:t>
                </a:r>
                <a:r>
                  <a:rPr lang="it-IT" dirty="0"/>
                  <a:t> the 95% confidence </a:t>
                </a:r>
                <a:r>
                  <a:rPr lang="it-IT"/>
                  <a:t>intervals, </a:t>
                </a:r>
                <a:r>
                  <a:rPr lang="it-IT" dirty="0" err="1"/>
                  <a:t>illustrating</a:t>
                </a:r>
                <a:r>
                  <a:rPr lang="it-IT" dirty="0"/>
                  <a:t> the </a:t>
                </a:r>
                <a:r>
                  <a:rPr lang="it-IT" dirty="0" err="1"/>
                  <a:t>precision</a:t>
                </a:r>
                <a:r>
                  <a:rPr lang="it-IT" dirty="0"/>
                  <a:t> and </a:t>
                </a:r>
                <a:r>
                  <a:rPr lang="it-IT" dirty="0" err="1"/>
                  <a:t>estimation</a:t>
                </a:r>
                <a:r>
                  <a:rPr lang="it-IT" dirty="0"/>
                  <a:t> </a:t>
                </a:r>
                <a:r>
                  <a:rPr lang="it-IT" dirty="0" err="1"/>
                  <a:t>uncertainty</a:t>
                </a:r>
                <a:r>
                  <a:rPr lang="it-IT" dirty="0"/>
                  <a:t> for </a:t>
                </a:r>
                <a:r>
                  <a:rPr lang="it-IT" dirty="0" err="1"/>
                  <a:t>each</a:t>
                </a:r>
                <a:r>
                  <a:rPr lang="it-IT" dirty="0"/>
                  <a:t> </a:t>
                </a:r>
                <a:r>
                  <a:rPr lang="it-IT" dirty="0" err="1"/>
                  <a:t>continuous</a:t>
                </a:r>
                <a:r>
                  <a:rPr lang="it-IT" dirty="0"/>
                  <a:t> clinical feature.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 t="-106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A634A7FC-9075-8A8B-4137-B77F48503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026728"/>
            <a:ext cx="4094226" cy="28045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331259"/>
            <a:ext cx="6711654" cy="4195481"/>
          </a:xfrm>
        </p:spPr>
        <p:txBody>
          <a:bodyPr>
            <a:noAutofit/>
          </a:bodyPr>
          <a:lstStyle/>
          <a:p>
            <a:pPr lvl="0"/>
            <a:r>
              <a:rPr lang="it-IT" b="1" dirty="0"/>
              <a:t>Data Integrity:</a:t>
            </a:r>
            <a:r>
              <a:rPr lang="it-IT" dirty="0"/>
              <a:t> </a:t>
            </a:r>
            <a:r>
              <a:rPr lang="it-IT" dirty="0" err="1"/>
              <a:t>Validation</a:t>
            </a:r>
            <a:r>
              <a:rPr lang="it-IT" dirty="0"/>
              <a:t> of a </a:t>
            </a:r>
            <a:r>
              <a:rPr lang="it-IT" dirty="0" err="1"/>
              <a:t>robust</a:t>
            </a:r>
            <a:r>
              <a:rPr lang="it-IT" dirty="0"/>
              <a:t>, complete, and </a:t>
            </a:r>
            <a:r>
              <a:rPr lang="it-IT" dirty="0" err="1"/>
              <a:t>balanced</a:t>
            </a:r>
            <a:r>
              <a:rPr lang="it-IT" dirty="0"/>
              <a:t> dataset, </a:t>
            </a:r>
            <a:r>
              <a:rPr lang="it-IT" dirty="0" err="1"/>
              <a:t>ensuring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</a:t>
            </a:r>
            <a:r>
              <a:rPr lang="it-IT" dirty="0" err="1"/>
              <a:t>basis</a:t>
            </a:r>
            <a:r>
              <a:rPr lang="it-IT" dirty="0"/>
              <a:t> for clinical </a:t>
            </a:r>
            <a:r>
              <a:rPr lang="it-IT" dirty="0" err="1"/>
              <a:t>inference</a:t>
            </a:r>
            <a:r>
              <a:rPr lang="it-IT" dirty="0"/>
              <a:t>.</a:t>
            </a:r>
          </a:p>
          <a:p>
            <a:pPr lvl="0"/>
            <a:r>
              <a:rPr lang="it-IT" b="1" dirty="0" err="1"/>
              <a:t>Unsupervised</a:t>
            </a:r>
            <a:r>
              <a:rPr lang="it-IT" b="1" dirty="0"/>
              <a:t> Learning:</a:t>
            </a:r>
            <a:r>
              <a:rPr lang="it-IT" dirty="0"/>
              <a:t> The </a:t>
            </a:r>
            <a:r>
              <a:rPr lang="it-IT" dirty="0" err="1"/>
              <a:t>synergy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PCA and K-Means </a:t>
            </a:r>
            <a:r>
              <a:rPr lang="it-IT" dirty="0" err="1"/>
              <a:t>enabled</a:t>
            </a:r>
            <a:r>
              <a:rPr lang="it-IT" dirty="0"/>
              <a:t> the </a:t>
            </a:r>
            <a:r>
              <a:rPr lang="it-IT" dirty="0" err="1"/>
              <a:t>autonomous</a:t>
            </a:r>
            <a:r>
              <a:rPr lang="it-IT" dirty="0"/>
              <a:t> </a:t>
            </a:r>
            <a:r>
              <a:rPr lang="it-IT" dirty="0" err="1"/>
              <a:t>extraction</a:t>
            </a:r>
            <a:r>
              <a:rPr lang="it-IT" dirty="0"/>
              <a:t> of </a:t>
            </a:r>
            <a:r>
              <a:rPr lang="it-IT" dirty="0" err="1"/>
              <a:t>pathological</a:t>
            </a:r>
            <a:r>
              <a:rPr lang="it-IT" dirty="0"/>
              <a:t> patterns, </a:t>
            </a:r>
            <a:r>
              <a:rPr lang="it-IT" dirty="0" err="1"/>
              <a:t>confirming</a:t>
            </a:r>
            <a:r>
              <a:rPr lang="it-IT" dirty="0"/>
              <a:t> the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relevance</a:t>
            </a:r>
            <a:r>
              <a:rPr lang="it-IT" dirty="0"/>
              <a:t> of </a:t>
            </a:r>
            <a:r>
              <a:rPr lang="it-IT" dirty="0" err="1"/>
              <a:t>biomarkers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Multi-View Framework:</a:t>
            </a:r>
            <a:r>
              <a:rPr lang="it-IT" dirty="0"/>
              <a:t> The Late Fusion </a:t>
            </a:r>
            <a:r>
              <a:rPr lang="it-IT" dirty="0" err="1"/>
              <a:t>approach</a:t>
            </a:r>
            <a:r>
              <a:rPr lang="it-IT" dirty="0"/>
              <a:t> </a:t>
            </a:r>
            <a:r>
              <a:rPr lang="it-IT" dirty="0" err="1"/>
              <a:t>demonstrated</a:t>
            </a:r>
            <a:r>
              <a:rPr lang="it-IT" dirty="0"/>
              <a:t> </a:t>
            </a:r>
            <a:r>
              <a:rPr lang="it-IT" dirty="0" err="1"/>
              <a:t>diagnostic</a:t>
            </a:r>
            <a:r>
              <a:rPr lang="it-IT" dirty="0"/>
              <a:t> </a:t>
            </a:r>
            <a:r>
              <a:rPr lang="it-IT" dirty="0" err="1"/>
              <a:t>superiority</a:t>
            </a:r>
            <a:r>
              <a:rPr lang="it-IT" dirty="0"/>
              <a:t>, </a:t>
            </a:r>
            <a:r>
              <a:rPr lang="it-IT" dirty="0" err="1"/>
              <a:t>isolating</a:t>
            </a:r>
            <a:r>
              <a:rPr lang="it-IT" dirty="0"/>
              <a:t> </a:t>
            </a:r>
            <a:r>
              <a:rPr lang="it-IT" dirty="0" err="1"/>
              <a:t>specific</a:t>
            </a:r>
            <a:r>
              <a:rPr lang="it-IT" dirty="0"/>
              <a:t> </a:t>
            </a:r>
            <a:r>
              <a:rPr lang="it-IT" dirty="0" err="1"/>
              <a:t>hemodynamic</a:t>
            </a:r>
            <a:r>
              <a:rPr lang="it-IT" dirty="0"/>
              <a:t> </a:t>
            </a:r>
            <a:r>
              <a:rPr lang="it-IT" dirty="0" err="1"/>
              <a:t>signals</a:t>
            </a:r>
            <a:r>
              <a:rPr lang="it-IT" dirty="0"/>
              <a:t> from baseline 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Future Vision:</a:t>
            </a:r>
            <a:r>
              <a:rPr lang="it-IT" dirty="0"/>
              <a:t> The project </a:t>
            </a:r>
            <a:r>
              <a:rPr lang="it-IT" dirty="0" err="1"/>
              <a:t>demonstrates</a:t>
            </a:r>
            <a:r>
              <a:rPr lang="it-IT" dirty="0"/>
              <a:t> the </a:t>
            </a:r>
            <a:r>
              <a:rPr lang="it-IT" dirty="0" err="1"/>
              <a:t>value</a:t>
            </a:r>
            <a:r>
              <a:rPr lang="it-IT" dirty="0"/>
              <a:t> of Visual Analytics </a:t>
            </a:r>
            <a:r>
              <a:rPr lang="it-IT" dirty="0" err="1"/>
              <a:t>integrated</a:t>
            </a:r>
            <a:r>
              <a:rPr lang="it-IT" dirty="0"/>
              <a:t> with </a:t>
            </a:r>
            <a:r>
              <a:rPr lang="it-IT" dirty="0" err="1"/>
              <a:t>Artificial</a:t>
            </a:r>
            <a:r>
              <a:rPr lang="it-IT" dirty="0"/>
              <a:t> Intelligence, </a:t>
            </a:r>
            <a:r>
              <a:rPr lang="it-IT" dirty="0" err="1"/>
              <a:t>paving</a:t>
            </a:r>
            <a:r>
              <a:rPr lang="it-IT" dirty="0"/>
              <a:t> the way </a:t>
            </a:r>
            <a:r>
              <a:rPr lang="it-IT" dirty="0" err="1"/>
              <a:t>towards</a:t>
            </a:r>
            <a:r>
              <a:rPr lang="it-IT" dirty="0"/>
              <a:t> </a:t>
            </a:r>
            <a:r>
              <a:rPr lang="it-IT" dirty="0" err="1"/>
              <a:t>transparent</a:t>
            </a:r>
            <a:r>
              <a:rPr lang="it-IT" dirty="0"/>
              <a:t> and </a:t>
            </a:r>
            <a:r>
              <a:rPr lang="it-IT" dirty="0" err="1"/>
              <a:t>interpretable</a:t>
            </a:r>
            <a:r>
              <a:rPr lang="it-IT" dirty="0"/>
              <a:t> </a:t>
            </a:r>
            <a:r>
              <a:rPr lang="it-IT" dirty="0" err="1"/>
              <a:t>predictive</a:t>
            </a:r>
            <a:r>
              <a:rPr lang="it-IT" dirty="0"/>
              <a:t> medicine (XAI)</a:t>
            </a:r>
          </a:p>
          <a:p>
            <a:pPr>
              <a:lnSpc>
                <a:spcPct val="150000"/>
              </a:lnSpc>
            </a:pP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</TotalTime>
  <Words>3787</Words>
  <Application>Microsoft Macintosh PowerPoint</Application>
  <PresentationFormat>Presentazione su schermo (4:3)</PresentationFormat>
  <Paragraphs>178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Tema di Office</vt:lpstr>
      <vt:lpstr>Advanced Visualization and Latent Space Fusion for Clinical Heart Disease Analytics</vt:lpstr>
      <vt:lpstr>Introduction</vt:lpstr>
      <vt:lpstr>Dataset Structure</vt:lpstr>
      <vt:lpstr>Target Class Distribution &amp; Balance Assessment </vt:lpstr>
      <vt:lpstr>Outlier Boundary Definition &amp; Detection</vt:lpstr>
      <vt:lpstr>Feature Scaling</vt:lpstr>
      <vt:lpstr>Feature Interaction Space</vt:lpstr>
      <vt:lpstr>Non-Linearity Hypothesis</vt:lpstr>
      <vt:lpstr>PCA Setup</vt:lpstr>
      <vt:lpstr>PCA Global Scree Plot &amp; Cumulative Variance</vt:lpstr>
      <vt:lpstr>PCA Biplot Representation</vt:lpstr>
      <vt:lpstr>Geometric Interpretation</vt:lpstr>
      <vt:lpstr>Variance Explained</vt:lpstr>
      <vt:lpstr>Data-Driven Selection of the Number of Patient Clusters </vt:lpstr>
      <vt:lpstr>Unsupervised Clustering Strategy</vt:lpstr>
      <vt:lpstr>Hierarchical Dendrogram of Heart-Disease Patient Profiles </vt:lpstr>
      <vt:lpstr>Comparative Evaluation</vt:lpstr>
      <vt:lpstr>Distribution of Top Feature Drivers across K-Means Clusters </vt:lpstr>
      <vt:lpstr>Statistical Biomarker Discrimination</vt:lpstr>
      <vt:lpstr>Multi-View Medical Framework</vt:lpstr>
      <vt:lpstr>Patient Distance Heatmap </vt:lpstr>
      <vt:lpstr>Patient Distance Heatmap (Diagnostic View) </vt:lpstr>
      <vt:lpstr>Late Fusion Insight</vt:lpstr>
      <vt:lpstr>Supervised Performance: Random Forest Confusion Matrix</vt:lpstr>
      <vt:lpstr>Statistical Density Cohorts</vt:lpstr>
      <vt:lpstr>Supervised Diagnostics: ROC Curve Performance</vt:lpstr>
      <vt:lpstr>Global Explainability: Computational Weight of Clinical Features</vt:lpstr>
      <vt:lpstr>Adjusted Odds Ratios (Forest Plot) </vt:lpstr>
      <vt:lpstr>Conclusions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FILICE MARTINA</cp:lastModifiedBy>
  <cp:revision>88</cp:revision>
  <dcterms:created xsi:type="dcterms:W3CDTF">2013-01-27T09:14:16Z</dcterms:created>
  <dcterms:modified xsi:type="dcterms:W3CDTF">2026-09-02T12:39:25Z</dcterms:modified>
  <cp:category/>
</cp:coreProperties>
</file>